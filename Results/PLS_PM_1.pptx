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0" r:id="rId4"/>
    <p:sldId id="259" r:id="rId5"/>
    <p:sldId id="266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2192000" cy="6858000"/>
  <p:notesSz cx="6858000" cy="9144000"/>
  <p:defaultTextStyle>
    <a:defPPr>
      <a:defRPr lang="en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77"/>
    <p:restoredTop sz="94479"/>
  </p:normalViewPr>
  <p:slideViewPr>
    <p:cSldViewPr snapToGrid="0">
      <p:cViewPr varScale="1">
        <p:scale>
          <a:sx n="103" d="100"/>
          <a:sy n="103" d="100"/>
        </p:scale>
        <p:origin x="1248" y="-1616"/>
      </p:cViewPr>
      <p:guideLst/>
    </p:cSldViewPr>
  </p:slideViewPr>
  <p:notesTextViewPr>
    <p:cViewPr>
      <p:scale>
        <a:sx n="155" d="100"/>
        <a:sy n="15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13634F-B1E8-2948-8DF9-6ABD9E8C1904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21F97-F60D-824F-99CF-23986994F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649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C21F97-F60D-824F-99CF-23986994FC1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568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C21F97-F60D-824F-99CF-23986994FC1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082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C21F97-F60D-824F-99CF-23986994FC1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06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40E1C-747B-0B65-B882-9537C70DC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7D3743-CF09-55DC-D5E1-DCB3A07392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1"/>
            </a:lvl3pPr>
            <a:lvl4pPr marL="1371567" indent="0" algn="ctr">
              <a:buNone/>
              <a:defRPr sz="1600"/>
            </a:lvl4pPr>
            <a:lvl5pPr marL="1828755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CCC95-ED21-C560-182A-DD4E3B7A3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05B41-03C6-8E46-B18E-DF182E32C38D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61D90-2598-497C-99F7-51F5592AE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B9AA3-C70C-0A0D-71B0-280D4507B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F61D-FC36-C947-9AB2-DEDFD7703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730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8BA7-87DE-1339-C176-542D1137D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2612D-6818-F09E-0853-494E9E176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116EC-6759-58A8-9AC8-98B321FCA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05B41-03C6-8E46-B18E-DF182E32C38D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1F683-6B0F-7436-202B-AED514E04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18B5D-869D-67E9-DA9E-047963E55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F61D-FC36-C947-9AB2-DEDFD7703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31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FF442-039B-9E20-EE9F-241CA7F44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43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D596F-390C-6FDF-D991-30687B959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5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E50E5-5410-8BBD-C66F-99370E46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05B41-03C6-8E46-B18E-DF182E32C38D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7080B-FF03-D965-9653-023A7CC71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9C68F-3DC1-6D8C-87DB-971E85F3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F61D-FC36-C947-9AB2-DEDFD7703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77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74D4B-D4C2-E1BA-7491-0B9884AD0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0F94F-E1E2-FBE3-8B96-D5F1BD9232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8BF53-D12D-2E47-D6C3-DED346880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94027-F32A-A6CE-3710-A52C399FA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05B41-03C6-8E46-B18E-DF182E32C38D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DF06D-9C6D-33DE-DB79-04DC6663F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84F40-AF36-467F-7DBB-C125533F1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F61D-FC36-C947-9AB2-DEDFD7703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10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E603-DC31-AFC3-14FC-ABE62FD24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6406D-12AA-10DA-0EFF-168B727BF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1" b="1"/>
            </a:lvl3pPr>
            <a:lvl4pPr marL="1371567" indent="0">
              <a:buNone/>
              <a:defRPr sz="1600" b="1"/>
            </a:lvl4pPr>
            <a:lvl5pPr marL="1828755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14A775-536D-FB5D-A0FA-D1C07F44F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A99C63-885A-7AE0-0786-C6873D882A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1" b="1"/>
            </a:lvl3pPr>
            <a:lvl4pPr marL="1371567" indent="0">
              <a:buNone/>
              <a:defRPr sz="1600" b="1"/>
            </a:lvl4pPr>
            <a:lvl5pPr marL="1828755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23CE58-1918-B086-0EAB-334658E377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3729C-084B-837F-5999-1CE82AE9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05B41-03C6-8E46-B18E-DF182E32C38D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E4FF86-0248-A262-E781-CE0B0AB19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E86B63-6C5D-BC6F-415C-4F0A5DB9C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F61D-FC36-C947-9AB2-DEDFD7703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480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71607-8551-908A-8C22-7E43D3A5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59F3B-F073-984A-BB78-71DEF5175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05B41-03C6-8E46-B18E-DF182E32C38D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5898CA-60B0-F8B5-704E-3F010D404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F93991-4B5F-E9B1-1D83-9CF7DA475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F61D-FC36-C947-9AB2-DEDFD7703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27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A54CB1-8CB3-B6BF-D2B3-58ED26E1B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05B41-03C6-8E46-B18E-DF182E32C38D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76E674-9550-CA69-CDA5-A84264F1E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A15FA-9472-60B9-CB67-DCB761674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F61D-FC36-C947-9AB2-DEDFD7703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092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10C48-8BFF-531F-3440-1ADD7FB0E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CC427-0786-1D15-B8A6-345B8FBA9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31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6F04CE-DC90-09AA-1562-F48C6B8B00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1"/>
            </a:lvl2pPr>
            <a:lvl3pPr marL="914377" indent="0">
              <a:buNone/>
              <a:defRPr sz="1200"/>
            </a:lvl3pPr>
            <a:lvl4pPr marL="1371567" indent="0">
              <a:buNone/>
              <a:defRPr sz="1001"/>
            </a:lvl4pPr>
            <a:lvl5pPr marL="1828755" indent="0">
              <a:buNone/>
              <a:defRPr sz="1001"/>
            </a:lvl5pPr>
            <a:lvl6pPr marL="2285943" indent="0">
              <a:buNone/>
              <a:defRPr sz="1001"/>
            </a:lvl6pPr>
            <a:lvl7pPr marL="2743131" indent="0">
              <a:buNone/>
              <a:defRPr sz="1001"/>
            </a:lvl7pPr>
            <a:lvl8pPr marL="3200320" indent="0">
              <a:buNone/>
              <a:defRPr sz="1001"/>
            </a:lvl8pPr>
            <a:lvl9pPr marL="3657509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B6CC5-E065-E707-9FDB-FC097EACC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05B41-03C6-8E46-B18E-DF182E32C38D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B4766-3ABF-12DE-7F83-0A5B1AC68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3C4B0-4358-52E8-21BF-6CD7AA343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F61D-FC36-C947-9AB2-DEDFD7703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622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9BF3F-172B-B3D4-840A-4F2B5A46C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25845F-847B-9957-8918-5D9578651B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7" indent="0">
              <a:buNone/>
              <a:defRPr sz="2000"/>
            </a:lvl4pPr>
            <a:lvl5pPr marL="1828755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1FF4B-6D10-C2A3-15C6-2B1AB60CF8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1"/>
            </a:lvl2pPr>
            <a:lvl3pPr marL="914377" indent="0">
              <a:buNone/>
              <a:defRPr sz="1200"/>
            </a:lvl3pPr>
            <a:lvl4pPr marL="1371567" indent="0">
              <a:buNone/>
              <a:defRPr sz="1001"/>
            </a:lvl4pPr>
            <a:lvl5pPr marL="1828755" indent="0">
              <a:buNone/>
              <a:defRPr sz="1001"/>
            </a:lvl5pPr>
            <a:lvl6pPr marL="2285943" indent="0">
              <a:buNone/>
              <a:defRPr sz="1001"/>
            </a:lvl6pPr>
            <a:lvl7pPr marL="2743131" indent="0">
              <a:buNone/>
              <a:defRPr sz="1001"/>
            </a:lvl7pPr>
            <a:lvl8pPr marL="3200320" indent="0">
              <a:buNone/>
              <a:defRPr sz="1001"/>
            </a:lvl8pPr>
            <a:lvl9pPr marL="3657509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1F70C-3E9C-6F00-753B-E7E8A7B5B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05B41-03C6-8E46-B18E-DF182E32C38D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08E1E-23A7-7E15-01EC-66F5836A3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D62D2-2AD9-5BBD-465A-31ADCA7C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F61D-FC36-C947-9AB2-DEDFD7703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41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EDBA2-5C9B-41A6-99C1-5C3C76940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CE6C07-CFEA-ECBF-04CD-AFF9AF9E1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C7DE8-E029-99F3-D2DA-DC345A0FA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05B41-03C6-8E46-B18E-DF182E32C38D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CC32C-4009-938B-6EEE-AC7B329D7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7D773-FFD9-402F-475E-B782731F5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F61D-FC36-C947-9AB2-DEDFD7703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310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BE1A0F-CC04-3EDF-C0AA-E0DDC5D51B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3" y="365128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9A497D-C04B-BF4F-2456-48FAD5D54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8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0C50E-16F7-2C5E-13B8-8195CBADF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05B41-03C6-8E46-B18E-DF182E32C38D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7E8F3-53C5-09CF-D4DC-6F7AB3155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57A86-B215-991F-0129-9FF95D068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4F61D-FC36-C947-9AB2-DEDFD7703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73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55E5D9-B8FA-8370-43C0-0DFD88483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DC11B-CD2B-45E9-3B16-E1308E008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3DA9C-083B-0870-2011-8EEB07A789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05B41-03C6-8E46-B18E-DF182E32C38D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3E917-C448-09A1-A48C-F11C3C66AF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9DE1A-95A9-8759-DA39-EE5747473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4F61D-FC36-C947-9AB2-DEDFD77035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5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5" indent="-228595" algn="l" defTabSz="914377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5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0" indent="-228595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1" indent="-228595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350" indent="-228595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5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5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5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5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3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7" algn="l" defTabSz="9143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5" algn="l" defTabSz="9143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40943-716C-7A18-B564-50F7ECBB28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41B980-0758-D614-2154-AE1DAA6384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40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CCA95896-89B1-6638-BEDD-23DDCEB43867}"/>
              </a:ext>
            </a:extLst>
          </p:cNvPr>
          <p:cNvGrpSpPr/>
          <p:nvPr/>
        </p:nvGrpSpPr>
        <p:grpSpPr>
          <a:xfrm>
            <a:off x="263459" y="828628"/>
            <a:ext cx="5662678" cy="4889154"/>
            <a:chOff x="2711235" y="927100"/>
            <a:chExt cx="5662675" cy="488915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1F1F008-9C3D-A93B-8356-9090C93039AE}"/>
                </a:ext>
              </a:extLst>
            </p:cNvPr>
            <p:cNvSpPr/>
            <p:nvPr/>
          </p:nvSpPr>
          <p:spPr>
            <a:xfrm>
              <a:off x="4419600" y="927100"/>
              <a:ext cx="2298700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Topography</a:t>
              </a:r>
            </a:p>
            <a:p>
              <a:pPr algn="ctr"/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Elevation | Slope</a:t>
              </a: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08264F34-CC1E-BC2A-AC81-FB580090CD16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 flipH="1">
              <a:off x="3568700" y="1473200"/>
              <a:ext cx="866775" cy="762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4C99A4-6D01-B859-C2F1-FD6C3876BE58}"/>
                </a:ext>
              </a:extLst>
            </p:cNvPr>
            <p:cNvSpPr/>
            <p:nvPr/>
          </p:nvSpPr>
          <p:spPr>
            <a:xfrm>
              <a:off x="2867025" y="2235200"/>
              <a:ext cx="1403350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Climate</a:t>
              </a:r>
            </a:p>
            <a:p>
              <a:pPr algn="ctr"/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MAP | MAT </a:t>
              </a: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A4D8112-32E3-3470-7266-51631031CF07}"/>
                </a:ext>
              </a:extLst>
            </p:cNvPr>
            <p:cNvSpPr/>
            <p:nvPr/>
          </p:nvSpPr>
          <p:spPr>
            <a:xfrm>
              <a:off x="6642101" y="2222500"/>
              <a:ext cx="1403350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Clay content</a:t>
              </a:r>
              <a:endParaRPr lang="en-US" sz="140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61BC5DE-6363-EDBE-CF91-7AEA8EEAE9FB}"/>
                </a:ext>
              </a:extLst>
            </p:cNvPr>
            <p:cNvSpPr/>
            <p:nvPr/>
          </p:nvSpPr>
          <p:spPr>
            <a:xfrm>
              <a:off x="4754563" y="2235200"/>
              <a:ext cx="1403350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Season</a:t>
              </a:r>
            </a:p>
            <a:p>
              <a:pPr algn="ctr"/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PS | TS</a:t>
              </a: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8D8132F-84B5-327B-1A73-7C2549DC2B34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5456238" y="1485900"/>
              <a:ext cx="0" cy="7493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2E93C91-A42D-74BE-942A-F4EDF640C119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6705601" y="1473200"/>
              <a:ext cx="638175" cy="7493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4929AB2-C6A2-E29B-CF9C-D9C464C5F02E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4270375" y="2508250"/>
              <a:ext cx="4841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85736B6-F6F0-3205-D664-1397FF1DDAA5}"/>
                </a:ext>
              </a:extLst>
            </p:cNvPr>
            <p:cNvCxnSpPr>
              <a:cxnSpLocks/>
            </p:cNvCxnSpPr>
            <p:nvPr/>
          </p:nvCxnSpPr>
          <p:spPr>
            <a:xfrm>
              <a:off x="6157913" y="2463800"/>
              <a:ext cx="4841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D7E9CCB-C5A0-5799-E17D-EC3C4DED8B40}"/>
                </a:ext>
              </a:extLst>
            </p:cNvPr>
            <p:cNvSpPr txBox="1"/>
            <p:nvPr/>
          </p:nvSpPr>
          <p:spPr>
            <a:xfrm>
              <a:off x="3321933" y="1739108"/>
              <a:ext cx="8046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-0.46***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74AA832-EB81-B36F-7A70-2CC7CE4CB766}"/>
                </a:ext>
              </a:extLst>
            </p:cNvPr>
            <p:cNvSpPr txBox="1"/>
            <p:nvPr/>
          </p:nvSpPr>
          <p:spPr>
            <a:xfrm>
              <a:off x="5433679" y="1689100"/>
              <a:ext cx="7242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-0.34***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634B67F-F3C7-BDC8-36C1-793AB9C52728}"/>
                </a:ext>
              </a:extLst>
            </p:cNvPr>
            <p:cNvSpPr txBox="1"/>
            <p:nvPr/>
          </p:nvSpPr>
          <p:spPr>
            <a:xfrm>
              <a:off x="7018978" y="1631144"/>
              <a:ext cx="8966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-0.23***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DC619A9-2AEB-C67B-4D53-77B196D0CCAC}"/>
                </a:ext>
              </a:extLst>
            </p:cNvPr>
            <p:cNvSpPr txBox="1"/>
            <p:nvPr/>
          </p:nvSpPr>
          <p:spPr>
            <a:xfrm>
              <a:off x="4160543" y="2246484"/>
              <a:ext cx="750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-1.00***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C30A7BF-63D6-D059-3F56-506F193A1A90}"/>
                </a:ext>
              </a:extLst>
            </p:cNvPr>
            <p:cNvSpPr txBox="1"/>
            <p:nvPr/>
          </p:nvSpPr>
          <p:spPr>
            <a:xfrm>
              <a:off x="6096003" y="2231252"/>
              <a:ext cx="817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-0.52***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36EA9F8-99C7-EA10-A8F9-9BE83A3E42D6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3977783" y="2796683"/>
              <a:ext cx="665968" cy="11383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216AF28-6EA4-9822-5FB4-A20F92F7CFE6}"/>
                </a:ext>
              </a:extLst>
            </p:cNvPr>
            <p:cNvSpPr/>
            <p:nvPr/>
          </p:nvSpPr>
          <p:spPr>
            <a:xfrm>
              <a:off x="3129588" y="3935071"/>
              <a:ext cx="3028325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Vegetation</a:t>
              </a:r>
            </a:p>
            <a:p>
              <a:pPr algn="ctr"/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GPP | </a:t>
              </a:r>
              <a:r>
                <a:rPr lang="en-US" sz="1401" dirty="0" err="1">
                  <a:latin typeface="Arial" panose="020B0604020202020204" pitchFamily="34" charset="0"/>
                  <a:cs typeface="Arial" panose="020B0604020202020204" pitchFamily="34" charset="0"/>
                </a:rPr>
                <a:t>Shannon_EVI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| </a:t>
              </a:r>
              <a:r>
                <a:rPr lang="en-US" sz="1401" dirty="0" err="1">
                  <a:latin typeface="Arial" panose="020B0604020202020204" pitchFamily="34" charset="0"/>
                  <a:cs typeface="Arial" panose="020B0604020202020204" pitchFamily="34" charset="0"/>
                </a:rPr>
                <a:t>Rootdepth</a:t>
              </a:r>
              <a:endParaRPr lang="en-US" sz="140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1DE4011-D8C4-AB54-2AAC-DC72D6419926}"/>
                </a:ext>
              </a:extLst>
            </p:cNvPr>
            <p:cNvSpPr txBox="1"/>
            <p:nvPr/>
          </p:nvSpPr>
          <p:spPr>
            <a:xfrm>
              <a:off x="3585449" y="3152921"/>
              <a:ext cx="7983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-0.82***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7C9A565-E713-0910-7FC1-19F6B699433F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 flipH="1">
              <a:off x="4643751" y="2781300"/>
              <a:ext cx="823757" cy="1153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D8ACA4A-3808-D193-655D-886A04E0C886}"/>
                </a:ext>
              </a:extLst>
            </p:cNvPr>
            <p:cNvSpPr txBox="1"/>
            <p:nvPr/>
          </p:nvSpPr>
          <p:spPr>
            <a:xfrm>
              <a:off x="5055630" y="3188899"/>
              <a:ext cx="5702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-0.03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C005FBC-9A1A-73C1-87D6-18927176FDFD}"/>
                </a:ext>
              </a:extLst>
            </p:cNvPr>
            <p:cNvSpPr/>
            <p:nvPr/>
          </p:nvSpPr>
          <p:spPr>
            <a:xfrm>
              <a:off x="6804878" y="3937083"/>
              <a:ext cx="1403350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Soil</a:t>
              </a:r>
            </a:p>
            <a:p>
              <a:pPr algn="ctr"/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pH | BD </a:t>
              </a: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3ADE139-0499-9CAA-6626-EC5EADBD535F}"/>
                </a:ext>
              </a:extLst>
            </p:cNvPr>
            <p:cNvCxnSpPr>
              <a:cxnSpLocks/>
              <a:stCxn id="40" idx="1"/>
            </p:cNvCxnSpPr>
            <p:nvPr/>
          </p:nvCxnSpPr>
          <p:spPr>
            <a:xfrm flipH="1" flipV="1">
              <a:off x="6157913" y="4208121"/>
              <a:ext cx="646965" cy="20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EC60C0B-98AD-3B71-F16A-5F01DFFEAF19}"/>
                </a:ext>
              </a:extLst>
            </p:cNvPr>
            <p:cNvSpPr txBox="1"/>
            <p:nvPr/>
          </p:nvSpPr>
          <p:spPr>
            <a:xfrm>
              <a:off x="6156819" y="3961343"/>
              <a:ext cx="7747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-0.12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5504DC61-77E0-337A-6432-E71834D30084}"/>
                </a:ext>
              </a:extLst>
            </p:cNvPr>
            <p:cNvCxnSpPr>
              <a:cxnSpLocks/>
            </p:cNvCxnSpPr>
            <p:nvPr/>
          </p:nvCxnSpPr>
          <p:spPr>
            <a:xfrm>
              <a:off x="7398044" y="2770778"/>
              <a:ext cx="0" cy="11769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DFDB8A1-C044-E3CD-F9B0-ED0B4852D513}"/>
                </a:ext>
              </a:extLst>
            </p:cNvPr>
            <p:cNvSpPr txBox="1"/>
            <p:nvPr/>
          </p:nvSpPr>
          <p:spPr>
            <a:xfrm>
              <a:off x="7398044" y="3133401"/>
              <a:ext cx="7002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0.14***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BA84B96-9D1F-ED4A-A817-12866F2E6486}"/>
                </a:ext>
              </a:extLst>
            </p:cNvPr>
            <p:cNvSpPr/>
            <p:nvPr/>
          </p:nvSpPr>
          <p:spPr>
            <a:xfrm>
              <a:off x="4672198" y="5502419"/>
              <a:ext cx="766862" cy="313833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CUE</a:t>
              </a:r>
              <a:endParaRPr lang="en-US" sz="140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97BFDC4A-3D31-23A4-E33E-9DEB88903850}"/>
                </a:ext>
              </a:extLst>
            </p:cNvPr>
            <p:cNvCxnSpPr>
              <a:cxnSpLocks/>
            </p:cNvCxnSpPr>
            <p:nvPr/>
          </p:nvCxnSpPr>
          <p:spPr>
            <a:xfrm>
              <a:off x="4046146" y="4486329"/>
              <a:ext cx="615509" cy="1020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E4AF3D0A-1505-E5A4-4A57-16B31EEF54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49603" y="4451730"/>
              <a:ext cx="1358666" cy="10742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A9885DD-62A0-78FE-E777-5BA3074D7707}"/>
                </a:ext>
              </a:extLst>
            </p:cNvPr>
            <p:cNvSpPr txBox="1"/>
            <p:nvPr/>
          </p:nvSpPr>
          <p:spPr>
            <a:xfrm>
              <a:off x="4269174" y="4691706"/>
              <a:ext cx="7491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-0.43***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7E8B7F8-4F08-92BA-9DA7-4763E043DDD5}"/>
                </a:ext>
              </a:extLst>
            </p:cNvPr>
            <p:cNvSpPr txBox="1"/>
            <p:nvPr/>
          </p:nvSpPr>
          <p:spPr>
            <a:xfrm>
              <a:off x="6156819" y="4792587"/>
              <a:ext cx="766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-0.26***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79B18448-CB80-04FB-D908-072ADD3DC9C3}"/>
                </a:ext>
              </a:extLst>
            </p:cNvPr>
            <p:cNvCxnSpPr>
              <a:cxnSpLocks/>
            </p:cNvCxnSpPr>
            <p:nvPr/>
          </p:nvCxnSpPr>
          <p:spPr>
            <a:xfrm>
              <a:off x="6142639" y="2806253"/>
              <a:ext cx="1199693" cy="10970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7F850D4-CC98-AC5C-609A-4A499F61F7C6}"/>
                </a:ext>
              </a:extLst>
            </p:cNvPr>
            <p:cNvSpPr txBox="1"/>
            <p:nvPr/>
          </p:nvSpPr>
          <p:spPr>
            <a:xfrm>
              <a:off x="6486961" y="3039639"/>
              <a:ext cx="7438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-0.32***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4F1DC86-C61D-BA01-6829-30FD950D739F}"/>
                </a:ext>
              </a:extLst>
            </p:cNvPr>
            <p:cNvSpPr txBox="1"/>
            <p:nvPr/>
          </p:nvSpPr>
          <p:spPr>
            <a:xfrm>
              <a:off x="2711235" y="1974238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0.22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6040A0A-C56F-1736-BE0F-AF762A2D68AD}"/>
                </a:ext>
              </a:extLst>
            </p:cNvPr>
            <p:cNvSpPr txBox="1"/>
            <p:nvPr/>
          </p:nvSpPr>
          <p:spPr>
            <a:xfrm>
              <a:off x="4592602" y="1986130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0.80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493D001-9716-8341-1EAD-431F542B9CEE}"/>
                </a:ext>
              </a:extLst>
            </p:cNvPr>
            <p:cNvSpPr txBox="1"/>
            <p:nvPr/>
          </p:nvSpPr>
          <p:spPr>
            <a:xfrm>
              <a:off x="7332674" y="1970002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0.36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678EF20-0C3F-B3BC-54D6-B5514D69E2D9}"/>
                </a:ext>
              </a:extLst>
            </p:cNvPr>
            <p:cNvSpPr txBox="1"/>
            <p:nvPr/>
          </p:nvSpPr>
          <p:spPr>
            <a:xfrm>
              <a:off x="3254165" y="3643899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0.63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5207E84-F6F2-A86C-B8AD-C1B3E06CC7D2}"/>
                </a:ext>
              </a:extLst>
            </p:cNvPr>
            <p:cNvSpPr txBox="1"/>
            <p:nvPr/>
          </p:nvSpPr>
          <p:spPr>
            <a:xfrm>
              <a:off x="4643748" y="5218211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0.16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1510D01-1EA5-38C9-137E-FE7B3556ADE9}"/>
                </a:ext>
              </a:extLst>
            </p:cNvPr>
            <p:cNvSpPr txBox="1"/>
            <p:nvPr/>
          </p:nvSpPr>
          <p:spPr>
            <a:xfrm>
              <a:off x="7440641" y="3672134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0.17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194DA34-7B70-BCD7-85BE-E89791050EB1}"/>
                </a:ext>
              </a:extLst>
            </p:cNvPr>
            <p:cNvSpPr txBox="1"/>
            <p:nvPr/>
          </p:nvSpPr>
          <p:spPr>
            <a:xfrm>
              <a:off x="5701739" y="5502419"/>
              <a:ext cx="1468734" cy="300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1" dirty="0" err="1">
                  <a:latin typeface="Arial" panose="020B0604020202020204" pitchFamily="34" charset="0"/>
                  <a:cs typeface="Arial" panose="020B0604020202020204" pitchFamily="34" charset="0"/>
                </a:rPr>
                <a:t>Top_GOF</a:t>
              </a:r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 = 0.51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37C1A89-C26C-2B99-0239-5AE93D3EECE9}"/>
              </a:ext>
            </a:extLst>
          </p:cNvPr>
          <p:cNvGrpSpPr/>
          <p:nvPr/>
        </p:nvGrpSpPr>
        <p:grpSpPr>
          <a:xfrm>
            <a:off x="6251274" y="773128"/>
            <a:ext cx="5662678" cy="4889154"/>
            <a:chOff x="2711235" y="927100"/>
            <a:chExt cx="5662675" cy="4889152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819610BF-16C9-3985-63A5-5BA193F94CE7}"/>
                </a:ext>
              </a:extLst>
            </p:cNvPr>
            <p:cNvSpPr/>
            <p:nvPr/>
          </p:nvSpPr>
          <p:spPr>
            <a:xfrm>
              <a:off x="4419600" y="927100"/>
              <a:ext cx="2298700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Topography</a:t>
              </a:r>
            </a:p>
            <a:p>
              <a:pPr algn="ctr"/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Elevation | Slope</a:t>
              </a: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BF492DF3-6F68-707B-C036-B79EFA565A89}"/>
                </a:ext>
              </a:extLst>
            </p:cNvPr>
            <p:cNvCxnSpPr>
              <a:cxnSpLocks/>
              <a:endCxn id="76" idx="0"/>
            </p:cNvCxnSpPr>
            <p:nvPr/>
          </p:nvCxnSpPr>
          <p:spPr>
            <a:xfrm flipH="1">
              <a:off x="3568700" y="1473200"/>
              <a:ext cx="866775" cy="762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FD2FB27-0BF3-B9D4-BDE5-769EA46A0AF9}"/>
                </a:ext>
              </a:extLst>
            </p:cNvPr>
            <p:cNvSpPr/>
            <p:nvPr/>
          </p:nvSpPr>
          <p:spPr>
            <a:xfrm>
              <a:off x="2867025" y="2235200"/>
              <a:ext cx="1403350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Climate</a:t>
              </a:r>
            </a:p>
            <a:p>
              <a:pPr algn="ctr"/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MAP | MAT</a:t>
              </a: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F505C12-2792-FBA9-0C2B-5219FEB3E03D}"/>
                </a:ext>
              </a:extLst>
            </p:cNvPr>
            <p:cNvSpPr/>
            <p:nvPr/>
          </p:nvSpPr>
          <p:spPr>
            <a:xfrm>
              <a:off x="6642101" y="2222500"/>
              <a:ext cx="1403350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Clay content</a:t>
              </a:r>
              <a:endParaRPr lang="en-US" sz="140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7B8AC5D-E8C6-E6BF-BD4F-A9D22B2EEF76}"/>
                </a:ext>
              </a:extLst>
            </p:cNvPr>
            <p:cNvSpPr/>
            <p:nvPr/>
          </p:nvSpPr>
          <p:spPr>
            <a:xfrm>
              <a:off x="4754563" y="2235200"/>
              <a:ext cx="1403350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Season</a:t>
              </a:r>
            </a:p>
            <a:p>
              <a:pPr algn="ctr"/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PS | TS</a:t>
              </a: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CF1F09C8-99F2-122B-AA4B-6667F9B17032}"/>
                </a:ext>
              </a:extLst>
            </p:cNvPr>
            <p:cNvCxnSpPr>
              <a:cxnSpLocks/>
              <a:endCxn id="78" idx="0"/>
            </p:cNvCxnSpPr>
            <p:nvPr/>
          </p:nvCxnSpPr>
          <p:spPr>
            <a:xfrm>
              <a:off x="5456238" y="1485900"/>
              <a:ext cx="0" cy="7493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5DAD01A5-21F8-EC86-1BCF-D060A22F3774}"/>
                </a:ext>
              </a:extLst>
            </p:cNvPr>
            <p:cNvCxnSpPr>
              <a:cxnSpLocks/>
              <a:endCxn id="77" idx="0"/>
            </p:cNvCxnSpPr>
            <p:nvPr/>
          </p:nvCxnSpPr>
          <p:spPr>
            <a:xfrm>
              <a:off x="6705601" y="1473200"/>
              <a:ext cx="638175" cy="7493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DC51553A-5356-8FF7-03D6-56D28A44F870}"/>
                </a:ext>
              </a:extLst>
            </p:cNvPr>
            <p:cNvCxnSpPr>
              <a:cxnSpLocks/>
              <a:endCxn id="78" idx="1"/>
            </p:cNvCxnSpPr>
            <p:nvPr/>
          </p:nvCxnSpPr>
          <p:spPr>
            <a:xfrm>
              <a:off x="4270375" y="2508250"/>
              <a:ext cx="4841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41ED4976-976D-47D0-D235-6869F6F8BF1B}"/>
                </a:ext>
              </a:extLst>
            </p:cNvPr>
            <p:cNvCxnSpPr>
              <a:cxnSpLocks/>
            </p:cNvCxnSpPr>
            <p:nvPr/>
          </p:nvCxnSpPr>
          <p:spPr>
            <a:xfrm>
              <a:off x="6157913" y="2463800"/>
              <a:ext cx="4841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35B39C0-6E88-6395-F90B-72AE8E5EED63}"/>
                </a:ext>
              </a:extLst>
            </p:cNvPr>
            <p:cNvSpPr txBox="1"/>
            <p:nvPr/>
          </p:nvSpPr>
          <p:spPr>
            <a:xfrm>
              <a:off x="3321933" y="1739108"/>
              <a:ext cx="8046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-0.12*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738CB5C-4B5F-B892-38D1-C98F8B6508F4}"/>
                </a:ext>
              </a:extLst>
            </p:cNvPr>
            <p:cNvSpPr txBox="1"/>
            <p:nvPr/>
          </p:nvSpPr>
          <p:spPr>
            <a:xfrm>
              <a:off x="5433679" y="1689100"/>
              <a:ext cx="7242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-0.29***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C0CA6AC-7E40-C9FC-0DE1-346587B3963E}"/>
                </a:ext>
              </a:extLst>
            </p:cNvPr>
            <p:cNvSpPr txBox="1"/>
            <p:nvPr/>
          </p:nvSpPr>
          <p:spPr>
            <a:xfrm>
              <a:off x="7018978" y="1631144"/>
              <a:ext cx="8966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0.08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D91BA79-47D5-FD7F-6CD3-EBC2E439B2CA}"/>
                </a:ext>
              </a:extLst>
            </p:cNvPr>
            <p:cNvSpPr txBox="1"/>
            <p:nvPr/>
          </p:nvSpPr>
          <p:spPr>
            <a:xfrm>
              <a:off x="4160543" y="2246484"/>
              <a:ext cx="750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-0.88***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3BB96D3-F8A8-3BFF-14A9-17E3E758923B}"/>
                </a:ext>
              </a:extLst>
            </p:cNvPr>
            <p:cNvSpPr txBox="1"/>
            <p:nvPr/>
          </p:nvSpPr>
          <p:spPr>
            <a:xfrm>
              <a:off x="6096003" y="2231252"/>
              <a:ext cx="817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-0.25***</a:t>
              </a: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3F2C7784-AF04-591B-BD43-203AD4097CEF}"/>
                </a:ext>
              </a:extLst>
            </p:cNvPr>
            <p:cNvCxnSpPr>
              <a:cxnSpLocks/>
              <a:endCxn id="89" idx="0"/>
            </p:cNvCxnSpPr>
            <p:nvPr/>
          </p:nvCxnSpPr>
          <p:spPr>
            <a:xfrm>
              <a:off x="3977783" y="2796683"/>
              <a:ext cx="665968" cy="11383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81F7F81-77FC-5BD8-9BE4-C4C2B5CC6CF4}"/>
                </a:ext>
              </a:extLst>
            </p:cNvPr>
            <p:cNvSpPr/>
            <p:nvPr/>
          </p:nvSpPr>
          <p:spPr>
            <a:xfrm>
              <a:off x="3129588" y="3935071"/>
              <a:ext cx="3028325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Vegetation</a:t>
              </a:r>
            </a:p>
            <a:p>
              <a:pPr algn="ctr"/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GPP | </a:t>
              </a:r>
              <a:r>
                <a:rPr lang="en-US" sz="1401" dirty="0" err="1">
                  <a:latin typeface="Arial" panose="020B0604020202020204" pitchFamily="34" charset="0"/>
                  <a:cs typeface="Arial" panose="020B0604020202020204" pitchFamily="34" charset="0"/>
                </a:rPr>
                <a:t>Shannon_EVI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| </a:t>
              </a:r>
              <a:r>
                <a:rPr lang="en-US" sz="1401" dirty="0" err="1">
                  <a:latin typeface="Arial" panose="020B0604020202020204" pitchFamily="34" charset="0"/>
                  <a:cs typeface="Arial" panose="020B0604020202020204" pitchFamily="34" charset="0"/>
                </a:rPr>
                <a:t>Rootdepth</a:t>
              </a:r>
              <a:endParaRPr lang="en-US" sz="140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3B03890-2D8D-0C72-2642-9796EFEF0DD5}"/>
                </a:ext>
              </a:extLst>
            </p:cNvPr>
            <p:cNvSpPr txBox="1"/>
            <p:nvPr/>
          </p:nvSpPr>
          <p:spPr>
            <a:xfrm>
              <a:off x="3585449" y="3152921"/>
              <a:ext cx="7983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-0.99***</a:t>
              </a:r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16A8302D-00EC-085F-B1C7-6E9009A95B08}"/>
                </a:ext>
              </a:extLst>
            </p:cNvPr>
            <p:cNvCxnSpPr>
              <a:cxnSpLocks/>
              <a:endCxn id="89" idx="0"/>
            </p:cNvCxnSpPr>
            <p:nvPr/>
          </p:nvCxnSpPr>
          <p:spPr>
            <a:xfrm flipH="1">
              <a:off x="4643751" y="2781300"/>
              <a:ext cx="823757" cy="1153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2CCDDAB-C155-0AFB-1EC5-21A589F89307}"/>
                </a:ext>
              </a:extLst>
            </p:cNvPr>
            <p:cNvSpPr txBox="1"/>
            <p:nvPr/>
          </p:nvSpPr>
          <p:spPr>
            <a:xfrm>
              <a:off x="5055625" y="3188899"/>
              <a:ext cx="7839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-0.37***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2520EC42-560C-5C67-0526-3F34E9FEAB05}"/>
                </a:ext>
              </a:extLst>
            </p:cNvPr>
            <p:cNvSpPr/>
            <p:nvPr/>
          </p:nvSpPr>
          <p:spPr>
            <a:xfrm>
              <a:off x="6804878" y="3937083"/>
              <a:ext cx="1403350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Soil</a:t>
              </a:r>
            </a:p>
            <a:p>
              <a:pPr algn="ctr"/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pH | BD</a:t>
              </a: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806C9241-667D-0C09-BFA3-EA8ED89B7966}"/>
                </a:ext>
              </a:extLst>
            </p:cNvPr>
            <p:cNvCxnSpPr>
              <a:cxnSpLocks/>
              <a:stCxn id="93" idx="1"/>
            </p:cNvCxnSpPr>
            <p:nvPr/>
          </p:nvCxnSpPr>
          <p:spPr>
            <a:xfrm flipH="1" flipV="1">
              <a:off x="6157913" y="4208121"/>
              <a:ext cx="646965" cy="20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25287EF-5554-696B-38D2-6F745B28331D}"/>
                </a:ext>
              </a:extLst>
            </p:cNvPr>
            <p:cNvSpPr txBox="1"/>
            <p:nvPr/>
          </p:nvSpPr>
          <p:spPr>
            <a:xfrm>
              <a:off x="6156819" y="3961343"/>
              <a:ext cx="7747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-0.15***</a:t>
              </a: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3D002610-CAED-6BA2-D371-DBE81A9B4E3C}"/>
                </a:ext>
              </a:extLst>
            </p:cNvPr>
            <p:cNvCxnSpPr>
              <a:cxnSpLocks/>
            </p:cNvCxnSpPr>
            <p:nvPr/>
          </p:nvCxnSpPr>
          <p:spPr>
            <a:xfrm>
              <a:off x="7398044" y="2770778"/>
              <a:ext cx="0" cy="11769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3242C4B-6DFB-25DF-B4E8-BB6D3122A521}"/>
                </a:ext>
              </a:extLst>
            </p:cNvPr>
            <p:cNvSpPr txBox="1"/>
            <p:nvPr/>
          </p:nvSpPr>
          <p:spPr>
            <a:xfrm>
              <a:off x="7398044" y="3082957"/>
              <a:ext cx="7002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0.26***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48D06657-2B9F-BFB3-9365-AE45D10244A2}"/>
                </a:ext>
              </a:extLst>
            </p:cNvPr>
            <p:cNvSpPr/>
            <p:nvPr/>
          </p:nvSpPr>
          <p:spPr>
            <a:xfrm>
              <a:off x="4672198" y="5502419"/>
              <a:ext cx="766862" cy="313833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CUE</a:t>
              </a:r>
              <a:endParaRPr lang="en-US" sz="140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0EE342B4-3143-E9CD-A445-187D85B59268}"/>
                </a:ext>
              </a:extLst>
            </p:cNvPr>
            <p:cNvCxnSpPr>
              <a:cxnSpLocks/>
            </p:cNvCxnSpPr>
            <p:nvPr/>
          </p:nvCxnSpPr>
          <p:spPr>
            <a:xfrm>
              <a:off x="4046146" y="4486329"/>
              <a:ext cx="615509" cy="1020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61755AF6-248C-EF8C-7FD8-59948CE35F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49603" y="4451730"/>
              <a:ext cx="1358666" cy="10742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875AFD65-BD2B-948C-F31C-577235788DDC}"/>
                </a:ext>
              </a:extLst>
            </p:cNvPr>
            <p:cNvSpPr txBox="1"/>
            <p:nvPr/>
          </p:nvSpPr>
          <p:spPr>
            <a:xfrm>
              <a:off x="4269174" y="4691706"/>
              <a:ext cx="7491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0.003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8007706F-EEC8-9682-6464-E4DB42007FAB}"/>
                </a:ext>
              </a:extLst>
            </p:cNvPr>
            <p:cNvSpPr txBox="1"/>
            <p:nvPr/>
          </p:nvSpPr>
          <p:spPr>
            <a:xfrm>
              <a:off x="6156819" y="4792587"/>
              <a:ext cx="766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-0.47***</a:t>
              </a:r>
            </a:p>
          </p:txBody>
        </p: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9CBF2DB6-2D1C-FD4F-C36D-2C057822AF23}"/>
                </a:ext>
              </a:extLst>
            </p:cNvPr>
            <p:cNvCxnSpPr>
              <a:cxnSpLocks/>
            </p:cNvCxnSpPr>
            <p:nvPr/>
          </p:nvCxnSpPr>
          <p:spPr>
            <a:xfrm>
              <a:off x="6142639" y="2806253"/>
              <a:ext cx="1199693" cy="10970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585F5157-1E49-7994-E0B3-734703C4D526}"/>
                </a:ext>
              </a:extLst>
            </p:cNvPr>
            <p:cNvSpPr txBox="1"/>
            <p:nvPr/>
          </p:nvSpPr>
          <p:spPr>
            <a:xfrm>
              <a:off x="6486961" y="3039639"/>
              <a:ext cx="7438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-0.56***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18C4CA96-3A36-CF02-C139-FF9D781747E1}"/>
                </a:ext>
              </a:extLst>
            </p:cNvPr>
            <p:cNvSpPr txBox="1"/>
            <p:nvPr/>
          </p:nvSpPr>
          <p:spPr>
            <a:xfrm>
              <a:off x="2711235" y="1974238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0.01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BD20673B-F38F-BE7B-F3E9-5D634D58B739}"/>
                </a:ext>
              </a:extLst>
            </p:cNvPr>
            <p:cNvSpPr txBox="1"/>
            <p:nvPr/>
          </p:nvSpPr>
          <p:spPr>
            <a:xfrm>
              <a:off x="4592602" y="1986130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0.80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213584B1-7BE7-DDFD-A841-4BA756A8D104}"/>
                </a:ext>
              </a:extLst>
            </p:cNvPr>
            <p:cNvSpPr txBox="1"/>
            <p:nvPr/>
          </p:nvSpPr>
          <p:spPr>
            <a:xfrm>
              <a:off x="7332674" y="1970002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0.08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3ACEA9C-75F1-AABF-773E-686E6165108E}"/>
                </a:ext>
              </a:extLst>
            </p:cNvPr>
            <p:cNvSpPr txBox="1"/>
            <p:nvPr/>
          </p:nvSpPr>
          <p:spPr>
            <a:xfrm>
              <a:off x="3254165" y="3643899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0.66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B5056542-56A3-EBFF-FDCB-6565D8CE3BF9}"/>
                </a:ext>
              </a:extLst>
            </p:cNvPr>
            <p:cNvSpPr txBox="1"/>
            <p:nvPr/>
          </p:nvSpPr>
          <p:spPr>
            <a:xfrm>
              <a:off x="4620987" y="5234015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0.23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06B0224-204C-8DBC-4A24-02ABCB879C33}"/>
                </a:ext>
              </a:extLst>
            </p:cNvPr>
            <p:cNvSpPr txBox="1"/>
            <p:nvPr/>
          </p:nvSpPr>
          <p:spPr>
            <a:xfrm>
              <a:off x="7440641" y="3672134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0.46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CD342C6-DF19-9EB7-7986-17E6E93E32A8}"/>
                </a:ext>
              </a:extLst>
            </p:cNvPr>
            <p:cNvSpPr txBox="1"/>
            <p:nvPr/>
          </p:nvSpPr>
          <p:spPr>
            <a:xfrm>
              <a:off x="5701739" y="5502419"/>
              <a:ext cx="1497525" cy="300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1" dirty="0" err="1">
                  <a:latin typeface="Arial" panose="020B0604020202020204" pitchFamily="34" charset="0"/>
                  <a:cs typeface="Arial" panose="020B0604020202020204" pitchFamily="34" charset="0"/>
                </a:rPr>
                <a:t>Sub_GOF</a:t>
              </a:r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 = 0.50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1465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837C1A89-C26C-2B99-0239-5AE93D3EECE9}"/>
              </a:ext>
            </a:extLst>
          </p:cNvPr>
          <p:cNvGrpSpPr/>
          <p:nvPr/>
        </p:nvGrpSpPr>
        <p:grpSpPr>
          <a:xfrm>
            <a:off x="6251274" y="773128"/>
            <a:ext cx="5662678" cy="4889154"/>
            <a:chOff x="2711235" y="927100"/>
            <a:chExt cx="5662675" cy="4889152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819610BF-16C9-3985-63A5-5BA193F94CE7}"/>
                </a:ext>
              </a:extLst>
            </p:cNvPr>
            <p:cNvSpPr/>
            <p:nvPr/>
          </p:nvSpPr>
          <p:spPr>
            <a:xfrm>
              <a:off x="4419600" y="927100"/>
              <a:ext cx="2298700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Topography</a:t>
              </a:r>
            </a:p>
            <a:p>
              <a:pPr algn="ctr"/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Elevation | Slope</a:t>
              </a: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BF492DF3-6F68-707B-C036-B79EFA565A89}"/>
                </a:ext>
              </a:extLst>
            </p:cNvPr>
            <p:cNvCxnSpPr>
              <a:cxnSpLocks/>
              <a:endCxn id="76" idx="0"/>
            </p:cNvCxnSpPr>
            <p:nvPr/>
          </p:nvCxnSpPr>
          <p:spPr>
            <a:xfrm flipH="1">
              <a:off x="3568700" y="1473200"/>
              <a:ext cx="866775" cy="762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FD2FB27-0BF3-B9D4-BDE5-769EA46A0AF9}"/>
                </a:ext>
              </a:extLst>
            </p:cNvPr>
            <p:cNvSpPr/>
            <p:nvPr/>
          </p:nvSpPr>
          <p:spPr>
            <a:xfrm>
              <a:off x="2867025" y="2235200"/>
              <a:ext cx="1403350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Climate</a:t>
              </a:r>
            </a:p>
            <a:p>
              <a:pPr algn="ctr"/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MAP | MAT</a:t>
              </a: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F505C12-2792-FBA9-0C2B-5219FEB3E03D}"/>
                </a:ext>
              </a:extLst>
            </p:cNvPr>
            <p:cNvSpPr/>
            <p:nvPr/>
          </p:nvSpPr>
          <p:spPr>
            <a:xfrm>
              <a:off x="6642101" y="2222500"/>
              <a:ext cx="1403350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Clay content</a:t>
              </a:r>
              <a:endParaRPr lang="en-US" sz="140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7B8AC5D-E8C6-E6BF-BD4F-A9D22B2EEF76}"/>
                </a:ext>
              </a:extLst>
            </p:cNvPr>
            <p:cNvSpPr/>
            <p:nvPr/>
          </p:nvSpPr>
          <p:spPr>
            <a:xfrm>
              <a:off x="4754563" y="2235200"/>
              <a:ext cx="1403350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Season</a:t>
              </a:r>
            </a:p>
            <a:p>
              <a:pPr algn="ctr"/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PS | TS</a:t>
              </a: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CF1F09C8-99F2-122B-AA4B-6667F9B17032}"/>
                </a:ext>
              </a:extLst>
            </p:cNvPr>
            <p:cNvCxnSpPr>
              <a:cxnSpLocks/>
              <a:endCxn id="78" idx="0"/>
            </p:cNvCxnSpPr>
            <p:nvPr/>
          </p:nvCxnSpPr>
          <p:spPr>
            <a:xfrm>
              <a:off x="5456238" y="1485900"/>
              <a:ext cx="0" cy="7493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5DAD01A5-21F8-EC86-1BCF-D060A22F3774}"/>
                </a:ext>
              </a:extLst>
            </p:cNvPr>
            <p:cNvCxnSpPr>
              <a:cxnSpLocks/>
              <a:endCxn id="77" idx="0"/>
            </p:cNvCxnSpPr>
            <p:nvPr/>
          </p:nvCxnSpPr>
          <p:spPr>
            <a:xfrm>
              <a:off x="6705601" y="1473200"/>
              <a:ext cx="638175" cy="7493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DC51553A-5356-8FF7-03D6-56D28A44F870}"/>
                </a:ext>
              </a:extLst>
            </p:cNvPr>
            <p:cNvCxnSpPr>
              <a:cxnSpLocks/>
              <a:endCxn id="78" idx="1"/>
            </p:cNvCxnSpPr>
            <p:nvPr/>
          </p:nvCxnSpPr>
          <p:spPr>
            <a:xfrm>
              <a:off x="4270375" y="2508250"/>
              <a:ext cx="4841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41ED4976-976D-47D0-D235-6869F6F8BF1B}"/>
                </a:ext>
              </a:extLst>
            </p:cNvPr>
            <p:cNvCxnSpPr>
              <a:cxnSpLocks/>
            </p:cNvCxnSpPr>
            <p:nvPr/>
          </p:nvCxnSpPr>
          <p:spPr>
            <a:xfrm>
              <a:off x="6157913" y="2463800"/>
              <a:ext cx="4841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35B39C0-6E88-6395-F90B-72AE8E5EED63}"/>
                </a:ext>
              </a:extLst>
            </p:cNvPr>
            <p:cNvSpPr txBox="1"/>
            <p:nvPr/>
          </p:nvSpPr>
          <p:spPr>
            <a:xfrm>
              <a:off x="3321933" y="1739108"/>
              <a:ext cx="8046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-0.12*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738CB5C-4B5F-B892-38D1-C98F8B6508F4}"/>
                </a:ext>
              </a:extLst>
            </p:cNvPr>
            <p:cNvSpPr txBox="1"/>
            <p:nvPr/>
          </p:nvSpPr>
          <p:spPr>
            <a:xfrm>
              <a:off x="5433679" y="1689100"/>
              <a:ext cx="7242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-0.29***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4C0CA6AC-7E40-C9FC-0DE1-346587B3963E}"/>
                </a:ext>
              </a:extLst>
            </p:cNvPr>
            <p:cNvSpPr txBox="1"/>
            <p:nvPr/>
          </p:nvSpPr>
          <p:spPr>
            <a:xfrm>
              <a:off x="7018978" y="1631144"/>
              <a:ext cx="8966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0.08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D91BA79-47D5-FD7F-6CD3-EBC2E439B2CA}"/>
                </a:ext>
              </a:extLst>
            </p:cNvPr>
            <p:cNvSpPr txBox="1"/>
            <p:nvPr/>
          </p:nvSpPr>
          <p:spPr>
            <a:xfrm>
              <a:off x="4160543" y="2246484"/>
              <a:ext cx="750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-0.88***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3BB96D3-F8A8-3BFF-14A9-17E3E758923B}"/>
                </a:ext>
              </a:extLst>
            </p:cNvPr>
            <p:cNvSpPr txBox="1"/>
            <p:nvPr/>
          </p:nvSpPr>
          <p:spPr>
            <a:xfrm>
              <a:off x="6096003" y="2231252"/>
              <a:ext cx="817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-0.25***</a:t>
              </a:r>
            </a:p>
          </p:txBody>
        </p: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3F2C7784-AF04-591B-BD43-203AD4097CEF}"/>
                </a:ext>
              </a:extLst>
            </p:cNvPr>
            <p:cNvCxnSpPr>
              <a:cxnSpLocks/>
              <a:endCxn id="89" idx="0"/>
            </p:cNvCxnSpPr>
            <p:nvPr/>
          </p:nvCxnSpPr>
          <p:spPr>
            <a:xfrm>
              <a:off x="3977783" y="2796683"/>
              <a:ext cx="665968" cy="11383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81F7F81-77FC-5BD8-9BE4-C4C2B5CC6CF4}"/>
                </a:ext>
              </a:extLst>
            </p:cNvPr>
            <p:cNvSpPr/>
            <p:nvPr/>
          </p:nvSpPr>
          <p:spPr>
            <a:xfrm>
              <a:off x="3129588" y="3935071"/>
              <a:ext cx="3028325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Vegetation</a:t>
              </a:r>
            </a:p>
            <a:p>
              <a:pPr algn="ctr"/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GPP | </a:t>
              </a:r>
              <a:r>
                <a:rPr lang="en-US" sz="1401" dirty="0" err="1">
                  <a:latin typeface="Arial" panose="020B0604020202020204" pitchFamily="34" charset="0"/>
                  <a:cs typeface="Arial" panose="020B0604020202020204" pitchFamily="34" charset="0"/>
                </a:rPr>
                <a:t>Shannon_EVI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| </a:t>
              </a:r>
              <a:r>
                <a:rPr lang="en-US" sz="1401" dirty="0" err="1">
                  <a:latin typeface="Arial" panose="020B0604020202020204" pitchFamily="34" charset="0"/>
                  <a:cs typeface="Arial" panose="020B0604020202020204" pitchFamily="34" charset="0"/>
                </a:rPr>
                <a:t>Rootdepth</a:t>
              </a:r>
              <a:endParaRPr lang="en-US" sz="140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53B03890-2D8D-0C72-2642-9796EFEF0DD5}"/>
                </a:ext>
              </a:extLst>
            </p:cNvPr>
            <p:cNvSpPr txBox="1"/>
            <p:nvPr/>
          </p:nvSpPr>
          <p:spPr>
            <a:xfrm>
              <a:off x="3585449" y="3152921"/>
              <a:ext cx="7983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-0.99***</a:t>
              </a:r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16A8302D-00EC-085F-B1C7-6E9009A95B08}"/>
                </a:ext>
              </a:extLst>
            </p:cNvPr>
            <p:cNvCxnSpPr>
              <a:cxnSpLocks/>
              <a:endCxn id="89" idx="0"/>
            </p:cNvCxnSpPr>
            <p:nvPr/>
          </p:nvCxnSpPr>
          <p:spPr>
            <a:xfrm flipH="1">
              <a:off x="4643751" y="2781300"/>
              <a:ext cx="823757" cy="1153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2CCDDAB-C155-0AFB-1EC5-21A589F89307}"/>
                </a:ext>
              </a:extLst>
            </p:cNvPr>
            <p:cNvSpPr txBox="1"/>
            <p:nvPr/>
          </p:nvSpPr>
          <p:spPr>
            <a:xfrm>
              <a:off x="5055625" y="3188899"/>
              <a:ext cx="78392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-0.37***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2520EC42-560C-5C67-0526-3F34E9FEAB05}"/>
                </a:ext>
              </a:extLst>
            </p:cNvPr>
            <p:cNvSpPr/>
            <p:nvPr/>
          </p:nvSpPr>
          <p:spPr>
            <a:xfrm>
              <a:off x="6804878" y="3937083"/>
              <a:ext cx="1403350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Soil</a:t>
              </a:r>
            </a:p>
            <a:p>
              <a:pPr algn="ctr"/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pH | BD</a:t>
              </a: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806C9241-667D-0C09-BFA3-EA8ED89B7966}"/>
                </a:ext>
              </a:extLst>
            </p:cNvPr>
            <p:cNvCxnSpPr>
              <a:cxnSpLocks/>
              <a:stCxn id="93" idx="1"/>
            </p:cNvCxnSpPr>
            <p:nvPr/>
          </p:nvCxnSpPr>
          <p:spPr>
            <a:xfrm flipH="1" flipV="1">
              <a:off x="6157913" y="4208121"/>
              <a:ext cx="646965" cy="20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25287EF-5554-696B-38D2-6F745B28331D}"/>
                </a:ext>
              </a:extLst>
            </p:cNvPr>
            <p:cNvSpPr txBox="1"/>
            <p:nvPr/>
          </p:nvSpPr>
          <p:spPr>
            <a:xfrm>
              <a:off x="6156819" y="3961343"/>
              <a:ext cx="7747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-0.15***</a:t>
              </a: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3D002610-CAED-6BA2-D371-DBE81A9B4E3C}"/>
                </a:ext>
              </a:extLst>
            </p:cNvPr>
            <p:cNvCxnSpPr>
              <a:cxnSpLocks/>
            </p:cNvCxnSpPr>
            <p:nvPr/>
          </p:nvCxnSpPr>
          <p:spPr>
            <a:xfrm>
              <a:off x="7398044" y="2770778"/>
              <a:ext cx="0" cy="11769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3242C4B-6DFB-25DF-B4E8-BB6D3122A521}"/>
                </a:ext>
              </a:extLst>
            </p:cNvPr>
            <p:cNvSpPr txBox="1"/>
            <p:nvPr/>
          </p:nvSpPr>
          <p:spPr>
            <a:xfrm>
              <a:off x="7398044" y="3082957"/>
              <a:ext cx="7002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0.26***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48D06657-2B9F-BFB3-9365-AE45D10244A2}"/>
                </a:ext>
              </a:extLst>
            </p:cNvPr>
            <p:cNvSpPr/>
            <p:nvPr/>
          </p:nvSpPr>
          <p:spPr>
            <a:xfrm>
              <a:off x="4672198" y="5502419"/>
              <a:ext cx="766862" cy="313833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CUE</a:t>
              </a:r>
              <a:endParaRPr lang="en-US" sz="140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0EE342B4-3143-E9CD-A445-187D85B59268}"/>
                </a:ext>
              </a:extLst>
            </p:cNvPr>
            <p:cNvCxnSpPr>
              <a:cxnSpLocks/>
            </p:cNvCxnSpPr>
            <p:nvPr/>
          </p:nvCxnSpPr>
          <p:spPr>
            <a:xfrm>
              <a:off x="4046146" y="4486329"/>
              <a:ext cx="615509" cy="1020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61755AF6-248C-EF8C-7FD8-59948CE35F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49603" y="4451730"/>
              <a:ext cx="1358666" cy="10742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875AFD65-BD2B-948C-F31C-577235788DDC}"/>
                </a:ext>
              </a:extLst>
            </p:cNvPr>
            <p:cNvSpPr txBox="1"/>
            <p:nvPr/>
          </p:nvSpPr>
          <p:spPr>
            <a:xfrm>
              <a:off x="4269174" y="4691706"/>
              <a:ext cx="7491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0.003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8007706F-EEC8-9682-6464-E4DB42007FAB}"/>
                </a:ext>
              </a:extLst>
            </p:cNvPr>
            <p:cNvSpPr txBox="1"/>
            <p:nvPr/>
          </p:nvSpPr>
          <p:spPr>
            <a:xfrm>
              <a:off x="6156819" y="4792587"/>
              <a:ext cx="766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-0.47***</a:t>
              </a:r>
            </a:p>
          </p:txBody>
        </p: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9CBF2DB6-2D1C-FD4F-C36D-2C057822AF23}"/>
                </a:ext>
              </a:extLst>
            </p:cNvPr>
            <p:cNvCxnSpPr>
              <a:cxnSpLocks/>
            </p:cNvCxnSpPr>
            <p:nvPr/>
          </p:nvCxnSpPr>
          <p:spPr>
            <a:xfrm>
              <a:off x="6142639" y="2806253"/>
              <a:ext cx="1199693" cy="10970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585F5157-1E49-7994-E0B3-734703C4D526}"/>
                </a:ext>
              </a:extLst>
            </p:cNvPr>
            <p:cNvSpPr txBox="1"/>
            <p:nvPr/>
          </p:nvSpPr>
          <p:spPr>
            <a:xfrm>
              <a:off x="6486961" y="3039639"/>
              <a:ext cx="7438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-0.56***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18C4CA96-3A36-CF02-C139-FF9D781747E1}"/>
                </a:ext>
              </a:extLst>
            </p:cNvPr>
            <p:cNvSpPr txBox="1"/>
            <p:nvPr/>
          </p:nvSpPr>
          <p:spPr>
            <a:xfrm>
              <a:off x="2711235" y="1974238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0.01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BD20673B-F38F-BE7B-F3E9-5D634D58B739}"/>
                </a:ext>
              </a:extLst>
            </p:cNvPr>
            <p:cNvSpPr txBox="1"/>
            <p:nvPr/>
          </p:nvSpPr>
          <p:spPr>
            <a:xfrm>
              <a:off x="4592602" y="1986130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0.80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213584B1-7BE7-DDFD-A841-4BA756A8D104}"/>
                </a:ext>
              </a:extLst>
            </p:cNvPr>
            <p:cNvSpPr txBox="1"/>
            <p:nvPr/>
          </p:nvSpPr>
          <p:spPr>
            <a:xfrm>
              <a:off x="7332674" y="1970002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0.08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3ACEA9C-75F1-AABF-773E-686E6165108E}"/>
                </a:ext>
              </a:extLst>
            </p:cNvPr>
            <p:cNvSpPr txBox="1"/>
            <p:nvPr/>
          </p:nvSpPr>
          <p:spPr>
            <a:xfrm>
              <a:off x="3254165" y="3643899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0.66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B5056542-56A3-EBFF-FDCB-6565D8CE3BF9}"/>
                </a:ext>
              </a:extLst>
            </p:cNvPr>
            <p:cNvSpPr txBox="1"/>
            <p:nvPr/>
          </p:nvSpPr>
          <p:spPr>
            <a:xfrm>
              <a:off x="4620987" y="5234015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0.23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106B0224-204C-8DBC-4A24-02ABCB879C33}"/>
                </a:ext>
              </a:extLst>
            </p:cNvPr>
            <p:cNvSpPr txBox="1"/>
            <p:nvPr/>
          </p:nvSpPr>
          <p:spPr>
            <a:xfrm>
              <a:off x="7440641" y="3672134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0.46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CD342C6-DF19-9EB7-7986-17E6E93E32A8}"/>
                </a:ext>
              </a:extLst>
            </p:cNvPr>
            <p:cNvSpPr txBox="1"/>
            <p:nvPr/>
          </p:nvSpPr>
          <p:spPr>
            <a:xfrm>
              <a:off x="5701739" y="5502419"/>
              <a:ext cx="1497525" cy="300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1" dirty="0" err="1">
                  <a:latin typeface="Arial" panose="020B0604020202020204" pitchFamily="34" charset="0"/>
                  <a:cs typeface="Arial" panose="020B0604020202020204" pitchFamily="34" charset="0"/>
                </a:rPr>
                <a:t>Sub_GOF</a:t>
              </a:r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 = 0.50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0714072-6B2C-0B46-CAAD-785DA88CA786}"/>
              </a:ext>
            </a:extLst>
          </p:cNvPr>
          <p:cNvGrpSpPr/>
          <p:nvPr/>
        </p:nvGrpSpPr>
        <p:grpSpPr>
          <a:xfrm>
            <a:off x="351522" y="760071"/>
            <a:ext cx="5870740" cy="4319976"/>
            <a:chOff x="6223634" y="589620"/>
            <a:chExt cx="5870740" cy="431997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7CB6DC4-19D0-C331-254D-2AF21E8FC1E9}"/>
                </a:ext>
              </a:extLst>
            </p:cNvPr>
            <p:cNvSpPr txBox="1"/>
            <p:nvPr/>
          </p:nvSpPr>
          <p:spPr>
            <a:xfrm>
              <a:off x="11266903" y="3110355"/>
              <a:ext cx="8274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= 0.46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991D6C6-BEEA-744E-D60B-EB7AA6E1686C}"/>
                </a:ext>
              </a:extLst>
            </p:cNvPr>
            <p:cNvGrpSpPr/>
            <p:nvPr/>
          </p:nvGrpSpPr>
          <p:grpSpPr>
            <a:xfrm>
              <a:off x="8206319" y="589620"/>
              <a:ext cx="2005527" cy="653724"/>
              <a:chOff x="6875812" y="1043464"/>
              <a:chExt cx="2005527" cy="653724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E697FF84-6EBC-68FF-0165-D38636BC939F}"/>
                  </a:ext>
                </a:extLst>
              </p:cNvPr>
              <p:cNvSpPr/>
              <p:nvPr/>
            </p:nvSpPr>
            <p:spPr>
              <a:xfrm>
                <a:off x="6875812" y="1043464"/>
                <a:ext cx="2005527" cy="324000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Topography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4F2F98B3-661C-6EC3-299C-CA5CC64B7722}"/>
                  </a:ext>
                </a:extLst>
              </p:cNvPr>
              <p:cNvSpPr/>
              <p:nvPr/>
            </p:nvSpPr>
            <p:spPr>
              <a:xfrm>
                <a:off x="6875812" y="1373188"/>
                <a:ext cx="1008000" cy="324000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Elevation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E9430D31-C815-01EA-A859-B3E950E1A110}"/>
                  </a:ext>
                </a:extLst>
              </p:cNvPr>
              <p:cNvSpPr/>
              <p:nvPr/>
            </p:nvSpPr>
            <p:spPr>
              <a:xfrm>
                <a:off x="7873339" y="1373188"/>
                <a:ext cx="1008000" cy="324000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Slope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BBBD031-AA75-197D-3FA4-7F8B50B8EF00}"/>
                </a:ext>
              </a:extLst>
            </p:cNvPr>
            <p:cNvSpPr/>
            <p:nvPr/>
          </p:nvSpPr>
          <p:spPr>
            <a:xfrm>
              <a:off x="10936004" y="1860187"/>
              <a:ext cx="984659" cy="64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Clay</a:t>
              </a:r>
            </a:p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content</a:t>
              </a: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8AC15DC-0643-2C54-A5DA-D521ADE692B9}"/>
                </a:ext>
              </a:extLst>
            </p:cNvPr>
            <p:cNvGrpSpPr/>
            <p:nvPr/>
          </p:nvGrpSpPr>
          <p:grpSpPr>
            <a:xfrm>
              <a:off x="6267469" y="1880400"/>
              <a:ext cx="1204630" cy="653724"/>
              <a:chOff x="6936820" y="1587909"/>
              <a:chExt cx="1204630" cy="653724"/>
            </a:xfrm>
          </p:grpSpPr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96122B44-77B9-2DB8-48C0-2144D642D8BF}"/>
                  </a:ext>
                </a:extLst>
              </p:cNvPr>
              <p:cNvSpPr/>
              <p:nvPr/>
            </p:nvSpPr>
            <p:spPr>
              <a:xfrm>
                <a:off x="6936820" y="1587909"/>
                <a:ext cx="1204629" cy="3240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Climate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0F83AE68-9EB9-EB10-3AE8-877480730BB6}"/>
                  </a:ext>
                </a:extLst>
              </p:cNvPr>
              <p:cNvSpPr/>
              <p:nvPr/>
            </p:nvSpPr>
            <p:spPr>
              <a:xfrm>
                <a:off x="6936820" y="1917633"/>
                <a:ext cx="549757" cy="324000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MAT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C3654170-1BDF-4C88-35EC-BF23DF16C668}"/>
                  </a:ext>
                </a:extLst>
              </p:cNvPr>
              <p:cNvSpPr/>
              <p:nvPr/>
            </p:nvSpPr>
            <p:spPr>
              <a:xfrm>
                <a:off x="7486579" y="1917633"/>
                <a:ext cx="654871" cy="324000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MAP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5D916C3-4F79-A7D9-5111-FFB2745BEA6D}"/>
                </a:ext>
              </a:extLst>
            </p:cNvPr>
            <p:cNvGrpSpPr/>
            <p:nvPr/>
          </p:nvGrpSpPr>
          <p:grpSpPr>
            <a:xfrm>
              <a:off x="8552094" y="1873286"/>
              <a:ext cx="1315789" cy="653724"/>
              <a:chOff x="6936819" y="1576034"/>
              <a:chExt cx="1315789" cy="653724"/>
            </a:xfrm>
          </p:grpSpPr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86362200-203C-9319-C594-1BF8EF42F5FE}"/>
                  </a:ext>
                </a:extLst>
              </p:cNvPr>
              <p:cNvSpPr/>
              <p:nvPr/>
            </p:nvSpPr>
            <p:spPr>
              <a:xfrm>
                <a:off x="6936820" y="1576034"/>
                <a:ext cx="1315788" cy="324000"/>
              </a:xfrm>
              <a:prstGeom prst="rect">
                <a:avLst/>
              </a:prstGeom>
              <a:solidFill>
                <a:srgbClr val="7030A0">
                  <a:alpha val="30000"/>
                </a:srgbClr>
              </a:solidFill>
              <a:ln>
                <a:solidFill>
                  <a:srgbClr val="7030A0">
                    <a:alpha val="30000"/>
                  </a:srgb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Seasonality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A511A233-10FE-2B9F-7EE3-123A15A02DDF}"/>
                  </a:ext>
                </a:extLst>
              </p:cNvPr>
              <p:cNvSpPr/>
              <p:nvPr/>
            </p:nvSpPr>
            <p:spPr>
              <a:xfrm>
                <a:off x="6936819" y="1905758"/>
                <a:ext cx="658800" cy="324000"/>
              </a:xfrm>
              <a:prstGeom prst="rect">
                <a:avLst/>
              </a:prstGeom>
              <a:noFill/>
              <a:ln>
                <a:solidFill>
                  <a:srgbClr val="7030A0">
                    <a:alpha val="30000"/>
                  </a:srgb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TS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5034FF89-3D60-6140-416A-789B8990F26B}"/>
                  </a:ext>
                </a:extLst>
              </p:cNvPr>
              <p:cNvSpPr/>
              <p:nvPr/>
            </p:nvSpPr>
            <p:spPr>
              <a:xfrm>
                <a:off x="7593808" y="1905758"/>
                <a:ext cx="658800" cy="324000"/>
              </a:xfrm>
              <a:prstGeom prst="rect">
                <a:avLst/>
              </a:prstGeom>
              <a:noFill/>
              <a:ln>
                <a:solidFill>
                  <a:srgbClr val="7030A0">
                    <a:alpha val="30000"/>
                  </a:srgb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PS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F21F456-5F63-B7B8-2B88-D375DE9EA5F1}"/>
                </a:ext>
              </a:extLst>
            </p:cNvPr>
            <p:cNvGrpSpPr/>
            <p:nvPr/>
          </p:nvGrpSpPr>
          <p:grpSpPr>
            <a:xfrm>
              <a:off x="10727908" y="3340206"/>
              <a:ext cx="1204630" cy="653724"/>
              <a:chOff x="6936820" y="1587909"/>
              <a:chExt cx="1204630" cy="653724"/>
            </a:xfrm>
          </p:grpSpPr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EC0E83D8-8A18-4F2A-E789-687DD68D3E90}"/>
                  </a:ext>
                </a:extLst>
              </p:cNvPr>
              <p:cNvSpPr/>
              <p:nvPr/>
            </p:nvSpPr>
            <p:spPr>
              <a:xfrm>
                <a:off x="6936820" y="1587909"/>
                <a:ext cx="1204629" cy="324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Soil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8E9B29AF-21D6-08AA-0F1F-127ABC578AE0}"/>
                  </a:ext>
                </a:extLst>
              </p:cNvPr>
              <p:cNvSpPr/>
              <p:nvPr/>
            </p:nvSpPr>
            <p:spPr>
              <a:xfrm>
                <a:off x="6936820" y="1917633"/>
                <a:ext cx="549757" cy="324000"/>
              </a:xfrm>
              <a:prstGeom prst="rect">
                <a:avLst/>
              </a:prstGeom>
              <a:noFill/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pH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9007028D-CDF3-12DC-2D29-03E034E1BF34}"/>
                  </a:ext>
                </a:extLst>
              </p:cNvPr>
              <p:cNvSpPr/>
              <p:nvPr/>
            </p:nvSpPr>
            <p:spPr>
              <a:xfrm>
                <a:off x="7486579" y="1917633"/>
                <a:ext cx="654871" cy="324000"/>
              </a:xfrm>
              <a:prstGeom prst="rect">
                <a:avLst/>
              </a:prstGeom>
              <a:noFill/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BD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DE64C9A-BBE8-022A-5355-9958560427BB}"/>
                </a:ext>
              </a:extLst>
            </p:cNvPr>
            <p:cNvGrpSpPr/>
            <p:nvPr/>
          </p:nvGrpSpPr>
          <p:grpSpPr>
            <a:xfrm>
              <a:off x="6488569" y="3326490"/>
              <a:ext cx="2882230" cy="653947"/>
              <a:chOff x="6737362" y="3356657"/>
              <a:chExt cx="2882230" cy="653947"/>
            </a:xfrm>
          </p:grpSpPr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B3A5BD90-EF08-D075-2899-1711B96984E5}"/>
                  </a:ext>
                </a:extLst>
              </p:cNvPr>
              <p:cNvSpPr/>
              <p:nvPr/>
            </p:nvSpPr>
            <p:spPr>
              <a:xfrm>
                <a:off x="6737362" y="3356657"/>
                <a:ext cx="2882229" cy="324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Vegetation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9A48FB32-47DF-567C-BFB3-59F50B748D68}"/>
                  </a:ext>
                </a:extLst>
              </p:cNvPr>
              <p:cNvSpPr/>
              <p:nvPr/>
            </p:nvSpPr>
            <p:spPr>
              <a:xfrm>
                <a:off x="6737363" y="3686604"/>
                <a:ext cx="576000" cy="324000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GPP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91D52F89-34DC-74B9-FA6A-13DADB0C0206}"/>
                  </a:ext>
                </a:extLst>
              </p:cNvPr>
              <p:cNvSpPr/>
              <p:nvPr/>
            </p:nvSpPr>
            <p:spPr>
              <a:xfrm>
                <a:off x="7315880" y="3686604"/>
                <a:ext cx="1296000" cy="324000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Shannon_EVI</a:t>
                </a:r>
                <a:endParaRPr lang="en-US" sz="140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E80F1CF9-81FF-A754-37EE-9C922CFDA4AB}"/>
                  </a:ext>
                </a:extLst>
              </p:cNvPr>
              <p:cNvSpPr/>
              <p:nvPr/>
            </p:nvSpPr>
            <p:spPr>
              <a:xfrm>
                <a:off x="8611592" y="3686604"/>
                <a:ext cx="1008000" cy="324000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Rootdepth</a:t>
                </a:r>
                <a:endParaRPr lang="en-US" sz="140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F1A8764-BCBD-4413-B87F-F5589673E657}"/>
                </a:ext>
              </a:extLst>
            </p:cNvPr>
            <p:cNvSpPr/>
            <p:nvPr/>
          </p:nvSpPr>
          <p:spPr>
            <a:xfrm>
              <a:off x="8968819" y="4595760"/>
              <a:ext cx="1440000" cy="3138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CUE</a:t>
              </a: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6F1E0CA-0E91-9B50-004A-47B89A5300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68224" y="1243344"/>
              <a:ext cx="743370" cy="631332"/>
            </a:xfrm>
            <a:prstGeom prst="straightConnector1">
              <a:avLst/>
            </a:prstGeom>
            <a:ln w="254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A914FB6-91B2-6D81-BEFA-B1CEB155732F}"/>
                </a:ext>
              </a:extLst>
            </p:cNvPr>
            <p:cNvSpPr txBox="1"/>
            <p:nvPr/>
          </p:nvSpPr>
          <p:spPr>
            <a:xfrm>
              <a:off x="6223634" y="1640389"/>
              <a:ext cx="8274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= 0.01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20D5D90-6838-29E4-EB34-21E0E7FB9D23}"/>
                </a:ext>
              </a:extLst>
            </p:cNvPr>
            <p:cNvSpPr txBox="1"/>
            <p:nvPr/>
          </p:nvSpPr>
          <p:spPr>
            <a:xfrm rot="19376878">
              <a:off x="7420589" y="1290884"/>
              <a:ext cx="8046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-0.12*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26D23B55-C932-57B5-74E3-0B64393F56EB}"/>
                </a:ext>
              </a:extLst>
            </p:cNvPr>
            <p:cNvCxnSpPr>
              <a:cxnSpLocks/>
              <a:endCxn id="119" idx="0"/>
            </p:cNvCxnSpPr>
            <p:nvPr/>
          </p:nvCxnSpPr>
          <p:spPr>
            <a:xfrm>
              <a:off x="7468224" y="2523655"/>
              <a:ext cx="461460" cy="802835"/>
            </a:xfrm>
            <a:prstGeom prst="straightConnector1">
              <a:avLst/>
            </a:prstGeom>
            <a:ln w="5715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952DA27-9527-8DB7-4C7E-AA29CD13D168}"/>
                </a:ext>
              </a:extLst>
            </p:cNvPr>
            <p:cNvCxnSpPr>
              <a:cxnSpLocks/>
            </p:cNvCxnSpPr>
            <p:nvPr/>
          </p:nvCxnSpPr>
          <p:spPr>
            <a:xfrm>
              <a:off x="9204807" y="1252401"/>
              <a:ext cx="17057" cy="644635"/>
            </a:xfrm>
            <a:prstGeom prst="straightConnector1">
              <a:avLst/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E42879CD-DDE4-07CD-D307-8EAF6A09B622}"/>
                </a:ext>
              </a:extLst>
            </p:cNvPr>
            <p:cNvCxnSpPr>
              <a:cxnSpLocks/>
            </p:cNvCxnSpPr>
            <p:nvPr/>
          </p:nvCxnSpPr>
          <p:spPr>
            <a:xfrm>
              <a:off x="10211846" y="1250776"/>
              <a:ext cx="720000" cy="629425"/>
            </a:xfrm>
            <a:prstGeom prst="straightConnector1">
              <a:avLst/>
            </a:prstGeom>
            <a:ln w="12700">
              <a:solidFill>
                <a:schemeClr val="accent4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32B0F020-BA5A-F207-CD78-88E824B50253}"/>
                </a:ext>
              </a:extLst>
            </p:cNvPr>
            <p:cNvCxnSpPr>
              <a:cxnSpLocks/>
            </p:cNvCxnSpPr>
            <p:nvPr/>
          </p:nvCxnSpPr>
          <p:spPr>
            <a:xfrm>
              <a:off x="7468224" y="2204400"/>
              <a:ext cx="1083870" cy="0"/>
            </a:xfrm>
            <a:prstGeom prst="straightConnector1">
              <a:avLst/>
            </a:prstGeom>
            <a:ln w="508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B92898CC-B59D-F510-601A-923EC1D097BD}"/>
                </a:ext>
              </a:extLst>
            </p:cNvPr>
            <p:cNvCxnSpPr>
              <a:cxnSpLocks/>
            </p:cNvCxnSpPr>
            <p:nvPr/>
          </p:nvCxnSpPr>
          <p:spPr>
            <a:xfrm>
              <a:off x="9867883" y="2212069"/>
              <a:ext cx="1063963" cy="0"/>
            </a:xfrm>
            <a:prstGeom prst="straightConnector1">
              <a:avLst/>
            </a:prstGeom>
            <a:ln w="285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9960341-9442-7417-3A72-5A406F4A4FE7}"/>
                </a:ext>
              </a:extLst>
            </p:cNvPr>
            <p:cNvCxnSpPr>
              <a:cxnSpLocks/>
            </p:cNvCxnSpPr>
            <p:nvPr/>
          </p:nvCxnSpPr>
          <p:spPr>
            <a:xfrm>
              <a:off x="9866315" y="2523529"/>
              <a:ext cx="1339423" cy="788604"/>
            </a:xfrm>
            <a:prstGeom prst="straightConnector1">
              <a:avLst/>
            </a:prstGeom>
            <a:ln w="4445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7A66348-ACB3-267E-628F-24B374103103}"/>
                </a:ext>
              </a:extLst>
            </p:cNvPr>
            <p:cNvCxnSpPr>
              <a:cxnSpLocks/>
            </p:cNvCxnSpPr>
            <p:nvPr/>
          </p:nvCxnSpPr>
          <p:spPr>
            <a:xfrm>
              <a:off x="11297920" y="2508187"/>
              <a:ext cx="0" cy="829342"/>
            </a:xfrm>
            <a:prstGeom prst="straightConnector1">
              <a:avLst/>
            </a:prstGeom>
            <a:ln w="22225"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A2BD15F-9683-66DD-E8E6-5B0E0F6044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29684" y="2541902"/>
              <a:ext cx="1274162" cy="772713"/>
            </a:xfrm>
            <a:prstGeom prst="straightConnector1">
              <a:avLst/>
            </a:prstGeom>
            <a:ln w="3175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CE632BF-21A7-0163-CE68-51B9D29418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0798" y="3659217"/>
              <a:ext cx="1357109" cy="16864"/>
            </a:xfrm>
            <a:prstGeom prst="straightConnector1">
              <a:avLst/>
            </a:prstGeom>
            <a:ln w="158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2F14F8E-498F-ACA9-26DD-3414E837A4D4}"/>
                </a:ext>
              </a:extLst>
            </p:cNvPr>
            <p:cNvCxnSpPr>
              <a:cxnSpLocks/>
            </p:cNvCxnSpPr>
            <p:nvPr/>
          </p:nvCxnSpPr>
          <p:spPr>
            <a:xfrm>
              <a:off x="8360282" y="3980437"/>
              <a:ext cx="936449" cy="605356"/>
            </a:xfrm>
            <a:prstGeom prst="straightConnector1">
              <a:avLst/>
            </a:prstGeom>
            <a:ln w="3175">
              <a:solidFill>
                <a:schemeClr val="accent4">
                  <a:lumMod val="50000"/>
                </a:schemeClr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51A30921-1C1D-50C5-0625-EFA3AE174F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37477" y="3987183"/>
              <a:ext cx="703187" cy="593685"/>
            </a:xfrm>
            <a:prstGeom prst="straightConnector1">
              <a:avLst/>
            </a:prstGeom>
            <a:ln w="4445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557B109-445C-6C9A-9E3F-7DC634BBDBCF}"/>
                </a:ext>
              </a:extLst>
            </p:cNvPr>
            <p:cNvSpPr txBox="1"/>
            <p:nvPr/>
          </p:nvSpPr>
          <p:spPr>
            <a:xfrm>
              <a:off x="8409206" y="1652264"/>
              <a:ext cx="8274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= 0.80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6A7D6FD-934D-DB48-AF02-E65DACE151D5}"/>
                </a:ext>
              </a:extLst>
            </p:cNvPr>
            <p:cNvSpPr txBox="1"/>
            <p:nvPr/>
          </p:nvSpPr>
          <p:spPr>
            <a:xfrm>
              <a:off x="10946974" y="1640389"/>
              <a:ext cx="8274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= 0.08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3B64DDB-3B5F-2A88-D6EC-9DD601560997}"/>
                </a:ext>
              </a:extLst>
            </p:cNvPr>
            <p:cNvSpPr txBox="1"/>
            <p:nvPr/>
          </p:nvSpPr>
          <p:spPr>
            <a:xfrm>
              <a:off x="6681488" y="3082682"/>
              <a:ext cx="8274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= 0.63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5D2F02C-9DDB-2A08-C41A-835DC5797472}"/>
                </a:ext>
              </a:extLst>
            </p:cNvPr>
            <p:cNvSpPr txBox="1"/>
            <p:nvPr/>
          </p:nvSpPr>
          <p:spPr>
            <a:xfrm>
              <a:off x="9275082" y="4363964"/>
              <a:ext cx="8274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= 0.23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66BF327-5E69-1D27-3D06-AAF0EC2D49C5}"/>
                </a:ext>
              </a:extLst>
            </p:cNvPr>
            <p:cNvSpPr txBox="1"/>
            <p:nvPr/>
          </p:nvSpPr>
          <p:spPr>
            <a:xfrm>
              <a:off x="9186761" y="1404522"/>
              <a:ext cx="7242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-0.29***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7E991E7-6107-E6B8-1339-50555B4C1673}"/>
                </a:ext>
              </a:extLst>
            </p:cNvPr>
            <p:cNvSpPr txBox="1"/>
            <p:nvPr/>
          </p:nvSpPr>
          <p:spPr>
            <a:xfrm>
              <a:off x="7609387" y="1975273"/>
              <a:ext cx="750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-0.88***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FBF8602-01FF-4A55-8DF9-F84B125709CE}"/>
                </a:ext>
              </a:extLst>
            </p:cNvPr>
            <p:cNvSpPr txBox="1"/>
            <p:nvPr/>
          </p:nvSpPr>
          <p:spPr>
            <a:xfrm>
              <a:off x="10037477" y="1921033"/>
              <a:ext cx="8178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-0.25***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CE01230-FA5C-6D14-2641-B0F21424193E}"/>
                </a:ext>
              </a:extLst>
            </p:cNvPr>
            <p:cNvSpPr txBox="1"/>
            <p:nvPr/>
          </p:nvSpPr>
          <p:spPr>
            <a:xfrm rot="2397490">
              <a:off x="10276997" y="1392606"/>
              <a:ext cx="8966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0.08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8AD69D1-D92B-505E-05A1-87862B068832}"/>
                </a:ext>
              </a:extLst>
            </p:cNvPr>
            <p:cNvSpPr txBox="1"/>
            <p:nvPr/>
          </p:nvSpPr>
          <p:spPr>
            <a:xfrm rot="19628636">
              <a:off x="8482098" y="2749729"/>
              <a:ext cx="7524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-0.37***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39B05B21-B7F4-28F7-B245-E1B4711D6A59}"/>
                </a:ext>
              </a:extLst>
            </p:cNvPr>
            <p:cNvSpPr txBox="1"/>
            <p:nvPr/>
          </p:nvSpPr>
          <p:spPr>
            <a:xfrm rot="3719290">
              <a:off x="7150757" y="2807852"/>
              <a:ext cx="7983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-0.99***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A3B2D5F8-5EF5-7A4B-0654-9F0500ACD887}"/>
                </a:ext>
              </a:extLst>
            </p:cNvPr>
            <p:cNvSpPr txBox="1"/>
            <p:nvPr/>
          </p:nvSpPr>
          <p:spPr>
            <a:xfrm>
              <a:off x="9856183" y="3427721"/>
              <a:ext cx="7747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-0.15***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24010D7A-942C-E3CD-9C37-B6BB54BE0666}"/>
                </a:ext>
              </a:extLst>
            </p:cNvPr>
            <p:cNvSpPr txBox="1"/>
            <p:nvPr/>
          </p:nvSpPr>
          <p:spPr>
            <a:xfrm rot="1915999">
              <a:off x="8612494" y="4117907"/>
              <a:ext cx="7491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0.003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B2F59CD-AE11-2E06-3378-4148C35D0447}"/>
                </a:ext>
              </a:extLst>
            </p:cNvPr>
            <p:cNvSpPr txBox="1"/>
            <p:nvPr/>
          </p:nvSpPr>
          <p:spPr>
            <a:xfrm rot="19364745">
              <a:off x="10052442" y="3999012"/>
              <a:ext cx="7668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-0.47***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C3B1835-F961-A8C5-EB2B-03CEA359D5E8}"/>
                </a:ext>
              </a:extLst>
            </p:cNvPr>
            <p:cNvSpPr txBox="1"/>
            <p:nvPr/>
          </p:nvSpPr>
          <p:spPr>
            <a:xfrm>
              <a:off x="11266005" y="2715774"/>
              <a:ext cx="7002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0.26***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6514C402-2828-0E84-49B8-48A7F9D30B55}"/>
                </a:ext>
              </a:extLst>
            </p:cNvPr>
            <p:cNvSpPr txBox="1"/>
            <p:nvPr/>
          </p:nvSpPr>
          <p:spPr>
            <a:xfrm rot="1651559">
              <a:off x="10141059" y="2633472"/>
              <a:ext cx="7438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-0.56***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DAA43958-C90E-F4B9-011C-B1038C165C32}"/>
                </a:ext>
              </a:extLst>
            </p:cNvPr>
            <p:cNvSpPr txBox="1"/>
            <p:nvPr/>
          </p:nvSpPr>
          <p:spPr>
            <a:xfrm>
              <a:off x="10855329" y="4583893"/>
              <a:ext cx="1124026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GOF = 0.50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1571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CCA95896-89B1-6638-BEDD-23DDCEB43867}"/>
              </a:ext>
            </a:extLst>
          </p:cNvPr>
          <p:cNvGrpSpPr/>
          <p:nvPr/>
        </p:nvGrpSpPr>
        <p:grpSpPr>
          <a:xfrm>
            <a:off x="141095" y="821188"/>
            <a:ext cx="5662678" cy="4889154"/>
            <a:chOff x="2711235" y="927100"/>
            <a:chExt cx="5662675" cy="488915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1F1F008-9C3D-A93B-8356-9090C93039AE}"/>
                </a:ext>
              </a:extLst>
            </p:cNvPr>
            <p:cNvSpPr/>
            <p:nvPr/>
          </p:nvSpPr>
          <p:spPr>
            <a:xfrm>
              <a:off x="4419600" y="927100"/>
              <a:ext cx="2298700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Topography</a:t>
              </a:r>
            </a:p>
            <a:p>
              <a:pPr algn="ctr"/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Elevation | Slope</a:t>
              </a: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08264F34-CC1E-BC2A-AC81-FB580090CD16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 flipH="1">
              <a:off x="3568700" y="1473200"/>
              <a:ext cx="866775" cy="762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4C99A4-6D01-B859-C2F1-FD6C3876BE58}"/>
                </a:ext>
              </a:extLst>
            </p:cNvPr>
            <p:cNvSpPr/>
            <p:nvPr/>
          </p:nvSpPr>
          <p:spPr>
            <a:xfrm>
              <a:off x="2867025" y="2235200"/>
              <a:ext cx="1403350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Climate</a:t>
              </a:r>
            </a:p>
            <a:p>
              <a:pPr algn="ctr"/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MAP | MAT </a:t>
              </a: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A4D8112-32E3-3470-7266-51631031CF07}"/>
                </a:ext>
              </a:extLst>
            </p:cNvPr>
            <p:cNvSpPr/>
            <p:nvPr/>
          </p:nvSpPr>
          <p:spPr>
            <a:xfrm>
              <a:off x="6642101" y="2222500"/>
              <a:ext cx="1403350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Clay content</a:t>
              </a:r>
              <a:endParaRPr lang="en-US" sz="140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61BC5DE-6363-EDBE-CF91-7AEA8EEAE9FB}"/>
                </a:ext>
              </a:extLst>
            </p:cNvPr>
            <p:cNvSpPr/>
            <p:nvPr/>
          </p:nvSpPr>
          <p:spPr>
            <a:xfrm>
              <a:off x="4754563" y="2235200"/>
              <a:ext cx="1403350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Season</a:t>
              </a:r>
            </a:p>
            <a:p>
              <a:pPr algn="ctr"/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PS | TS</a:t>
              </a: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8D8132F-84B5-327B-1A73-7C2549DC2B34}"/>
                </a:ext>
              </a:extLst>
            </p:cNvPr>
            <p:cNvCxnSpPr>
              <a:cxnSpLocks/>
              <a:endCxn id="7" idx="0"/>
            </p:cNvCxnSpPr>
            <p:nvPr/>
          </p:nvCxnSpPr>
          <p:spPr>
            <a:xfrm>
              <a:off x="5456238" y="1485900"/>
              <a:ext cx="0" cy="7493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2E93C91-A42D-74BE-942A-F4EDF640C119}"/>
                </a:ext>
              </a:extLst>
            </p:cNvPr>
            <p:cNvCxnSpPr>
              <a:cxnSpLocks/>
              <a:endCxn id="6" idx="0"/>
            </p:cNvCxnSpPr>
            <p:nvPr/>
          </p:nvCxnSpPr>
          <p:spPr>
            <a:xfrm>
              <a:off x="6705601" y="1473200"/>
              <a:ext cx="638175" cy="7493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4929AB2-C6A2-E29B-CF9C-D9C464C5F02E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>
              <a:off x="4270375" y="2508250"/>
              <a:ext cx="4841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85736B6-F6F0-3205-D664-1397FF1DDAA5}"/>
                </a:ext>
              </a:extLst>
            </p:cNvPr>
            <p:cNvCxnSpPr>
              <a:cxnSpLocks/>
            </p:cNvCxnSpPr>
            <p:nvPr/>
          </p:nvCxnSpPr>
          <p:spPr>
            <a:xfrm>
              <a:off x="6157913" y="2463800"/>
              <a:ext cx="4841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D7E9CCB-C5A0-5799-E17D-EC3C4DED8B40}"/>
                </a:ext>
              </a:extLst>
            </p:cNvPr>
            <p:cNvSpPr txBox="1"/>
            <p:nvPr/>
          </p:nvSpPr>
          <p:spPr>
            <a:xfrm>
              <a:off x="3321933" y="1739108"/>
              <a:ext cx="8046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-0.46***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74AA832-EB81-B36F-7A70-2CC7CE4CB766}"/>
                </a:ext>
              </a:extLst>
            </p:cNvPr>
            <p:cNvSpPr txBox="1"/>
            <p:nvPr/>
          </p:nvSpPr>
          <p:spPr>
            <a:xfrm>
              <a:off x="5433679" y="1689100"/>
              <a:ext cx="7242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-0.34***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634B67F-F3C7-BDC8-36C1-793AB9C52728}"/>
                </a:ext>
              </a:extLst>
            </p:cNvPr>
            <p:cNvSpPr txBox="1"/>
            <p:nvPr/>
          </p:nvSpPr>
          <p:spPr>
            <a:xfrm>
              <a:off x="7018978" y="1631144"/>
              <a:ext cx="8966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-0.23***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DC619A9-2AEB-C67B-4D53-77B196D0CCAC}"/>
                </a:ext>
              </a:extLst>
            </p:cNvPr>
            <p:cNvSpPr txBox="1"/>
            <p:nvPr/>
          </p:nvSpPr>
          <p:spPr>
            <a:xfrm>
              <a:off x="4160543" y="2246484"/>
              <a:ext cx="750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-1.00***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C30A7BF-63D6-D059-3F56-506F193A1A90}"/>
                </a:ext>
              </a:extLst>
            </p:cNvPr>
            <p:cNvSpPr txBox="1"/>
            <p:nvPr/>
          </p:nvSpPr>
          <p:spPr>
            <a:xfrm>
              <a:off x="6096003" y="2231252"/>
              <a:ext cx="817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-0.52***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36EA9F8-99C7-EA10-A8F9-9BE83A3E42D6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3977783" y="2796683"/>
              <a:ext cx="665968" cy="11383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216AF28-6EA4-9822-5FB4-A20F92F7CFE6}"/>
                </a:ext>
              </a:extLst>
            </p:cNvPr>
            <p:cNvSpPr/>
            <p:nvPr/>
          </p:nvSpPr>
          <p:spPr>
            <a:xfrm>
              <a:off x="3129588" y="3935071"/>
              <a:ext cx="3028325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Vegetation</a:t>
              </a:r>
            </a:p>
            <a:p>
              <a:pPr algn="ctr"/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GPP | </a:t>
              </a:r>
              <a:r>
                <a:rPr lang="en-US" sz="1401" dirty="0" err="1">
                  <a:latin typeface="Arial" panose="020B0604020202020204" pitchFamily="34" charset="0"/>
                  <a:cs typeface="Arial" panose="020B0604020202020204" pitchFamily="34" charset="0"/>
                </a:rPr>
                <a:t>Shannon_EVI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| </a:t>
              </a:r>
              <a:r>
                <a:rPr lang="en-US" sz="1401" dirty="0" err="1">
                  <a:latin typeface="Arial" panose="020B0604020202020204" pitchFamily="34" charset="0"/>
                  <a:cs typeface="Arial" panose="020B0604020202020204" pitchFamily="34" charset="0"/>
                </a:rPr>
                <a:t>Rootdepth</a:t>
              </a:r>
              <a:endParaRPr lang="en-US" sz="140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1DE4011-D8C4-AB54-2AAC-DC72D6419926}"/>
                </a:ext>
              </a:extLst>
            </p:cNvPr>
            <p:cNvSpPr txBox="1"/>
            <p:nvPr/>
          </p:nvSpPr>
          <p:spPr>
            <a:xfrm>
              <a:off x="3585449" y="3152921"/>
              <a:ext cx="7983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-0.82***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07C9A565-E713-0910-7FC1-19F6B699433F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 flipH="1">
              <a:off x="4643751" y="2781300"/>
              <a:ext cx="823757" cy="11537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D8ACA4A-3808-D193-655D-886A04E0C886}"/>
                </a:ext>
              </a:extLst>
            </p:cNvPr>
            <p:cNvSpPr txBox="1"/>
            <p:nvPr/>
          </p:nvSpPr>
          <p:spPr>
            <a:xfrm>
              <a:off x="5055630" y="3188899"/>
              <a:ext cx="57024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-0.03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C005FBC-9A1A-73C1-87D6-18927176FDFD}"/>
                </a:ext>
              </a:extLst>
            </p:cNvPr>
            <p:cNvSpPr/>
            <p:nvPr/>
          </p:nvSpPr>
          <p:spPr>
            <a:xfrm>
              <a:off x="6804878" y="3937083"/>
              <a:ext cx="1403350" cy="546100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Soil</a:t>
              </a:r>
            </a:p>
            <a:p>
              <a:pPr algn="ctr"/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pH | BD </a:t>
              </a: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3ADE139-0499-9CAA-6626-EC5EADBD535F}"/>
                </a:ext>
              </a:extLst>
            </p:cNvPr>
            <p:cNvCxnSpPr>
              <a:cxnSpLocks/>
              <a:stCxn id="40" idx="1"/>
            </p:cNvCxnSpPr>
            <p:nvPr/>
          </p:nvCxnSpPr>
          <p:spPr>
            <a:xfrm flipH="1" flipV="1">
              <a:off x="6157913" y="4208121"/>
              <a:ext cx="646965" cy="20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EC60C0B-98AD-3B71-F16A-5F01DFFEAF19}"/>
                </a:ext>
              </a:extLst>
            </p:cNvPr>
            <p:cNvSpPr txBox="1"/>
            <p:nvPr/>
          </p:nvSpPr>
          <p:spPr>
            <a:xfrm>
              <a:off x="6156819" y="3961343"/>
              <a:ext cx="7747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-0.12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5504DC61-77E0-337A-6432-E71834D30084}"/>
                </a:ext>
              </a:extLst>
            </p:cNvPr>
            <p:cNvCxnSpPr>
              <a:cxnSpLocks/>
            </p:cNvCxnSpPr>
            <p:nvPr/>
          </p:nvCxnSpPr>
          <p:spPr>
            <a:xfrm>
              <a:off x="7398044" y="2770778"/>
              <a:ext cx="0" cy="11769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DFDB8A1-C044-E3CD-F9B0-ED0B4852D513}"/>
                </a:ext>
              </a:extLst>
            </p:cNvPr>
            <p:cNvSpPr txBox="1"/>
            <p:nvPr/>
          </p:nvSpPr>
          <p:spPr>
            <a:xfrm>
              <a:off x="7398044" y="3133401"/>
              <a:ext cx="7002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0.14***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BA84B96-9D1F-ED4A-A817-12866F2E6486}"/>
                </a:ext>
              </a:extLst>
            </p:cNvPr>
            <p:cNvSpPr/>
            <p:nvPr/>
          </p:nvSpPr>
          <p:spPr>
            <a:xfrm>
              <a:off x="4672198" y="5502419"/>
              <a:ext cx="766862" cy="313833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CUE</a:t>
              </a:r>
              <a:endParaRPr lang="en-US" sz="140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97BFDC4A-3D31-23A4-E33E-9DEB88903850}"/>
                </a:ext>
              </a:extLst>
            </p:cNvPr>
            <p:cNvCxnSpPr>
              <a:cxnSpLocks/>
            </p:cNvCxnSpPr>
            <p:nvPr/>
          </p:nvCxnSpPr>
          <p:spPr>
            <a:xfrm>
              <a:off x="4046146" y="4486329"/>
              <a:ext cx="615509" cy="10202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E4AF3D0A-1505-E5A4-4A57-16B31EEF54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49603" y="4451730"/>
              <a:ext cx="1358666" cy="10742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A9885DD-62A0-78FE-E777-5BA3074D7707}"/>
                </a:ext>
              </a:extLst>
            </p:cNvPr>
            <p:cNvSpPr txBox="1"/>
            <p:nvPr/>
          </p:nvSpPr>
          <p:spPr>
            <a:xfrm>
              <a:off x="4269174" y="4691706"/>
              <a:ext cx="7491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-0.43***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7E8B7F8-4F08-92BA-9DA7-4763E043DDD5}"/>
                </a:ext>
              </a:extLst>
            </p:cNvPr>
            <p:cNvSpPr txBox="1"/>
            <p:nvPr/>
          </p:nvSpPr>
          <p:spPr>
            <a:xfrm>
              <a:off x="6156819" y="4792587"/>
              <a:ext cx="7668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-0.26***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79B18448-CB80-04FB-D908-072ADD3DC9C3}"/>
                </a:ext>
              </a:extLst>
            </p:cNvPr>
            <p:cNvCxnSpPr>
              <a:cxnSpLocks/>
            </p:cNvCxnSpPr>
            <p:nvPr/>
          </p:nvCxnSpPr>
          <p:spPr>
            <a:xfrm>
              <a:off x="6142639" y="2806253"/>
              <a:ext cx="1199693" cy="10970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7F850D4-CC98-AC5C-609A-4A499F61F7C6}"/>
                </a:ext>
              </a:extLst>
            </p:cNvPr>
            <p:cNvSpPr txBox="1"/>
            <p:nvPr/>
          </p:nvSpPr>
          <p:spPr>
            <a:xfrm>
              <a:off x="6486961" y="3039639"/>
              <a:ext cx="7438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-0.32***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4F1DC86-C61D-BA01-6829-30FD950D739F}"/>
                </a:ext>
              </a:extLst>
            </p:cNvPr>
            <p:cNvSpPr txBox="1"/>
            <p:nvPr/>
          </p:nvSpPr>
          <p:spPr>
            <a:xfrm>
              <a:off x="2711235" y="1974238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0.22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6040A0A-C56F-1736-BE0F-AF762A2D68AD}"/>
                </a:ext>
              </a:extLst>
            </p:cNvPr>
            <p:cNvSpPr txBox="1"/>
            <p:nvPr/>
          </p:nvSpPr>
          <p:spPr>
            <a:xfrm>
              <a:off x="4592602" y="1986130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0.80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493D001-9716-8341-1EAD-431F542B9CEE}"/>
                </a:ext>
              </a:extLst>
            </p:cNvPr>
            <p:cNvSpPr txBox="1"/>
            <p:nvPr/>
          </p:nvSpPr>
          <p:spPr>
            <a:xfrm>
              <a:off x="7332674" y="1970002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0.36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678EF20-0C3F-B3BC-54D6-B5514D69E2D9}"/>
                </a:ext>
              </a:extLst>
            </p:cNvPr>
            <p:cNvSpPr txBox="1"/>
            <p:nvPr/>
          </p:nvSpPr>
          <p:spPr>
            <a:xfrm>
              <a:off x="3254165" y="3643899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0.63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5207E84-F6F2-A86C-B8AD-C1B3E06CC7D2}"/>
                </a:ext>
              </a:extLst>
            </p:cNvPr>
            <p:cNvSpPr txBox="1"/>
            <p:nvPr/>
          </p:nvSpPr>
          <p:spPr>
            <a:xfrm>
              <a:off x="4643748" y="5218211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0.16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1510D01-1EA5-38C9-137E-FE7B3556ADE9}"/>
                </a:ext>
              </a:extLst>
            </p:cNvPr>
            <p:cNvSpPr txBox="1"/>
            <p:nvPr/>
          </p:nvSpPr>
          <p:spPr>
            <a:xfrm>
              <a:off x="7440641" y="3672134"/>
              <a:ext cx="93326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40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 = 0.17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194DA34-7B70-BCD7-85BE-E89791050EB1}"/>
                </a:ext>
              </a:extLst>
            </p:cNvPr>
            <p:cNvSpPr txBox="1"/>
            <p:nvPr/>
          </p:nvSpPr>
          <p:spPr>
            <a:xfrm>
              <a:off x="5701739" y="5502419"/>
              <a:ext cx="1468734" cy="3002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1" dirty="0" err="1">
                  <a:latin typeface="Arial" panose="020B0604020202020204" pitchFamily="34" charset="0"/>
                  <a:cs typeface="Arial" panose="020B0604020202020204" pitchFamily="34" charset="0"/>
                </a:rPr>
                <a:t>Top_GOF</a:t>
              </a:r>
              <a:r>
                <a:rPr lang="en-US" sz="1351" dirty="0">
                  <a:latin typeface="Arial" panose="020B0604020202020204" pitchFamily="34" charset="0"/>
                  <a:cs typeface="Arial" panose="020B0604020202020204" pitchFamily="34" charset="0"/>
                </a:rPr>
                <a:t> = 0.51</a:t>
              </a:r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9CFA5EBC-4A66-3B8F-B4C1-92E7E6D08C76}"/>
              </a:ext>
            </a:extLst>
          </p:cNvPr>
          <p:cNvGrpSpPr/>
          <p:nvPr/>
        </p:nvGrpSpPr>
        <p:grpSpPr>
          <a:xfrm>
            <a:off x="6147182" y="530786"/>
            <a:ext cx="5870740" cy="4319976"/>
            <a:chOff x="6223634" y="589620"/>
            <a:chExt cx="5870740" cy="4319973"/>
          </a:xfrm>
        </p:grpSpPr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5F0F648-3687-C17F-CC14-72AB04170777}"/>
                </a:ext>
              </a:extLst>
            </p:cNvPr>
            <p:cNvSpPr txBox="1"/>
            <p:nvPr/>
          </p:nvSpPr>
          <p:spPr>
            <a:xfrm>
              <a:off x="11266903" y="3110355"/>
              <a:ext cx="8274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= 0.17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675134A-3B07-40E7-C1C2-A82FEBD842E8}"/>
                </a:ext>
              </a:extLst>
            </p:cNvPr>
            <p:cNvGrpSpPr/>
            <p:nvPr/>
          </p:nvGrpSpPr>
          <p:grpSpPr>
            <a:xfrm>
              <a:off x="8206319" y="589620"/>
              <a:ext cx="2005527" cy="653724"/>
              <a:chOff x="6875812" y="1043464"/>
              <a:chExt cx="2005527" cy="653724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875D0F5-8FDB-D84B-AC9C-196E46532242}"/>
                  </a:ext>
                </a:extLst>
              </p:cNvPr>
              <p:cNvSpPr/>
              <p:nvPr/>
            </p:nvSpPr>
            <p:spPr>
              <a:xfrm>
                <a:off x="6875812" y="1043464"/>
                <a:ext cx="2005527" cy="324000"/>
              </a:xfrm>
              <a:prstGeom prst="rect">
                <a:avLst/>
              </a:prstGeom>
              <a:grp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Topography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A02CCD3-A20D-65FF-0FE1-2CEDC86FB358}"/>
                  </a:ext>
                </a:extLst>
              </p:cNvPr>
              <p:cNvSpPr/>
              <p:nvPr/>
            </p:nvSpPr>
            <p:spPr>
              <a:xfrm>
                <a:off x="6875812" y="1373188"/>
                <a:ext cx="1008000" cy="324000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Elevation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16D995-BF9D-F45C-C279-35993677AB69}"/>
                  </a:ext>
                </a:extLst>
              </p:cNvPr>
              <p:cNvSpPr/>
              <p:nvPr/>
            </p:nvSpPr>
            <p:spPr>
              <a:xfrm>
                <a:off x="7873339" y="1373188"/>
                <a:ext cx="1008000" cy="324000"/>
              </a:xfrm>
              <a:prstGeom prst="rect">
                <a:avLst/>
              </a:prstGeom>
              <a:noFill/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Slope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97F3836-188F-D174-121C-799FF65C3CE3}"/>
                </a:ext>
              </a:extLst>
            </p:cNvPr>
            <p:cNvSpPr/>
            <p:nvPr/>
          </p:nvSpPr>
          <p:spPr>
            <a:xfrm>
              <a:off x="10936004" y="1860187"/>
              <a:ext cx="984659" cy="64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Clay</a:t>
              </a:r>
            </a:p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content</a:t>
              </a: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C68F13B-E66F-F08F-F9DF-78EC8FBFDF17}"/>
                </a:ext>
              </a:extLst>
            </p:cNvPr>
            <p:cNvGrpSpPr/>
            <p:nvPr/>
          </p:nvGrpSpPr>
          <p:grpSpPr>
            <a:xfrm>
              <a:off x="6267469" y="1880400"/>
              <a:ext cx="1204630" cy="653724"/>
              <a:chOff x="6936820" y="1587909"/>
              <a:chExt cx="1204630" cy="653724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A54C060-D62F-176C-37AD-17A0D4895F85}"/>
                  </a:ext>
                </a:extLst>
              </p:cNvPr>
              <p:cNvSpPr/>
              <p:nvPr/>
            </p:nvSpPr>
            <p:spPr>
              <a:xfrm>
                <a:off x="6936820" y="1587909"/>
                <a:ext cx="1204629" cy="3240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Climate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C9AD75D-8C98-0B5E-FCF3-D6955CEF4C1F}"/>
                  </a:ext>
                </a:extLst>
              </p:cNvPr>
              <p:cNvSpPr/>
              <p:nvPr/>
            </p:nvSpPr>
            <p:spPr>
              <a:xfrm>
                <a:off x="6936820" y="1917633"/>
                <a:ext cx="549757" cy="324000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MAT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4FE1103-78B9-E410-249B-CA2D5B632828}"/>
                  </a:ext>
                </a:extLst>
              </p:cNvPr>
              <p:cNvSpPr/>
              <p:nvPr/>
            </p:nvSpPr>
            <p:spPr>
              <a:xfrm>
                <a:off x="7486579" y="1917633"/>
                <a:ext cx="654871" cy="324000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MAP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AE5F3A0-038C-CE20-E7BA-05FC05A53438}"/>
                </a:ext>
              </a:extLst>
            </p:cNvPr>
            <p:cNvGrpSpPr/>
            <p:nvPr/>
          </p:nvGrpSpPr>
          <p:grpSpPr>
            <a:xfrm>
              <a:off x="8552094" y="1873286"/>
              <a:ext cx="1315789" cy="653724"/>
              <a:chOff x="6936819" y="1576034"/>
              <a:chExt cx="1315789" cy="653724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34E63E3-7D7E-B27E-5F83-0C534BBCF10D}"/>
                  </a:ext>
                </a:extLst>
              </p:cNvPr>
              <p:cNvSpPr/>
              <p:nvPr/>
            </p:nvSpPr>
            <p:spPr>
              <a:xfrm>
                <a:off x="6936820" y="1576034"/>
                <a:ext cx="1315788" cy="324000"/>
              </a:xfrm>
              <a:prstGeom prst="rect">
                <a:avLst/>
              </a:prstGeom>
              <a:solidFill>
                <a:srgbClr val="7030A0">
                  <a:alpha val="30000"/>
                </a:srgbClr>
              </a:solidFill>
              <a:ln>
                <a:solidFill>
                  <a:srgbClr val="7030A0">
                    <a:alpha val="30000"/>
                  </a:srgb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Seasonality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9521D6F-C22E-28BB-6608-1F4940AF5635}"/>
                  </a:ext>
                </a:extLst>
              </p:cNvPr>
              <p:cNvSpPr/>
              <p:nvPr/>
            </p:nvSpPr>
            <p:spPr>
              <a:xfrm>
                <a:off x="6936819" y="1905758"/>
                <a:ext cx="658800" cy="324000"/>
              </a:xfrm>
              <a:prstGeom prst="rect">
                <a:avLst/>
              </a:prstGeom>
              <a:noFill/>
              <a:ln>
                <a:solidFill>
                  <a:srgbClr val="7030A0">
                    <a:alpha val="30000"/>
                  </a:srgb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TS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4BAC2E69-FA88-1394-796F-7496FE3BD70F}"/>
                  </a:ext>
                </a:extLst>
              </p:cNvPr>
              <p:cNvSpPr/>
              <p:nvPr/>
            </p:nvSpPr>
            <p:spPr>
              <a:xfrm>
                <a:off x="7593808" y="1905758"/>
                <a:ext cx="658800" cy="324000"/>
              </a:xfrm>
              <a:prstGeom prst="rect">
                <a:avLst/>
              </a:prstGeom>
              <a:noFill/>
              <a:ln>
                <a:solidFill>
                  <a:srgbClr val="7030A0">
                    <a:alpha val="30000"/>
                  </a:srgb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PS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BC26889-643D-5B06-0005-B79702F8C191}"/>
                </a:ext>
              </a:extLst>
            </p:cNvPr>
            <p:cNvGrpSpPr/>
            <p:nvPr/>
          </p:nvGrpSpPr>
          <p:grpSpPr>
            <a:xfrm>
              <a:off x="10727908" y="3340206"/>
              <a:ext cx="1204630" cy="653724"/>
              <a:chOff x="6936820" y="1587909"/>
              <a:chExt cx="1204630" cy="653724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B01CDC3-3DFB-9DAB-F299-35348E66FA98}"/>
                  </a:ext>
                </a:extLst>
              </p:cNvPr>
              <p:cNvSpPr/>
              <p:nvPr/>
            </p:nvSpPr>
            <p:spPr>
              <a:xfrm>
                <a:off x="6936820" y="1587909"/>
                <a:ext cx="1204629" cy="3240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Soil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3484372-72E0-9ACE-41DD-85F741B9BB24}"/>
                  </a:ext>
                </a:extLst>
              </p:cNvPr>
              <p:cNvSpPr/>
              <p:nvPr/>
            </p:nvSpPr>
            <p:spPr>
              <a:xfrm>
                <a:off x="6936820" y="1917633"/>
                <a:ext cx="549757" cy="324000"/>
              </a:xfrm>
              <a:prstGeom prst="rect">
                <a:avLst/>
              </a:prstGeom>
              <a:noFill/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pH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0C6F9B6-3DE1-0227-E765-7E5AA0BCEC3A}"/>
                  </a:ext>
                </a:extLst>
              </p:cNvPr>
              <p:cNvSpPr/>
              <p:nvPr/>
            </p:nvSpPr>
            <p:spPr>
              <a:xfrm>
                <a:off x="7486579" y="1917633"/>
                <a:ext cx="654871" cy="324000"/>
              </a:xfrm>
              <a:prstGeom prst="rect">
                <a:avLst/>
              </a:prstGeom>
              <a:noFill/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BD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78EF032D-99B7-AF87-25DA-81D7C4A9375A}"/>
                </a:ext>
              </a:extLst>
            </p:cNvPr>
            <p:cNvGrpSpPr/>
            <p:nvPr/>
          </p:nvGrpSpPr>
          <p:grpSpPr>
            <a:xfrm>
              <a:off x="6488569" y="3326490"/>
              <a:ext cx="2882230" cy="653947"/>
              <a:chOff x="6737362" y="3356657"/>
              <a:chExt cx="2882230" cy="653947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BBF5B35-2FBC-AA90-FA48-FD9BF990FDCC}"/>
                  </a:ext>
                </a:extLst>
              </p:cNvPr>
              <p:cNvSpPr/>
              <p:nvPr/>
            </p:nvSpPr>
            <p:spPr>
              <a:xfrm>
                <a:off x="6737362" y="3356657"/>
                <a:ext cx="2882229" cy="32400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Vegetation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9C4745D-E821-4CA4-00B9-2B4B30052A7F}"/>
                  </a:ext>
                </a:extLst>
              </p:cNvPr>
              <p:cNvSpPr/>
              <p:nvPr/>
            </p:nvSpPr>
            <p:spPr>
              <a:xfrm>
                <a:off x="6737363" y="3686604"/>
                <a:ext cx="576000" cy="324000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GPP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64177FF-D196-BBD9-623D-A1E17CEF7552}"/>
                  </a:ext>
                </a:extLst>
              </p:cNvPr>
              <p:cNvSpPr/>
              <p:nvPr/>
            </p:nvSpPr>
            <p:spPr>
              <a:xfrm>
                <a:off x="7315880" y="3686604"/>
                <a:ext cx="1296000" cy="324000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Shannon_EVI</a:t>
                </a:r>
                <a:endParaRPr lang="en-US" sz="140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2AF3C00-CB4C-ED9F-6C7D-C8E3FB2B2DAD}"/>
                  </a:ext>
                </a:extLst>
              </p:cNvPr>
              <p:cNvSpPr/>
              <p:nvPr/>
            </p:nvSpPr>
            <p:spPr>
              <a:xfrm>
                <a:off x="8611592" y="3686604"/>
                <a:ext cx="1008000" cy="324000"/>
              </a:xfrm>
              <a:prstGeom prst="rect">
                <a:avLst/>
              </a:prstGeom>
              <a:noFill/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Rootdepth</a:t>
                </a:r>
                <a:endParaRPr lang="en-US" sz="140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A2132E3-559E-5C9A-2F7E-4DE2A8F7EFE7}"/>
                </a:ext>
              </a:extLst>
            </p:cNvPr>
            <p:cNvSpPr/>
            <p:nvPr/>
          </p:nvSpPr>
          <p:spPr>
            <a:xfrm>
              <a:off x="8968819" y="4595760"/>
              <a:ext cx="1440000" cy="31383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CUE</a:t>
              </a: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218D9D4B-676A-BEE5-BAD9-3634BD99C2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68224" y="1243344"/>
              <a:ext cx="743370" cy="631332"/>
            </a:xfrm>
            <a:prstGeom prst="straightConnector1">
              <a:avLst/>
            </a:prstGeom>
            <a:ln w="4445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4041195-47B7-93A1-202D-BA238AD71837}"/>
                </a:ext>
              </a:extLst>
            </p:cNvPr>
            <p:cNvSpPr txBox="1"/>
            <p:nvPr/>
          </p:nvSpPr>
          <p:spPr>
            <a:xfrm>
              <a:off x="6223634" y="1640389"/>
              <a:ext cx="8274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= 0.22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C8F07A0-0055-30EE-55F5-5C65D36505BC}"/>
                </a:ext>
              </a:extLst>
            </p:cNvPr>
            <p:cNvSpPr txBox="1"/>
            <p:nvPr/>
          </p:nvSpPr>
          <p:spPr>
            <a:xfrm rot="19376878">
              <a:off x="7420589" y="1290885"/>
              <a:ext cx="8046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-0.46***</a:t>
              </a: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9A031657-B8CA-BBFE-D87D-911E4ED7976C}"/>
                </a:ext>
              </a:extLst>
            </p:cNvPr>
            <p:cNvCxnSpPr>
              <a:cxnSpLocks/>
              <a:endCxn id="43" idx="0"/>
            </p:cNvCxnSpPr>
            <p:nvPr/>
          </p:nvCxnSpPr>
          <p:spPr>
            <a:xfrm>
              <a:off x="7468224" y="2523655"/>
              <a:ext cx="461460" cy="802835"/>
            </a:xfrm>
            <a:prstGeom prst="straightConnector1">
              <a:avLst/>
            </a:prstGeom>
            <a:ln w="5715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D2981523-489F-E745-E4A0-C37D42E15B7D}"/>
                </a:ext>
              </a:extLst>
            </p:cNvPr>
            <p:cNvCxnSpPr>
              <a:cxnSpLocks/>
            </p:cNvCxnSpPr>
            <p:nvPr/>
          </p:nvCxnSpPr>
          <p:spPr>
            <a:xfrm>
              <a:off x="9204807" y="1252401"/>
              <a:ext cx="17057" cy="644635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F71E918D-B992-B3E7-5092-00F213C435CA}"/>
                </a:ext>
              </a:extLst>
            </p:cNvPr>
            <p:cNvCxnSpPr>
              <a:cxnSpLocks/>
            </p:cNvCxnSpPr>
            <p:nvPr/>
          </p:nvCxnSpPr>
          <p:spPr>
            <a:xfrm>
              <a:off x="10211846" y="1250776"/>
              <a:ext cx="720000" cy="629425"/>
            </a:xfrm>
            <a:prstGeom prst="straightConnector1">
              <a:avLst/>
            </a:prstGeom>
            <a:ln w="3175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AEDFBE1C-5657-625F-1076-2493B23B471C}"/>
                </a:ext>
              </a:extLst>
            </p:cNvPr>
            <p:cNvCxnSpPr>
              <a:cxnSpLocks/>
            </p:cNvCxnSpPr>
            <p:nvPr/>
          </p:nvCxnSpPr>
          <p:spPr>
            <a:xfrm>
              <a:off x="7468224" y="2204400"/>
              <a:ext cx="1083870" cy="0"/>
            </a:xfrm>
            <a:prstGeom prst="straightConnector1">
              <a:avLst/>
            </a:prstGeom>
            <a:ln w="1905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58F1B616-4039-59FD-1E65-CAC65DFC702D}"/>
                </a:ext>
              </a:extLst>
            </p:cNvPr>
            <p:cNvCxnSpPr>
              <a:cxnSpLocks/>
            </p:cNvCxnSpPr>
            <p:nvPr/>
          </p:nvCxnSpPr>
          <p:spPr>
            <a:xfrm>
              <a:off x="9867883" y="2212069"/>
              <a:ext cx="1063963" cy="0"/>
            </a:xfrm>
            <a:prstGeom prst="straightConnector1">
              <a:avLst/>
            </a:prstGeom>
            <a:ln w="5715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B1E95253-AAD0-F132-A03C-661816DDE11A}"/>
                </a:ext>
              </a:extLst>
            </p:cNvPr>
            <p:cNvCxnSpPr>
              <a:cxnSpLocks/>
            </p:cNvCxnSpPr>
            <p:nvPr/>
          </p:nvCxnSpPr>
          <p:spPr>
            <a:xfrm>
              <a:off x="9866315" y="2523529"/>
              <a:ext cx="1339423" cy="788604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C47460CB-F62C-1BD1-2220-622FF97E6CA3}"/>
                </a:ext>
              </a:extLst>
            </p:cNvPr>
            <p:cNvCxnSpPr>
              <a:cxnSpLocks/>
            </p:cNvCxnSpPr>
            <p:nvPr/>
          </p:nvCxnSpPr>
          <p:spPr>
            <a:xfrm>
              <a:off x="11297920" y="2508187"/>
              <a:ext cx="0" cy="829342"/>
            </a:xfrm>
            <a:prstGeom prst="straightConnector1">
              <a:avLst/>
            </a:prstGeom>
            <a:ln w="19050">
              <a:solidFill>
                <a:schemeClr val="accent4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F502D51E-1439-8C7B-406E-AC22379F67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29684" y="2541902"/>
              <a:ext cx="1274162" cy="772713"/>
            </a:xfrm>
            <a:prstGeom prst="straightConnector1">
              <a:avLst/>
            </a:prstGeom>
            <a:ln w="127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509FD550-FC6A-92DE-EAD7-42E29FB96F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0798" y="3659217"/>
              <a:ext cx="1357109" cy="16864"/>
            </a:xfrm>
            <a:prstGeom prst="straightConnector1">
              <a:avLst/>
            </a:prstGeom>
            <a:ln w="158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86B83E0E-FC12-B218-EFAF-0CAEB2672015}"/>
                </a:ext>
              </a:extLst>
            </p:cNvPr>
            <p:cNvCxnSpPr>
              <a:cxnSpLocks/>
            </p:cNvCxnSpPr>
            <p:nvPr/>
          </p:nvCxnSpPr>
          <p:spPr>
            <a:xfrm>
              <a:off x="8360282" y="3980437"/>
              <a:ext cx="936449" cy="605356"/>
            </a:xfrm>
            <a:prstGeom prst="straightConnector1">
              <a:avLst/>
            </a:prstGeom>
            <a:ln w="41275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99B788B5-AD1D-977C-180F-673755F945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37477" y="3987183"/>
              <a:ext cx="703187" cy="593685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E3E7B35-8FF0-23CF-EC6E-F3B29C94E21E}"/>
                </a:ext>
              </a:extLst>
            </p:cNvPr>
            <p:cNvSpPr txBox="1"/>
            <p:nvPr/>
          </p:nvSpPr>
          <p:spPr>
            <a:xfrm>
              <a:off x="8409206" y="1652264"/>
              <a:ext cx="8274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= 0.80</a:t>
              </a: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61D5E151-7E5B-1EE9-FBB4-42D2D06D2D9C}"/>
                </a:ext>
              </a:extLst>
            </p:cNvPr>
            <p:cNvSpPr txBox="1"/>
            <p:nvPr/>
          </p:nvSpPr>
          <p:spPr>
            <a:xfrm>
              <a:off x="10946974" y="1640389"/>
              <a:ext cx="8274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= 0.36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1F71A9D7-FEB1-D7EB-8F29-048DA459E3AA}"/>
                </a:ext>
              </a:extLst>
            </p:cNvPr>
            <p:cNvSpPr txBox="1"/>
            <p:nvPr/>
          </p:nvSpPr>
          <p:spPr>
            <a:xfrm>
              <a:off x="6681488" y="3082682"/>
              <a:ext cx="8274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= 0.63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263FB429-EA49-5E24-A874-2FB38FD5C593}"/>
                </a:ext>
              </a:extLst>
            </p:cNvPr>
            <p:cNvSpPr txBox="1"/>
            <p:nvPr/>
          </p:nvSpPr>
          <p:spPr>
            <a:xfrm>
              <a:off x="9275082" y="4363964"/>
              <a:ext cx="8274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US" sz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 = 0.16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0E254B2-DE69-3932-51CD-3271F5BA2C2D}"/>
                </a:ext>
              </a:extLst>
            </p:cNvPr>
            <p:cNvSpPr txBox="1"/>
            <p:nvPr/>
          </p:nvSpPr>
          <p:spPr>
            <a:xfrm>
              <a:off x="9186761" y="1404522"/>
              <a:ext cx="7242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-0.34***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CD31BB90-7CB6-D705-1A96-2556EE1F1110}"/>
                </a:ext>
              </a:extLst>
            </p:cNvPr>
            <p:cNvSpPr txBox="1"/>
            <p:nvPr/>
          </p:nvSpPr>
          <p:spPr>
            <a:xfrm>
              <a:off x="7609387" y="1975273"/>
              <a:ext cx="750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-1.00***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D3680A14-273B-45E3-5623-258F76128F0C}"/>
                </a:ext>
              </a:extLst>
            </p:cNvPr>
            <p:cNvSpPr txBox="1"/>
            <p:nvPr/>
          </p:nvSpPr>
          <p:spPr>
            <a:xfrm>
              <a:off x="10037477" y="1921033"/>
              <a:ext cx="8178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-0.52***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46CC8965-7FC4-4377-7271-505DF9870C55}"/>
                </a:ext>
              </a:extLst>
            </p:cNvPr>
            <p:cNvSpPr txBox="1"/>
            <p:nvPr/>
          </p:nvSpPr>
          <p:spPr>
            <a:xfrm rot="2397490">
              <a:off x="10276997" y="1392606"/>
              <a:ext cx="8966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-0.23***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EC74AF0F-7256-F57D-4A82-84B023710848}"/>
                </a:ext>
              </a:extLst>
            </p:cNvPr>
            <p:cNvSpPr txBox="1"/>
            <p:nvPr/>
          </p:nvSpPr>
          <p:spPr>
            <a:xfrm rot="20198467">
              <a:off x="8489566" y="2785855"/>
              <a:ext cx="57024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-0.03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AACB9FF6-EF1D-9CF9-1FA0-35D8D0BD0093}"/>
                </a:ext>
              </a:extLst>
            </p:cNvPr>
            <p:cNvSpPr txBox="1"/>
            <p:nvPr/>
          </p:nvSpPr>
          <p:spPr>
            <a:xfrm rot="3719290">
              <a:off x="7150757" y="2807852"/>
              <a:ext cx="7983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-0.82***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B9B5C5C0-7052-96AD-5349-35F2614CC754}"/>
                </a:ext>
              </a:extLst>
            </p:cNvPr>
            <p:cNvSpPr txBox="1"/>
            <p:nvPr/>
          </p:nvSpPr>
          <p:spPr>
            <a:xfrm>
              <a:off x="9856183" y="3427721"/>
              <a:ext cx="7747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-0.12</a:t>
              </a: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93809A68-8055-0C88-83C0-EA21C2615DF4}"/>
                </a:ext>
              </a:extLst>
            </p:cNvPr>
            <p:cNvSpPr txBox="1"/>
            <p:nvPr/>
          </p:nvSpPr>
          <p:spPr>
            <a:xfrm rot="1915999">
              <a:off x="8612494" y="4117906"/>
              <a:ext cx="7491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-0.43***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E1CA715A-7D1C-756B-910F-D03901DF8B3B}"/>
                </a:ext>
              </a:extLst>
            </p:cNvPr>
            <p:cNvSpPr txBox="1"/>
            <p:nvPr/>
          </p:nvSpPr>
          <p:spPr>
            <a:xfrm rot="19364745">
              <a:off x="10052442" y="3999012"/>
              <a:ext cx="7668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-0.26***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D62EB466-A9F1-49DD-4F23-4627C5BDA112}"/>
                </a:ext>
              </a:extLst>
            </p:cNvPr>
            <p:cNvSpPr txBox="1"/>
            <p:nvPr/>
          </p:nvSpPr>
          <p:spPr>
            <a:xfrm>
              <a:off x="11266005" y="2715774"/>
              <a:ext cx="7002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0.14***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A1049B71-7D3E-713F-56B0-2446011179D9}"/>
                </a:ext>
              </a:extLst>
            </p:cNvPr>
            <p:cNvSpPr txBox="1"/>
            <p:nvPr/>
          </p:nvSpPr>
          <p:spPr>
            <a:xfrm rot="1651559">
              <a:off x="10141059" y="2633472"/>
              <a:ext cx="7438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-0.32***</a:t>
              </a:r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2E8BB2AB-D387-B386-49C1-EF4BC79B81A5}"/>
                </a:ext>
              </a:extLst>
            </p:cNvPr>
            <p:cNvSpPr txBox="1"/>
            <p:nvPr/>
          </p:nvSpPr>
          <p:spPr>
            <a:xfrm>
              <a:off x="10855329" y="4583893"/>
              <a:ext cx="1124026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GOF = 0.51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0248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445607CB-7DCF-D51C-6664-35F4EABD5E74}"/>
              </a:ext>
            </a:extLst>
          </p:cNvPr>
          <p:cNvGrpSpPr/>
          <p:nvPr/>
        </p:nvGrpSpPr>
        <p:grpSpPr>
          <a:xfrm>
            <a:off x="1604354" y="362490"/>
            <a:ext cx="8439323" cy="6329405"/>
            <a:chOff x="1372534" y="362490"/>
            <a:chExt cx="8439323" cy="6329405"/>
          </a:xfrm>
        </p:grpSpPr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C47460CB-F62C-1BD1-2220-622FF97E6C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78032" y="1049049"/>
              <a:ext cx="2291721" cy="1051563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EED57F07-CB85-2815-038A-5000CC49EE48}"/>
                </a:ext>
              </a:extLst>
            </p:cNvPr>
            <p:cNvCxnSpPr>
              <a:cxnSpLocks/>
              <a:endCxn id="70" idx="0"/>
            </p:cNvCxnSpPr>
            <p:nvPr/>
          </p:nvCxnSpPr>
          <p:spPr>
            <a:xfrm>
              <a:off x="6634255" y="1049049"/>
              <a:ext cx="2187602" cy="108394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931A3705-8812-A374-B181-269FB13759BE}"/>
                </a:ext>
              </a:extLst>
            </p:cNvPr>
            <p:cNvCxnSpPr>
              <a:cxnSpLocks/>
              <a:stCxn id="3" idx="2"/>
              <a:endCxn id="58" idx="0"/>
            </p:cNvCxnSpPr>
            <p:nvPr/>
          </p:nvCxnSpPr>
          <p:spPr>
            <a:xfrm flipH="1">
              <a:off x="5577920" y="1082490"/>
              <a:ext cx="0" cy="1051563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4E0F162F-120D-5084-CAC3-AE15DED95F1D}"/>
                </a:ext>
              </a:extLst>
            </p:cNvPr>
            <p:cNvCxnSpPr>
              <a:cxnSpLocks/>
            </p:cNvCxnSpPr>
            <p:nvPr/>
          </p:nvCxnSpPr>
          <p:spPr>
            <a:xfrm>
              <a:off x="3430237" y="2508487"/>
              <a:ext cx="1165171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A9E20D73-153A-5D2F-BDEA-AA9074FED00A}"/>
                </a:ext>
              </a:extLst>
            </p:cNvPr>
            <p:cNvCxnSpPr>
              <a:cxnSpLocks/>
              <a:endCxn id="70" idx="1"/>
            </p:cNvCxnSpPr>
            <p:nvPr/>
          </p:nvCxnSpPr>
          <p:spPr>
            <a:xfrm>
              <a:off x="6583605" y="2492989"/>
              <a:ext cx="1248252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EC0F8B81-43E0-9720-2E29-A968E640BE21}"/>
                </a:ext>
              </a:extLst>
            </p:cNvPr>
            <p:cNvCxnSpPr>
              <a:cxnSpLocks/>
              <a:stCxn id="42" idx="2"/>
              <a:endCxn id="73" idx="0"/>
            </p:cNvCxnSpPr>
            <p:nvPr/>
          </p:nvCxnSpPr>
          <p:spPr>
            <a:xfrm>
              <a:off x="2362534" y="2820612"/>
              <a:ext cx="1075100" cy="1291295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4F26C267-FDA9-882E-28CA-215B0410AD32}"/>
                </a:ext>
              </a:extLst>
            </p:cNvPr>
            <p:cNvCxnSpPr>
              <a:cxnSpLocks/>
              <a:stCxn id="70" idx="2"/>
              <a:endCxn id="74" idx="0"/>
            </p:cNvCxnSpPr>
            <p:nvPr/>
          </p:nvCxnSpPr>
          <p:spPr>
            <a:xfrm flipH="1">
              <a:off x="7738612" y="2852989"/>
              <a:ext cx="1083245" cy="1258918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0C922366-A2BB-2FC6-96FB-C413EC8E13F0}"/>
                </a:ext>
              </a:extLst>
            </p:cNvPr>
            <p:cNvCxnSpPr>
              <a:cxnSpLocks/>
            </p:cNvCxnSpPr>
            <p:nvPr/>
          </p:nvCxnSpPr>
          <p:spPr>
            <a:xfrm>
              <a:off x="4427634" y="4471907"/>
              <a:ext cx="2194978" cy="0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EB154181-2DBA-8CBD-9E1A-0A60B1395817}"/>
                </a:ext>
              </a:extLst>
            </p:cNvPr>
            <p:cNvCxnSpPr>
              <a:cxnSpLocks/>
            </p:cNvCxnSpPr>
            <p:nvPr/>
          </p:nvCxnSpPr>
          <p:spPr>
            <a:xfrm>
              <a:off x="4378737" y="4826814"/>
              <a:ext cx="990000" cy="1145081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26569B9B-655F-FF4B-F1E1-71113E1E69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02000" y="4811896"/>
              <a:ext cx="1141614" cy="1153083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77093114-7188-C065-7C10-7A66D99BAE7C}"/>
                </a:ext>
              </a:extLst>
            </p:cNvPr>
            <p:cNvSpPr/>
            <p:nvPr/>
          </p:nvSpPr>
          <p:spPr>
            <a:xfrm>
              <a:off x="4654255" y="362490"/>
              <a:ext cx="1980000" cy="720000"/>
            </a:xfrm>
            <a:prstGeom prst="round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Topography</a:t>
              </a:r>
            </a:p>
          </p:txBody>
        </p: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E374ED07-A7F2-60A6-AE74-44FAB05AA261}"/>
                </a:ext>
              </a:extLst>
            </p:cNvPr>
            <p:cNvSpPr/>
            <p:nvPr/>
          </p:nvSpPr>
          <p:spPr>
            <a:xfrm>
              <a:off x="1372534" y="2100612"/>
              <a:ext cx="1980000" cy="720000"/>
            </a:xfrm>
            <a:prstGeom prst="round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2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Climate</a:t>
              </a:r>
            </a:p>
          </p:txBody>
        </p: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AB02E385-48E5-C4C3-7E9E-8946487002A0}"/>
                </a:ext>
              </a:extLst>
            </p:cNvPr>
            <p:cNvSpPr/>
            <p:nvPr/>
          </p:nvSpPr>
          <p:spPr>
            <a:xfrm>
              <a:off x="4587920" y="2134053"/>
              <a:ext cx="1980000" cy="720000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Seasonality</a:t>
              </a: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E556E311-B3F9-0D95-A2C1-263D9CABAB9D}"/>
                </a:ext>
              </a:extLst>
            </p:cNvPr>
            <p:cNvSpPr/>
            <p:nvPr/>
          </p:nvSpPr>
          <p:spPr>
            <a:xfrm>
              <a:off x="7831857" y="2132989"/>
              <a:ext cx="1980000" cy="720000"/>
            </a:xfrm>
            <a:prstGeom prst="roundRect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Soil texture</a:t>
              </a:r>
            </a:p>
          </p:txBody>
        </p:sp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E32D257E-5E31-C84B-289E-62A01F526E06}"/>
                </a:ext>
              </a:extLst>
            </p:cNvPr>
            <p:cNvSpPr/>
            <p:nvPr/>
          </p:nvSpPr>
          <p:spPr>
            <a:xfrm>
              <a:off x="2447634" y="4111907"/>
              <a:ext cx="1980000" cy="720000"/>
            </a:xfrm>
            <a:prstGeom prst="roundRect">
              <a:avLst/>
            </a:prstGeom>
            <a:no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6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Vegetation</a:t>
              </a:r>
            </a:p>
          </p:txBody>
        </p:sp>
        <p:sp>
          <p:nvSpPr>
            <p:cNvPr id="74" name="Rounded Rectangle 73">
              <a:extLst>
                <a:ext uri="{FF2B5EF4-FFF2-40B4-BE49-F238E27FC236}">
                  <a16:creationId xmlns:a16="http://schemas.microsoft.com/office/drawing/2014/main" id="{5D029D6E-7B74-6AED-DAAB-9E52EC5BD438}"/>
                </a:ext>
              </a:extLst>
            </p:cNvPr>
            <p:cNvSpPr/>
            <p:nvPr/>
          </p:nvSpPr>
          <p:spPr>
            <a:xfrm>
              <a:off x="6622612" y="4111907"/>
              <a:ext cx="2232000" cy="720000"/>
            </a:xfrm>
            <a:prstGeom prst="roundRect">
              <a:avLst/>
            </a:prstGeom>
            <a:noFill/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4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Soil properties</a:t>
              </a:r>
            </a:p>
          </p:txBody>
        </p:sp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F4CF11DE-02CC-79AE-9050-3EEA4E8C19EE}"/>
                </a:ext>
              </a:extLst>
            </p:cNvPr>
            <p:cNvSpPr/>
            <p:nvPr/>
          </p:nvSpPr>
          <p:spPr>
            <a:xfrm>
              <a:off x="4443132" y="5971895"/>
              <a:ext cx="1980000" cy="720000"/>
            </a:xfrm>
            <a:prstGeom prst="roundRect">
              <a:avLst/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accent3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CUE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3BC58F4A-C830-5525-5530-7BD3ECECCACA}"/>
                </a:ext>
              </a:extLst>
            </p:cNvPr>
            <p:cNvSpPr/>
            <p:nvPr/>
          </p:nvSpPr>
          <p:spPr>
            <a:xfrm>
              <a:off x="3077222" y="1304263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DC7EDB32-F248-D7B6-D747-03D22A8E9AB4}"/>
                </a:ext>
              </a:extLst>
            </p:cNvPr>
            <p:cNvSpPr/>
            <p:nvPr/>
          </p:nvSpPr>
          <p:spPr>
            <a:xfrm>
              <a:off x="5289920" y="1304263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8605E48F-F904-69F2-235F-4D2D8368E7C5}"/>
                </a:ext>
              </a:extLst>
            </p:cNvPr>
            <p:cNvSpPr/>
            <p:nvPr/>
          </p:nvSpPr>
          <p:spPr>
            <a:xfrm>
              <a:off x="7476252" y="1304263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2177941A-926C-0A7D-6720-7C782ABE0A11}"/>
                </a:ext>
              </a:extLst>
            </p:cNvPr>
            <p:cNvSpPr/>
            <p:nvPr/>
          </p:nvSpPr>
          <p:spPr>
            <a:xfrm>
              <a:off x="3640333" y="2220651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7973ED89-75C0-7245-58C0-FD9E3A0E1851}"/>
                </a:ext>
              </a:extLst>
            </p:cNvPr>
            <p:cNvSpPr/>
            <p:nvPr/>
          </p:nvSpPr>
          <p:spPr>
            <a:xfrm>
              <a:off x="6954023" y="2206094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76B9F7D9-4B87-B736-0DA3-49250EE34271}"/>
                </a:ext>
              </a:extLst>
            </p:cNvPr>
            <p:cNvCxnSpPr>
              <a:cxnSpLocks/>
              <a:endCxn id="73" idx="0"/>
            </p:cNvCxnSpPr>
            <p:nvPr/>
          </p:nvCxnSpPr>
          <p:spPr>
            <a:xfrm flipH="1">
              <a:off x="3437634" y="2830331"/>
              <a:ext cx="1185537" cy="1281576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BC30532B-B451-A230-EF7C-72411EEC89E1}"/>
                </a:ext>
              </a:extLst>
            </p:cNvPr>
            <p:cNvSpPr/>
            <p:nvPr/>
          </p:nvSpPr>
          <p:spPr>
            <a:xfrm>
              <a:off x="2549092" y="3089990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5D04EB9B-8243-605A-90A4-B77C0CE83C22}"/>
                </a:ext>
              </a:extLst>
            </p:cNvPr>
            <p:cNvCxnSpPr>
              <a:cxnSpLocks/>
            </p:cNvCxnSpPr>
            <p:nvPr/>
          </p:nvCxnSpPr>
          <p:spPr>
            <a:xfrm>
              <a:off x="6518589" y="2834042"/>
              <a:ext cx="1192386" cy="1277865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3AF1506D-E716-1385-9420-EAF2879D7B7E}"/>
                </a:ext>
              </a:extLst>
            </p:cNvPr>
            <p:cNvSpPr/>
            <p:nvPr/>
          </p:nvSpPr>
          <p:spPr>
            <a:xfrm>
              <a:off x="3799296" y="3089990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411FAEB4-D58E-B9BE-C344-CBCD263EEC8F}"/>
                </a:ext>
              </a:extLst>
            </p:cNvPr>
            <p:cNvSpPr/>
            <p:nvPr/>
          </p:nvSpPr>
          <p:spPr>
            <a:xfrm>
              <a:off x="6733412" y="3089990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E920AB3F-E72B-8B55-99A6-2176A1AE2E65}"/>
                </a:ext>
              </a:extLst>
            </p:cNvPr>
            <p:cNvSpPr/>
            <p:nvPr/>
          </p:nvSpPr>
          <p:spPr>
            <a:xfrm>
              <a:off x="8063687" y="3089990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AE16CBAA-21E7-6152-C1E9-759186FEA6C5}"/>
                </a:ext>
              </a:extLst>
            </p:cNvPr>
            <p:cNvSpPr/>
            <p:nvPr/>
          </p:nvSpPr>
          <p:spPr>
            <a:xfrm>
              <a:off x="5830338" y="4163326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56357601-1427-1090-1594-30C014B8D655}"/>
                </a:ext>
              </a:extLst>
            </p:cNvPr>
            <p:cNvSpPr/>
            <p:nvPr/>
          </p:nvSpPr>
          <p:spPr>
            <a:xfrm>
              <a:off x="4427634" y="4963701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5" name="Arc 4">
              <a:extLst>
                <a:ext uri="{FF2B5EF4-FFF2-40B4-BE49-F238E27FC236}">
                  <a16:creationId xmlns:a16="http://schemas.microsoft.com/office/drawing/2014/main" id="{1F5327D4-29F4-16CE-0D7D-2160331C6502}"/>
                </a:ext>
              </a:extLst>
            </p:cNvPr>
            <p:cNvSpPr/>
            <p:nvPr/>
          </p:nvSpPr>
          <p:spPr>
            <a:xfrm flipH="1">
              <a:off x="1941645" y="1583598"/>
              <a:ext cx="6086590" cy="4842828"/>
            </a:xfrm>
            <a:prstGeom prst="arc">
              <a:avLst>
                <a:gd name="adj1" fmla="val 20178728"/>
                <a:gd name="adj2" fmla="val 4617166"/>
              </a:avLst>
            </a:prstGeom>
            <a:ln w="38100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3B11D4E-6F01-C697-A6B7-6D5EBBDAF95A}"/>
                </a:ext>
              </a:extLst>
            </p:cNvPr>
            <p:cNvCxnSpPr>
              <a:cxnSpLocks/>
              <a:stCxn id="58" idx="2"/>
              <a:endCxn id="75" idx="0"/>
            </p:cNvCxnSpPr>
            <p:nvPr/>
          </p:nvCxnSpPr>
          <p:spPr>
            <a:xfrm flipH="1">
              <a:off x="5433132" y="2854053"/>
              <a:ext cx="0" cy="3117842"/>
            </a:xfrm>
            <a:prstGeom prst="straightConnector1">
              <a:avLst/>
            </a:prstGeom>
            <a:ln w="38100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Arc 5">
              <a:extLst>
                <a:ext uri="{FF2B5EF4-FFF2-40B4-BE49-F238E27FC236}">
                  <a16:creationId xmlns:a16="http://schemas.microsoft.com/office/drawing/2014/main" id="{B3D72D09-5624-A56D-05D5-345456295B11}"/>
                </a:ext>
              </a:extLst>
            </p:cNvPr>
            <p:cNvSpPr/>
            <p:nvPr/>
          </p:nvSpPr>
          <p:spPr>
            <a:xfrm>
              <a:off x="3152126" y="1684357"/>
              <a:ext cx="6086590" cy="4690818"/>
            </a:xfrm>
            <a:prstGeom prst="arc">
              <a:avLst>
                <a:gd name="adj1" fmla="val 20178728"/>
                <a:gd name="adj2" fmla="val 5056317"/>
              </a:avLst>
            </a:prstGeom>
            <a:ln w="38100">
              <a:solidFill>
                <a:schemeClr val="bg1">
                  <a:lumMod val="75000"/>
                </a:schemeClr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7A918D62-AAC1-78A5-1C36-9CA89C5F1CAC}"/>
                </a:ext>
              </a:extLst>
            </p:cNvPr>
            <p:cNvSpPr/>
            <p:nvPr/>
          </p:nvSpPr>
          <p:spPr>
            <a:xfrm>
              <a:off x="5165861" y="3089990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DCC233D-D3F1-DA0D-8060-D6F4CEBBBF61}"/>
                </a:ext>
              </a:extLst>
            </p:cNvPr>
            <p:cNvSpPr/>
            <p:nvPr/>
          </p:nvSpPr>
          <p:spPr>
            <a:xfrm>
              <a:off x="5982400" y="4973016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13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BB69F0-5F19-D6E5-14E4-CE79EF42C719}"/>
                </a:ext>
              </a:extLst>
            </p:cNvPr>
            <p:cNvSpPr/>
            <p:nvPr/>
          </p:nvSpPr>
          <p:spPr>
            <a:xfrm>
              <a:off x="2549092" y="5388437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01AEFEB-C9E7-5DEB-7AE7-D37FADCD9FC1}"/>
                </a:ext>
              </a:extLst>
            </p:cNvPr>
            <p:cNvSpPr/>
            <p:nvPr/>
          </p:nvSpPr>
          <p:spPr>
            <a:xfrm>
              <a:off x="8063687" y="5388437"/>
              <a:ext cx="540000" cy="540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7406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C91CA7E-DA63-76D6-56FB-724EA7DB17E3}"/>
              </a:ext>
            </a:extLst>
          </p:cNvPr>
          <p:cNvGrpSpPr/>
          <p:nvPr/>
        </p:nvGrpSpPr>
        <p:grpSpPr>
          <a:xfrm>
            <a:off x="1144782" y="-1522147"/>
            <a:ext cx="4918015" cy="8671334"/>
            <a:chOff x="1144782" y="-1522147"/>
            <a:chExt cx="6063463" cy="890118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ACD1E0E-FE0F-DCC0-3DAC-C66A7FA913F2}"/>
                </a:ext>
              </a:extLst>
            </p:cNvPr>
            <p:cNvGrpSpPr/>
            <p:nvPr/>
          </p:nvGrpSpPr>
          <p:grpSpPr>
            <a:xfrm>
              <a:off x="1144782" y="3059065"/>
              <a:ext cx="6063463" cy="4319973"/>
              <a:chOff x="6223634" y="589620"/>
              <a:chExt cx="6063463" cy="4319973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C6EEAA-1471-6961-948E-FCCB1EE5D354}"/>
                  </a:ext>
                </a:extLst>
              </p:cNvPr>
              <p:cNvSpPr txBox="1"/>
              <p:nvPr/>
            </p:nvSpPr>
            <p:spPr>
              <a:xfrm>
                <a:off x="11266901" y="3110354"/>
                <a:ext cx="1020196" cy="2843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0.46</a:t>
                </a: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46FCC8C-5FCB-BAF2-0031-BC272AAB5E5D}"/>
                  </a:ext>
                </a:extLst>
              </p:cNvPr>
              <p:cNvGrpSpPr/>
              <p:nvPr/>
            </p:nvGrpSpPr>
            <p:grpSpPr>
              <a:xfrm>
                <a:off x="8206319" y="589620"/>
                <a:ext cx="2005527" cy="653724"/>
                <a:chOff x="6875812" y="1043464"/>
                <a:chExt cx="2005527" cy="65372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F05F816F-F919-54C0-33F6-2F7C9AD979B5}"/>
                    </a:ext>
                  </a:extLst>
                </p:cNvPr>
                <p:cNvSpPr/>
                <p:nvPr/>
              </p:nvSpPr>
              <p:spPr>
                <a:xfrm>
                  <a:off x="6875812" y="1043464"/>
                  <a:ext cx="2005527" cy="324000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Topography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CD7F292-AD08-8809-CD64-7C5AE72FE186}"/>
                    </a:ext>
                  </a:extLst>
                </p:cNvPr>
                <p:cNvSpPr/>
                <p:nvPr/>
              </p:nvSpPr>
              <p:spPr>
                <a:xfrm>
                  <a:off x="6875812" y="1373188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Elevation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F97A0DE-2BFC-D4A7-6FEC-4C9F8E35538E}"/>
                    </a:ext>
                  </a:extLst>
                </p:cNvPr>
                <p:cNvSpPr/>
                <p:nvPr/>
              </p:nvSpPr>
              <p:spPr>
                <a:xfrm>
                  <a:off x="7873339" y="1373188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Slope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27F4618-9DFF-F73E-77D9-D982FA4060B3}"/>
                  </a:ext>
                </a:extLst>
              </p:cNvPr>
              <p:cNvSpPr/>
              <p:nvPr/>
            </p:nvSpPr>
            <p:spPr>
              <a:xfrm>
                <a:off x="10936004" y="1860187"/>
                <a:ext cx="984659" cy="648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Clay</a:t>
                </a: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content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2524F6D3-47FB-405C-FF99-C0115B3D8C7A}"/>
                  </a:ext>
                </a:extLst>
              </p:cNvPr>
              <p:cNvGrpSpPr/>
              <p:nvPr/>
            </p:nvGrpSpPr>
            <p:grpSpPr>
              <a:xfrm>
                <a:off x="6267469" y="1880400"/>
                <a:ext cx="1204630" cy="653724"/>
                <a:chOff x="6936820" y="1587909"/>
                <a:chExt cx="1204630" cy="653724"/>
              </a:xfrm>
            </p:grpSpPr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277CF5F5-2504-99F6-2B17-996C85F03E17}"/>
                    </a:ext>
                  </a:extLst>
                </p:cNvPr>
                <p:cNvSpPr/>
                <p:nvPr/>
              </p:nvSpPr>
              <p:spPr>
                <a:xfrm>
                  <a:off x="6936820" y="1587909"/>
                  <a:ext cx="1204629" cy="324000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Climate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7D5928B6-CCB6-E31E-5E1E-CB6FBD534279}"/>
                    </a:ext>
                  </a:extLst>
                </p:cNvPr>
                <p:cNvSpPr/>
                <p:nvPr/>
              </p:nvSpPr>
              <p:spPr>
                <a:xfrm>
                  <a:off x="6936820" y="1917633"/>
                  <a:ext cx="549757" cy="324000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MAT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78566F6-326D-9B11-DBA4-BAE679613DC6}"/>
                    </a:ext>
                  </a:extLst>
                </p:cNvPr>
                <p:cNvSpPr/>
                <p:nvPr/>
              </p:nvSpPr>
              <p:spPr>
                <a:xfrm>
                  <a:off x="7486579" y="1917633"/>
                  <a:ext cx="654871" cy="324000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MAP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CF71BECB-6337-34E7-349F-EA10C416E01A}"/>
                  </a:ext>
                </a:extLst>
              </p:cNvPr>
              <p:cNvGrpSpPr/>
              <p:nvPr/>
            </p:nvGrpSpPr>
            <p:grpSpPr>
              <a:xfrm>
                <a:off x="8552094" y="1873286"/>
                <a:ext cx="1315789" cy="653724"/>
                <a:chOff x="6936819" y="1576034"/>
                <a:chExt cx="1315789" cy="653724"/>
              </a:xfrm>
            </p:grpSpPr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5B65F5FC-B1FC-1D06-580B-0A755D2DBA8D}"/>
                    </a:ext>
                  </a:extLst>
                </p:cNvPr>
                <p:cNvSpPr/>
                <p:nvPr/>
              </p:nvSpPr>
              <p:spPr>
                <a:xfrm>
                  <a:off x="6936820" y="1576034"/>
                  <a:ext cx="1315788" cy="324000"/>
                </a:xfrm>
                <a:prstGeom prst="rect">
                  <a:avLst/>
                </a:prstGeom>
                <a:solidFill>
                  <a:srgbClr val="7030A0">
                    <a:alpha val="30000"/>
                  </a:srgbClr>
                </a:solidFill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Seasonality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14B5BE0A-ED5B-4493-4CF6-F684E24DF8A5}"/>
                    </a:ext>
                  </a:extLst>
                </p:cNvPr>
                <p:cNvSpPr/>
                <p:nvPr/>
              </p:nvSpPr>
              <p:spPr>
                <a:xfrm>
                  <a:off x="6936819" y="1905758"/>
                  <a:ext cx="658800" cy="324000"/>
                </a:xfrm>
                <a:prstGeom prst="rect">
                  <a:avLst/>
                </a:prstGeom>
                <a:noFill/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TS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38874FF2-F0A9-0FC3-E7C0-157CA3728479}"/>
                    </a:ext>
                  </a:extLst>
                </p:cNvPr>
                <p:cNvSpPr/>
                <p:nvPr/>
              </p:nvSpPr>
              <p:spPr>
                <a:xfrm>
                  <a:off x="7593808" y="1905758"/>
                  <a:ext cx="658800" cy="324000"/>
                </a:xfrm>
                <a:prstGeom prst="rect">
                  <a:avLst/>
                </a:prstGeom>
                <a:noFill/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PS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B794872E-B58A-A4B0-1AD9-E09081663C9B}"/>
                  </a:ext>
                </a:extLst>
              </p:cNvPr>
              <p:cNvGrpSpPr/>
              <p:nvPr/>
            </p:nvGrpSpPr>
            <p:grpSpPr>
              <a:xfrm>
                <a:off x="10727908" y="3340206"/>
                <a:ext cx="1204630" cy="653724"/>
                <a:chOff x="6936820" y="1587909"/>
                <a:chExt cx="1204630" cy="653724"/>
              </a:xfrm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74B4EFC4-1155-52A0-7C6D-7E6C2B1160C0}"/>
                    </a:ext>
                  </a:extLst>
                </p:cNvPr>
                <p:cNvSpPr/>
                <p:nvPr/>
              </p:nvSpPr>
              <p:spPr>
                <a:xfrm>
                  <a:off x="6936820" y="1587909"/>
                  <a:ext cx="1204629" cy="324000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Soil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93000C1-0ECF-E1A5-C2FF-081C937E0F2E}"/>
                    </a:ext>
                  </a:extLst>
                </p:cNvPr>
                <p:cNvSpPr/>
                <p:nvPr/>
              </p:nvSpPr>
              <p:spPr>
                <a:xfrm>
                  <a:off x="6936820" y="1917633"/>
                  <a:ext cx="549757" cy="32400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pH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6F1EA22E-5F27-9A45-DCB2-956FB0C28BB8}"/>
                    </a:ext>
                  </a:extLst>
                </p:cNvPr>
                <p:cNvSpPr/>
                <p:nvPr/>
              </p:nvSpPr>
              <p:spPr>
                <a:xfrm>
                  <a:off x="7486579" y="1917633"/>
                  <a:ext cx="654871" cy="32400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BD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BA6667BA-3C37-7494-ADA8-953384EC5EE7}"/>
                  </a:ext>
                </a:extLst>
              </p:cNvPr>
              <p:cNvGrpSpPr/>
              <p:nvPr/>
            </p:nvGrpSpPr>
            <p:grpSpPr>
              <a:xfrm>
                <a:off x="6488569" y="3326490"/>
                <a:ext cx="2882230" cy="653947"/>
                <a:chOff x="6737362" y="3356657"/>
                <a:chExt cx="2882230" cy="653947"/>
              </a:xfrm>
            </p:grpSpPr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8A7F3D41-E60A-D52D-A553-5AED3757D782}"/>
                    </a:ext>
                  </a:extLst>
                </p:cNvPr>
                <p:cNvSpPr/>
                <p:nvPr/>
              </p:nvSpPr>
              <p:spPr>
                <a:xfrm>
                  <a:off x="6737362" y="3356657"/>
                  <a:ext cx="2882229" cy="32400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Vegetation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846E6B09-0944-59EF-32CD-59AD9542E724}"/>
                    </a:ext>
                  </a:extLst>
                </p:cNvPr>
                <p:cNvSpPr/>
                <p:nvPr/>
              </p:nvSpPr>
              <p:spPr>
                <a:xfrm>
                  <a:off x="6737363" y="3686604"/>
                  <a:ext cx="576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GPP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07C86283-A5A9-E569-1415-05D99823FE37}"/>
                    </a:ext>
                  </a:extLst>
                </p:cNvPr>
                <p:cNvSpPr/>
                <p:nvPr/>
              </p:nvSpPr>
              <p:spPr>
                <a:xfrm>
                  <a:off x="7315880" y="3686604"/>
                  <a:ext cx="1296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Shannon_EVI</a:t>
                  </a:r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50B7807B-4946-42D9-70D2-35001DD8989F}"/>
                    </a:ext>
                  </a:extLst>
                </p:cNvPr>
                <p:cNvSpPr/>
                <p:nvPr/>
              </p:nvSpPr>
              <p:spPr>
                <a:xfrm>
                  <a:off x="8611592" y="3686604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Rootdepth</a:t>
                  </a:r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4D48F2B-5181-13C3-2C3C-3275DBF0DAD1}"/>
                  </a:ext>
                </a:extLst>
              </p:cNvPr>
              <p:cNvSpPr/>
              <p:nvPr/>
            </p:nvSpPr>
            <p:spPr>
              <a:xfrm>
                <a:off x="8968819" y="4595760"/>
                <a:ext cx="1440000" cy="31383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CUE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3B9D9FA3-6E9F-D2AA-0752-F61D151D18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68224" y="1243344"/>
                <a:ext cx="743370" cy="631332"/>
              </a:xfrm>
              <a:prstGeom prst="straightConnector1">
                <a:avLst/>
              </a:prstGeom>
              <a:ln w="254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44F80AF-5BFF-0620-98C1-CB87ABD9D610}"/>
                  </a:ext>
                </a:extLst>
              </p:cNvPr>
              <p:cNvSpPr txBox="1"/>
              <p:nvPr/>
            </p:nvSpPr>
            <p:spPr>
              <a:xfrm>
                <a:off x="6223634" y="1640389"/>
                <a:ext cx="1020196" cy="2843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0.01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7B22B3-3924-FC83-6624-EDB73BF4BA6A}"/>
                  </a:ext>
                </a:extLst>
              </p:cNvPr>
              <p:cNvSpPr txBox="1"/>
              <p:nvPr/>
            </p:nvSpPr>
            <p:spPr>
              <a:xfrm rot="19376878">
                <a:off x="7420589" y="1287210"/>
                <a:ext cx="804615" cy="2843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-0.12*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6DB1CA8-B62F-6DA3-F83E-D701AD8D6973}"/>
                  </a:ext>
                </a:extLst>
              </p:cNvPr>
              <p:cNvCxnSpPr>
                <a:cxnSpLocks/>
                <a:endCxn id="41" idx="0"/>
              </p:cNvCxnSpPr>
              <p:nvPr/>
            </p:nvCxnSpPr>
            <p:spPr>
              <a:xfrm>
                <a:off x="7468224" y="2523655"/>
                <a:ext cx="461460" cy="802835"/>
              </a:xfrm>
              <a:prstGeom prst="straightConnector1">
                <a:avLst/>
              </a:prstGeom>
              <a:ln w="571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5CC410CB-265C-2B74-EA5A-8ED71CCAE0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04807" y="1252401"/>
                <a:ext cx="17057" cy="644635"/>
              </a:xfrm>
              <a:prstGeom prst="straightConnector1">
                <a:avLst/>
              </a:prstGeom>
              <a:ln w="28575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032A589-C3E7-2E14-9538-3BE9B19FDB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11846" y="1250776"/>
                <a:ext cx="720000" cy="629425"/>
              </a:xfrm>
              <a:prstGeom prst="straightConnector1">
                <a:avLst/>
              </a:prstGeom>
              <a:ln w="12700">
                <a:solidFill>
                  <a:schemeClr val="accent4">
                    <a:lumMod val="50000"/>
                  </a:schemeClr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5E9C8CE-9EB8-1848-CF2C-8F4EFB5C8F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8224" y="2204400"/>
                <a:ext cx="1083870" cy="0"/>
              </a:xfrm>
              <a:prstGeom prst="straightConnector1">
                <a:avLst/>
              </a:prstGeom>
              <a:ln w="508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81DBA87E-B687-50FA-881D-CCFF011932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67883" y="2212069"/>
                <a:ext cx="1063963" cy="0"/>
              </a:xfrm>
              <a:prstGeom prst="straightConnector1">
                <a:avLst/>
              </a:prstGeom>
              <a:ln w="28575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1EA06883-5B8A-7349-A5CA-3498081F0A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66315" y="2523529"/>
                <a:ext cx="1339423" cy="788604"/>
              </a:xfrm>
              <a:prstGeom prst="straightConnector1">
                <a:avLst/>
              </a:prstGeom>
              <a:ln w="444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1B831B5-111D-2B45-1E96-DA20AC3C84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97920" y="2508187"/>
                <a:ext cx="0" cy="829342"/>
              </a:xfrm>
              <a:prstGeom prst="straightConnector1">
                <a:avLst/>
              </a:prstGeom>
              <a:ln w="22225">
                <a:solidFill>
                  <a:schemeClr val="accent4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AF3F8D72-31E2-E4DC-F9C4-B97E750555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29684" y="2541902"/>
                <a:ext cx="1274162" cy="772713"/>
              </a:xfrm>
              <a:prstGeom prst="straightConnector1">
                <a:avLst/>
              </a:prstGeom>
              <a:ln w="317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30C7FE44-D7C6-39B4-A960-5EE87FD3A0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70798" y="3659217"/>
                <a:ext cx="1357109" cy="16864"/>
              </a:xfrm>
              <a:prstGeom prst="straightConnector1">
                <a:avLst/>
              </a:prstGeom>
              <a:ln w="15875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8D843A6E-35AD-96F0-62E2-9609E0353A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60282" y="3980437"/>
                <a:ext cx="936449" cy="605356"/>
              </a:xfrm>
              <a:prstGeom prst="straightConnector1">
                <a:avLst/>
              </a:prstGeom>
              <a:ln w="3175">
                <a:solidFill>
                  <a:schemeClr val="accent4">
                    <a:lumMod val="50000"/>
                  </a:schemeClr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D3BE6F22-98D6-0311-35CE-EAD4784AF7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37477" y="3987183"/>
                <a:ext cx="703187" cy="593685"/>
              </a:xfrm>
              <a:prstGeom prst="straightConnector1">
                <a:avLst/>
              </a:prstGeom>
              <a:ln w="444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9681E84-2382-1E37-8D9D-4B8D5EA1AB01}"/>
                  </a:ext>
                </a:extLst>
              </p:cNvPr>
              <p:cNvSpPr txBox="1"/>
              <p:nvPr/>
            </p:nvSpPr>
            <p:spPr>
              <a:xfrm>
                <a:off x="8409206" y="1652263"/>
                <a:ext cx="1020196" cy="2843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0.80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03BCF56-2BD5-1915-62CF-32C4548D1B07}"/>
                  </a:ext>
                </a:extLst>
              </p:cNvPr>
              <p:cNvSpPr txBox="1"/>
              <p:nvPr/>
            </p:nvSpPr>
            <p:spPr>
              <a:xfrm>
                <a:off x="10946975" y="1640389"/>
                <a:ext cx="1020196" cy="2843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0.08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69F86A-923E-61B3-CFB5-EDEAEE7FEE81}"/>
                  </a:ext>
                </a:extLst>
              </p:cNvPr>
              <p:cNvSpPr txBox="1"/>
              <p:nvPr/>
            </p:nvSpPr>
            <p:spPr>
              <a:xfrm>
                <a:off x="6681488" y="3082683"/>
                <a:ext cx="1020196" cy="2843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0.63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DAA5E37-6A1A-9C5E-C604-A6A81DD2EFBA}"/>
                  </a:ext>
                </a:extLst>
              </p:cNvPr>
              <p:cNvSpPr txBox="1"/>
              <p:nvPr/>
            </p:nvSpPr>
            <p:spPr>
              <a:xfrm>
                <a:off x="9275082" y="4363963"/>
                <a:ext cx="1020196" cy="2843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0.23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FD15AF8-64AA-844B-125D-551D2FC768F4}"/>
                  </a:ext>
                </a:extLst>
              </p:cNvPr>
              <p:cNvSpPr txBox="1"/>
              <p:nvPr/>
            </p:nvSpPr>
            <p:spPr>
              <a:xfrm>
                <a:off x="9186762" y="1404522"/>
                <a:ext cx="724231" cy="663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-0.29***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227EBB7-DBF1-8226-911E-F929251BF3AF}"/>
                  </a:ext>
                </a:extLst>
              </p:cNvPr>
              <p:cNvSpPr txBox="1"/>
              <p:nvPr/>
            </p:nvSpPr>
            <p:spPr>
              <a:xfrm>
                <a:off x="7609385" y="1975274"/>
                <a:ext cx="750127" cy="663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-0.88***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F1A5967-06A3-A8DA-AFA6-CD4D0204594A}"/>
                  </a:ext>
                </a:extLst>
              </p:cNvPr>
              <p:cNvSpPr txBox="1"/>
              <p:nvPr/>
            </p:nvSpPr>
            <p:spPr>
              <a:xfrm>
                <a:off x="10037478" y="1921033"/>
                <a:ext cx="817850" cy="473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-0.25***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DF48281-614E-2473-CB55-720D2CC04A2E}"/>
                  </a:ext>
                </a:extLst>
              </p:cNvPr>
              <p:cNvSpPr txBox="1"/>
              <p:nvPr/>
            </p:nvSpPr>
            <p:spPr>
              <a:xfrm rot="2397490">
                <a:off x="10276998" y="1388934"/>
                <a:ext cx="896632" cy="2843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0.08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27040E5-AFDB-FE48-9AA1-E783FB30E92E}"/>
                  </a:ext>
                </a:extLst>
              </p:cNvPr>
              <p:cNvSpPr txBox="1"/>
              <p:nvPr/>
            </p:nvSpPr>
            <p:spPr>
              <a:xfrm rot="19628636">
                <a:off x="8482099" y="2556496"/>
                <a:ext cx="752488" cy="663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-0.37***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0D5DC5E-3A5D-9144-272F-FFF52B044EC0}"/>
                  </a:ext>
                </a:extLst>
              </p:cNvPr>
              <p:cNvSpPr txBox="1"/>
              <p:nvPr/>
            </p:nvSpPr>
            <p:spPr>
              <a:xfrm rot="3719290">
                <a:off x="7150755" y="2775595"/>
                <a:ext cx="798346" cy="341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-0.99***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2F6B954-E1B7-C6FF-E67F-306B4C3E9EAB}"/>
                  </a:ext>
                </a:extLst>
              </p:cNvPr>
              <p:cNvSpPr txBox="1"/>
              <p:nvPr/>
            </p:nvSpPr>
            <p:spPr>
              <a:xfrm>
                <a:off x="9856183" y="3427722"/>
                <a:ext cx="774730" cy="663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-0.15***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76A6EBE-07A9-246B-F2D9-1636516FFB24}"/>
                  </a:ext>
                </a:extLst>
              </p:cNvPr>
              <p:cNvSpPr txBox="1"/>
              <p:nvPr/>
            </p:nvSpPr>
            <p:spPr>
              <a:xfrm rot="1915999">
                <a:off x="8612494" y="4114235"/>
                <a:ext cx="749123" cy="2843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0.003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1208A96-F8B1-BE20-9C13-B28D9E223ED2}"/>
                  </a:ext>
                </a:extLst>
              </p:cNvPr>
              <p:cNvSpPr txBox="1"/>
              <p:nvPr/>
            </p:nvSpPr>
            <p:spPr>
              <a:xfrm rot="19364745">
                <a:off x="10052441" y="3805781"/>
                <a:ext cx="766863" cy="663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-0.47***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2A693CC-30C3-1E68-B6BA-903375DF13CD}"/>
                  </a:ext>
                </a:extLst>
              </p:cNvPr>
              <p:cNvSpPr txBox="1"/>
              <p:nvPr/>
            </p:nvSpPr>
            <p:spPr>
              <a:xfrm>
                <a:off x="11266004" y="2715772"/>
                <a:ext cx="700232" cy="473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0.26***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02B32ED-669D-EF9D-4750-2D0E3C7A3FE7}"/>
                  </a:ext>
                </a:extLst>
              </p:cNvPr>
              <p:cNvSpPr txBox="1"/>
              <p:nvPr/>
            </p:nvSpPr>
            <p:spPr>
              <a:xfrm rot="1651559">
                <a:off x="10141059" y="2440241"/>
                <a:ext cx="743833" cy="663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-0.56***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8B4DF56-21C8-01A9-30FA-C4BA68EFEEFC}"/>
                  </a:ext>
                </a:extLst>
              </p:cNvPr>
              <p:cNvSpPr txBox="1"/>
              <p:nvPr/>
            </p:nvSpPr>
            <p:spPr>
              <a:xfrm>
                <a:off x="10855330" y="4583893"/>
                <a:ext cx="1385821" cy="316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GOF = 0.50</a:t>
                </a: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C0C59B3F-A599-210B-F310-B5452AE689CB}"/>
                </a:ext>
              </a:extLst>
            </p:cNvPr>
            <p:cNvGrpSpPr/>
            <p:nvPr/>
          </p:nvGrpSpPr>
          <p:grpSpPr>
            <a:xfrm>
              <a:off x="1144782" y="-1522147"/>
              <a:ext cx="6063463" cy="4319973"/>
              <a:chOff x="6223634" y="589620"/>
              <a:chExt cx="6063463" cy="4319973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ED78C62-2C72-5E0B-7DB9-09ACE28A23AE}"/>
                  </a:ext>
                </a:extLst>
              </p:cNvPr>
              <p:cNvSpPr txBox="1"/>
              <p:nvPr/>
            </p:nvSpPr>
            <p:spPr>
              <a:xfrm>
                <a:off x="11266901" y="3110354"/>
                <a:ext cx="1020196" cy="2843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0.17</a:t>
                </a:r>
              </a:p>
            </p:txBody>
          </p: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9F0638F4-A6EB-3A06-A8B2-B7B18EFCE1E9}"/>
                  </a:ext>
                </a:extLst>
              </p:cNvPr>
              <p:cNvGrpSpPr/>
              <p:nvPr/>
            </p:nvGrpSpPr>
            <p:grpSpPr>
              <a:xfrm>
                <a:off x="8206319" y="589620"/>
                <a:ext cx="2005527" cy="653724"/>
                <a:chOff x="6875812" y="1043464"/>
                <a:chExt cx="2005527" cy="65372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9138B27A-CA55-DCD5-E26B-00273520C79A}"/>
                    </a:ext>
                  </a:extLst>
                </p:cNvPr>
                <p:cNvSpPr/>
                <p:nvPr/>
              </p:nvSpPr>
              <p:spPr>
                <a:xfrm>
                  <a:off x="6875812" y="1043464"/>
                  <a:ext cx="2005527" cy="324000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Topography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E304E46E-C01C-6AF3-FB42-1BFED2C814F1}"/>
                    </a:ext>
                  </a:extLst>
                </p:cNvPr>
                <p:cNvSpPr/>
                <p:nvPr/>
              </p:nvSpPr>
              <p:spPr>
                <a:xfrm>
                  <a:off x="6875812" y="1373188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Elevation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E0FC1ABF-4CA0-F61E-67DA-AA5473470DC0}"/>
                    </a:ext>
                  </a:extLst>
                </p:cNvPr>
                <p:cNvSpPr/>
                <p:nvPr/>
              </p:nvSpPr>
              <p:spPr>
                <a:xfrm>
                  <a:off x="7873339" y="1373188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Slope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F82B07A6-4FB3-FC14-ECFE-09CBF18E03CD}"/>
                  </a:ext>
                </a:extLst>
              </p:cNvPr>
              <p:cNvSpPr/>
              <p:nvPr/>
            </p:nvSpPr>
            <p:spPr>
              <a:xfrm>
                <a:off x="10936004" y="1860187"/>
                <a:ext cx="984659" cy="648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Clay</a:t>
                </a: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content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D8B5F35E-495F-EC41-B3F7-2837570C1BA2}"/>
                  </a:ext>
                </a:extLst>
              </p:cNvPr>
              <p:cNvGrpSpPr/>
              <p:nvPr/>
            </p:nvGrpSpPr>
            <p:grpSpPr>
              <a:xfrm>
                <a:off x="6267469" y="1880400"/>
                <a:ext cx="1204630" cy="653724"/>
                <a:chOff x="6936820" y="1587909"/>
                <a:chExt cx="1204630" cy="653724"/>
              </a:xfrm>
            </p:grpSpPr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57FF5809-DC3B-12A7-4335-470A570B2193}"/>
                    </a:ext>
                  </a:extLst>
                </p:cNvPr>
                <p:cNvSpPr/>
                <p:nvPr/>
              </p:nvSpPr>
              <p:spPr>
                <a:xfrm>
                  <a:off x="6936820" y="1587909"/>
                  <a:ext cx="1204629" cy="324000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Climate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9823F29B-6054-27A0-0A1E-CDBDDD4D3DFC}"/>
                    </a:ext>
                  </a:extLst>
                </p:cNvPr>
                <p:cNvSpPr/>
                <p:nvPr/>
              </p:nvSpPr>
              <p:spPr>
                <a:xfrm>
                  <a:off x="6936820" y="1917633"/>
                  <a:ext cx="549757" cy="324000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MAT</a:t>
                  </a:r>
                </a:p>
                <a:p>
                  <a:pPr algn="ctr"/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5865A653-027D-1EAA-30CF-C5EA2B209B93}"/>
                    </a:ext>
                  </a:extLst>
                </p:cNvPr>
                <p:cNvSpPr/>
                <p:nvPr/>
              </p:nvSpPr>
              <p:spPr>
                <a:xfrm>
                  <a:off x="7486579" y="1917633"/>
                  <a:ext cx="654871" cy="324000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MAP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11E3C994-8E9B-7887-012E-34A0A709C519}"/>
                  </a:ext>
                </a:extLst>
              </p:cNvPr>
              <p:cNvGrpSpPr/>
              <p:nvPr/>
            </p:nvGrpSpPr>
            <p:grpSpPr>
              <a:xfrm>
                <a:off x="8552094" y="1873286"/>
                <a:ext cx="1315789" cy="653724"/>
                <a:chOff x="6936819" y="1576034"/>
                <a:chExt cx="1315789" cy="653724"/>
              </a:xfrm>
            </p:grpSpPr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A4A1A56D-C6EE-514B-745F-AA2620864AB4}"/>
                    </a:ext>
                  </a:extLst>
                </p:cNvPr>
                <p:cNvSpPr/>
                <p:nvPr/>
              </p:nvSpPr>
              <p:spPr>
                <a:xfrm>
                  <a:off x="6936820" y="1576034"/>
                  <a:ext cx="1315788" cy="324000"/>
                </a:xfrm>
                <a:prstGeom prst="rect">
                  <a:avLst/>
                </a:prstGeom>
                <a:solidFill>
                  <a:srgbClr val="7030A0">
                    <a:alpha val="30000"/>
                  </a:srgbClr>
                </a:solidFill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Seasonality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37FBBA4E-4190-9243-EC6B-AA7C50CB0CA7}"/>
                    </a:ext>
                  </a:extLst>
                </p:cNvPr>
                <p:cNvSpPr/>
                <p:nvPr/>
              </p:nvSpPr>
              <p:spPr>
                <a:xfrm>
                  <a:off x="6936819" y="1905758"/>
                  <a:ext cx="658800" cy="324000"/>
                </a:xfrm>
                <a:prstGeom prst="rect">
                  <a:avLst/>
                </a:prstGeom>
                <a:noFill/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TS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871D3070-CA3C-A151-D4D5-E72B34A0ED95}"/>
                    </a:ext>
                  </a:extLst>
                </p:cNvPr>
                <p:cNvSpPr/>
                <p:nvPr/>
              </p:nvSpPr>
              <p:spPr>
                <a:xfrm>
                  <a:off x="7593808" y="1905758"/>
                  <a:ext cx="658800" cy="324000"/>
                </a:xfrm>
                <a:prstGeom prst="rect">
                  <a:avLst/>
                </a:prstGeom>
                <a:noFill/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PS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5FB0C4BD-4334-688D-A54C-0C28C76A4578}"/>
                  </a:ext>
                </a:extLst>
              </p:cNvPr>
              <p:cNvGrpSpPr/>
              <p:nvPr/>
            </p:nvGrpSpPr>
            <p:grpSpPr>
              <a:xfrm>
                <a:off x="10727908" y="3340206"/>
                <a:ext cx="1204630" cy="653724"/>
                <a:chOff x="6936820" y="1587909"/>
                <a:chExt cx="1204630" cy="653724"/>
              </a:xfrm>
            </p:grpSpPr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A9F3F069-B0FE-3795-77D9-C0A14ABF2163}"/>
                    </a:ext>
                  </a:extLst>
                </p:cNvPr>
                <p:cNvSpPr/>
                <p:nvPr/>
              </p:nvSpPr>
              <p:spPr>
                <a:xfrm>
                  <a:off x="6936820" y="1587909"/>
                  <a:ext cx="1204629" cy="324000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Soil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31647B19-78CF-397B-1D2F-EDEA66F2A84F}"/>
                    </a:ext>
                  </a:extLst>
                </p:cNvPr>
                <p:cNvSpPr/>
                <p:nvPr/>
              </p:nvSpPr>
              <p:spPr>
                <a:xfrm>
                  <a:off x="6936820" y="1917633"/>
                  <a:ext cx="549757" cy="32400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pH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B76FE37C-0DB8-A209-875D-72DC1CF07305}"/>
                    </a:ext>
                  </a:extLst>
                </p:cNvPr>
                <p:cNvSpPr/>
                <p:nvPr/>
              </p:nvSpPr>
              <p:spPr>
                <a:xfrm>
                  <a:off x="7486579" y="1917633"/>
                  <a:ext cx="654871" cy="32400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BD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391A9DEA-4B85-77F6-7DF0-031534EFD7F2}"/>
                  </a:ext>
                </a:extLst>
              </p:cNvPr>
              <p:cNvGrpSpPr/>
              <p:nvPr/>
            </p:nvGrpSpPr>
            <p:grpSpPr>
              <a:xfrm>
                <a:off x="6488569" y="3326490"/>
                <a:ext cx="2882230" cy="653947"/>
                <a:chOff x="6737362" y="3356657"/>
                <a:chExt cx="2882230" cy="653947"/>
              </a:xfrm>
            </p:grpSpPr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4B2ECF82-25C2-67A6-FD29-BDCEC7A9C679}"/>
                    </a:ext>
                  </a:extLst>
                </p:cNvPr>
                <p:cNvSpPr/>
                <p:nvPr/>
              </p:nvSpPr>
              <p:spPr>
                <a:xfrm>
                  <a:off x="6737362" y="3356657"/>
                  <a:ext cx="2882229" cy="32400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Vegetation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D2527C76-0D6D-568F-F229-E956DBB1BB0D}"/>
                    </a:ext>
                  </a:extLst>
                </p:cNvPr>
                <p:cNvSpPr/>
                <p:nvPr/>
              </p:nvSpPr>
              <p:spPr>
                <a:xfrm>
                  <a:off x="6737363" y="3686604"/>
                  <a:ext cx="576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GPP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CCF157A2-93D3-3004-5685-8DC82136D0F0}"/>
                    </a:ext>
                  </a:extLst>
                </p:cNvPr>
                <p:cNvSpPr/>
                <p:nvPr/>
              </p:nvSpPr>
              <p:spPr>
                <a:xfrm>
                  <a:off x="7315880" y="3686604"/>
                  <a:ext cx="1296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Shannon_EVI</a:t>
                  </a:r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C8F8CFAB-2288-1529-665C-42839837A5BC}"/>
                    </a:ext>
                  </a:extLst>
                </p:cNvPr>
                <p:cNvSpPr/>
                <p:nvPr/>
              </p:nvSpPr>
              <p:spPr>
                <a:xfrm>
                  <a:off x="8611592" y="3686604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Rootdepth</a:t>
                  </a:r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08BACE5-7C29-7BBE-32F8-EC83627990ED}"/>
                  </a:ext>
                </a:extLst>
              </p:cNvPr>
              <p:cNvSpPr/>
              <p:nvPr/>
            </p:nvSpPr>
            <p:spPr>
              <a:xfrm>
                <a:off x="8968819" y="4595760"/>
                <a:ext cx="1440000" cy="31383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CUE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279A8165-8969-74DD-7E93-6247FABC60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68224" y="1243344"/>
                <a:ext cx="743370" cy="631332"/>
              </a:xfrm>
              <a:prstGeom prst="straightConnector1">
                <a:avLst/>
              </a:prstGeom>
              <a:ln w="444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18413E9-1840-32DE-ED37-FD2F2E747031}"/>
                  </a:ext>
                </a:extLst>
              </p:cNvPr>
              <p:cNvSpPr txBox="1"/>
              <p:nvPr/>
            </p:nvSpPr>
            <p:spPr>
              <a:xfrm>
                <a:off x="6223634" y="1640389"/>
                <a:ext cx="1020196" cy="2843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0.22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3949209-F2A8-CD73-4639-5C829B0D3017}"/>
                  </a:ext>
                </a:extLst>
              </p:cNvPr>
              <p:cNvSpPr txBox="1"/>
              <p:nvPr/>
            </p:nvSpPr>
            <p:spPr>
              <a:xfrm rot="19376878">
                <a:off x="7420589" y="1097652"/>
                <a:ext cx="804615" cy="663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-0.46***</a:t>
                </a:r>
              </a:p>
            </p:txBody>
          </p: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C5AA62EE-2574-EE05-76D6-79DDDAF414CD}"/>
                  </a:ext>
                </a:extLst>
              </p:cNvPr>
              <p:cNvCxnSpPr>
                <a:cxnSpLocks/>
                <a:endCxn id="96" idx="0"/>
              </p:cNvCxnSpPr>
              <p:nvPr/>
            </p:nvCxnSpPr>
            <p:spPr>
              <a:xfrm>
                <a:off x="7468224" y="2523655"/>
                <a:ext cx="461460" cy="802835"/>
              </a:xfrm>
              <a:prstGeom prst="straightConnector1">
                <a:avLst/>
              </a:prstGeom>
              <a:ln w="571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49AC120-92B0-A0DF-8B3C-3E6B3A111E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04807" y="1252401"/>
                <a:ext cx="17057" cy="644635"/>
              </a:xfrm>
              <a:prstGeom prst="straightConnector1">
                <a:avLst/>
              </a:prstGeom>
              <a:ln w="381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C986E057-DC5E-C9A2-7327-9CD4687592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11846" y="1250776"/>
                <a:ext cx="720000" cy="629425"/>
              </a:xfrm>
              <a:prstGeom prst="straightConnector1">
                <a:avLst/>
              </a:prstGeom>
              <a:ln w="317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55B08540-5541-1EA3-D4BC-8A3630E2BB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8224" y="2204400"/>
                <a:ext cx="1083870" cy="0"/>
              </a:xfrm>
              <a:prstGeom prst="straightConnector1">
                <a:avLst/>
              </a:prstGeom>
              <a:ln w="190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53CFCF59-F0E8-4921-5186-445DD30E6B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67883" y="2212069"/>
                <a:ext cx="1063963" cy="0"/>
              </a:xfrm>
              <a:prstGeom prst="straightConnector1">
                <a:avLst/>
              </a:prstGeom>
              <a:ln w="571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8A21EC9E-9468-0E91-9FC8-7CE18030C3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66315" y="2523529"/>
                <a:ext cx="1339423" cy="788604"/>
              </a:xfrm>
              <a:prstGeom prst="straightConnector1">
                <a:avLst/>
              </a:prstGeom>
              <a:ln w="381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059F262D-5F57-07C3-E466-22604A5708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97920" y="2508187"/>
                <a:ext cx="0" cy="829342"/>
              </a:xfrm>
              <a:prstGeom prst="straightConnector1">
                <a:avLst/>
              </a:prstGeom>
              <a:ln w="19050">
                <a:solidFill>
                  <a:schemeClr val="accent4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92D78CD-04F7-68E3-04B9-FB775FE4BA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29684" y="2541902"/>
                <a:ext cx="1274162" cy="772713"/>
              </a:xfrm>
              <a:prstGeom prst="straightConnector1">
                <a:avLst/>
              </a:prstGeom>
              <a:ln w="127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E2FE34BD-47D7-3C9B-0EF8-40DAE57651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70798" y="3659217"/>
                <a:ext cx="1357109" cy="16864"/>
              </a:xfrm>
              <a:prstGeom prst="straightConnector1">
                <a:avLst/>
              </a:prstGeom>
              <a:ln w="15875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5075B66A-F291-CC91-267E-A20BAF8DFB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60282" y="3980437"/>
                <a:ext cx="936449" cy="605356"/>
              </a:xfrm>
              <a:prstGeom prst="straightConnector1">
                <a:avLst/>
              </a:prstGeom>
              <a:ln w="41275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FD8012BC-A819-418C-C663-E0028B7D8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37477" y="3987183"/>
                <a:ext cx="703187" cy="593685"/>
              </a:xfrm>
              <a:prstGeom prst="straightConnector1">
                <a:avLst/>
              </a:prstGeom>
              <a:ln w="381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B575D3C-CC7A-25F6-1D78-2F4E5017BD0F}"/>
                  </a:ext>
                </a:extLst>
              </p:cNvPr>
              <p:cNvSpPr txBox="1"/>
              <p:nvPr/>
            </p:nvSpPr>
            <p:spPr>
              <a:xfrm>
                <a:off x="8409206" y="1652263"/>
                <a:ext cx="1020196" cy="2843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0.80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527FFF84-F005-CBB1-14E3-76DE69400A11}"/>
                  </a:ext>
                </a:extLst>
              </p:cNvPr>
              <p:cNvSpPr txBox="1"/>
              <p:nvPr/>
            </p:nvSpPr>
            <p:spPr>
              <a:xfrm>
                <a:off x="10946975" y="1640389"/>
                <a:ext cx="1020196" cy="2843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0.36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90128B7-B112-A36A-BD14-1F9D49D5260C}"/>
                  </a:ext>
                </a:extLst>
              </p:cNvPr>
              <p:cNvSpPr txBox="1"/>
              <p:nvPr/>
            </p:nvSpPr>
            <p:spPr>
              <a:xfrm>
                <a:off x="6681488" y="3082683"/>
                <a:ext cx="1020196" cy="2843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0.63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8951E93-0B1A-62FC-0D26-1FE212553192}"/>
                  </a:ext>
                </a:extLst>
              </p:cNvPr>
              <p:cNvSpPr txBox="1"/>
              <p:nvPr/>
            </p:nvSpPr>
            <p:spPr>
              <a:xfrm>
                <a:off x="9275082" y="4363963"/>
                <a:ext cx="1020196" cy="2843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0.16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2AA7F13-9F83-F289-E94B-F75497B5FD94}"/>
                  </a:ext>
                </a:extLst>
              </p:cNvPr>
              <p:cNvSpPr txBox="1"/>
              <p:nvPr/>
            </p:nvSpPr>
            <p:spPr>
              <a:xfrm>
                <a:off x="9186762" y="1404522"/>
                <a:ext cx="724231" cy="663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-0.34***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1DD2A128-875E-F27B-0ED9-B4F1CE85B649}"/>
                  </a:ext>
                </a:extLst>
              </p:cNvPr>
              <p:cNvSpPr txBox="1"/>
              <p:nvPr/>
            </p:nvSpPr>
            <p:spPr>
              <a:xfrm>
                <a:off x="7609385" y="1975274"/>
                <a:ext cx="750127" cy="663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-1.00***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9CB82E4-A2CB-6521-B695-336A27D251EF}"/>
                  </a:ext>
                </a:extLst>
              </p:cNvPr>
              <p:cNvSpPr txBox="1"/>
              <p:nvPr/>
            </p:nvSpPr>
            <p:spPr>
              <a:xfrm>
                <a:off x="10037478" y="1921033"/>
                <a:ext cx="817850" cy="473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-0.52***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1720FFF-3211-5BAD-47BD-EAC0BBF96A3D}"/>
                  </a:ext>
                </a:extLst>
              </p:cNvPr>
              <p:cNvSpPr txBox="1"/>
              <p:nvPr/>
            </p:nvSpPr>
            <p:spPr>
              <a:xfrm rot="2397490">
                <a:off x="10276998" y="1388935"/>
                <a:ext cx="896632" cy="2843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-0.23***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B0CB22E-C832-1B94-EE15-26AB429645F0}"/>
                  </a:ext>
                </a:extLst>
              </p:cNvPr>
              <p:cNvSpPr txBox="1"/>
              <p:nvPr/>
            </p:nvSpPr>
            <p:spPr>
              <a:xfrm rot="20198467">
                <a:off x="8489567" y="2592623"/>
                <a:ext cx="570247" cy="663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-0.03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AEC5D4B-3D4B-75EA-D352-A99199C6A133}"/>
                  </a:ext>
                </a:extLst>
              </p:cNvPr>
              <p:cNvSpPr txBox="1"/>
              <p:nvPr/>
            </p:nvSpPr>
            <p:spPr>
              <a:xfrm rot="3719290">
                <a:off x="7150755" y="2775595"/>
                <a:ext cx="798346" cy="341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-0.82***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E8869E5-AF3B-200D-0BE5-958528654770}"/>
                  </a:ext>
                </a:extLst>
              </p:cNvPr>
              <p:cNvSpPr txBox="1"/>
              <p:nvPr/>
            </p:nvSpPr>
            <p:spPr>
              <a:xfrm>
                <a:off x="9856183" y="3427722"/>
                <a:ext cx="774730" cy="2843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-0.12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CA180E2-EEFB-8BF6-6FE3-9F1604186FE9}"/>
                  </a:ext>
                </a:extLst>
              </p:cNvPr>
              <p:cNvSpPr txBox="1"/>
              <p:nvPr/>
            </p:nvSpPr>
            <p:spPr>
              <a:xfrm rot="1915999">
                <a:off x="8612494" y="3924673"/>
                <a:ext cx="749123" cy="663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-0.43***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375A98B-22C0-4595-7D60-E1AADA2F1570}"/>
                  </a:ext>
                </a:extLst>
              </p:cNvPr>
              <p:cNvSpPr txBox="1"/>
              <p:nvPr/>
            </p:nvSpPr>
            <p:spPr>
              <a:xfrm rot="19364745">
                <a:off x="10052441" y="3805781"/>
                <a:ext cx="766863" cy="663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-0.26***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BDAF471-6F55-D84B-A8D4-CF98C014E0A1}"/>
                  </a:ext>
                </a:extLst>
              </p:cNvPr>
              <p:cNvSpPr txBox="1"/>
              <p:nvPr/>
            </p:nvSpPr>
            <p:spPr>
              <a:xfrm>
                <a:off x="11266004" y="2715772"/>
                <a:ext cx="700232" cy="4739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0.14***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AC6E085-9B1B-3271-1EA3-4DB076BF881C}"/>
                  </a:ext>
                </a:extLst>
              </p:cNvPr>
              <p:cNvSpPr txBox="1"/>
              <p:nvPr/>
            </p:nvSpPr>
            <p:spPr>
              <a:xfrm rot="1651559">
                <a:off x="10141059" y="2440241"/>
                <a:ext cx="743833" cy="663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-0.32***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7BE158C-BCB1-92D7-9072-894CF5643B7E}"/>
                  </a:ext>
                </a:extLst>
              </p:cNvPr>
              <p:cNvSpPr txBox="1"/>
              <p:nvPr/>
            </p:nvSpPr>
            <p:spPr>
              <a:xfrm>
                <a:off x="10855330" y="4583893"/>
                <a:ext cx="1385821" cy="3160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GOF = 0.51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26770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121">
            <a:extLst>
              <a:ext uri="{FF2B5EF4-FFF2-40B4-BE49-F238E27FC236}">
                <a16:creationId xmlns:a16="http://schemas.microsoft.com/office/drawing/2014/main" id="{B9CC4FBF-4935-8DBC-4B8B-C52FF7F45379}"/>
              </a:ext>
            </a:extLst>
          </p:cNvPr>
          <p:cNvGrpSpPr/>
          <p:nvPr/>
        </p:nvGrpSpPr>
        <p:grpSpPr>
          <a:xfrm>
            <a:off x="86955" y="659909"/>
            <a:ext cx="12018094" cy="4907278"/>
            <a:chOff x="90125" y="617043"/>
            <a:chExt cx="12018096" cy="490727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ACD1E0E-FE0F-DCC0-3DAC-C66A7FA913F2}"/>
                </a:ext>
              </a:extLst>
            </p:cNvPr>
            <p:cNvGrpSpPr/>
            <p:nvPr/>
          </p:nvGrpSpPr>
          <p:grpSpPr>
            <a:xfrm>
              <a:off x="6237479" y="683608"/>
              <a:ext cx="5870742" cy="4320101"/>
              <a:chOff x="6223634" y="589620"/>
              <a:chExt cx="5870742" cy="4320101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C6EEAA-1471-6961-948E-FCCB1EE5D354}"/>
                  </a:ext>
                </a:extLst>
              </p:cNvPr>
              <p:cNvSpPr txBox="1"/>
              <p:nvPr/>
            </p:nvSpPr>
            <p:spPr>
              <a:xfrm>
                <a:off x="11266905" y="3110354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0.46</a:t>
                </a: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46FCC8C-5FCB-BAF2-0031-BC272AAB5E5D}"/>
                  </a:ext>
                </a:extLst>
              </p:cNvPr>
              <p:cNvGrpSpPr/>
              <p:nvPr/>
            </p:nvGrpSpPr>
            <p:grpSpPr>
              <a:xfrm>
                <a:off x="8206319" y="589620"/>
                <a:ext cx="2005527" cy="653724"/>
                <a:chOff x="6875812" y="1043464"/>
                <a:chExt cx="2005527" cy="65372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F05F816F-F919-54C0-33F6-2F7C9AD979B5}"/>
                    </a:ext>
                  </a:extLst>
                </p:cNvPr>
                <p:cNvSpPr/>
                <p:nvPr/>
              </p:nvSpPr>
              <p:spPr>
                <a:xfrm>
                  <a:off x="6875812" y="1043464"/>
                  <a:ext cx="2005527" cy="324000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Topography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CD7F292-AD08-8809-CD64-7C5AE72FE186}"/>
                    </a:ext>
                  </a:extLst>
                </p:cNvPr>
                <p:cNvSpPr/>
                <p:nvPr/>
              </p:nvSpPr>
              <p:spPr>
                <a:xfrm>
                  <a:off x="6875812" y="1373188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Elevation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F97A0DE-2BFC-D4A7-6FEC-4C9F8E35538E}"/>
                    </a:ext>
                  </a:extLst>
                </p:cNvPr>
                <p:cNvSpPr/>
                <p:nvPr/>
              </p:nvSpPr>
              <p:spPr>
                <a:xfrm>
                  <a:off x="7873339" y="1373188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Slope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27F4618-9DFF-F73E-77D9-D982FA4060B3}"/>
                  </a:ext>
                </a:extLst>
              </p:cNvPr>
              <p:cNvSpPr/>
              <p:nvPr/>
            </p:nvSpPr>
            <p:spPr>
              <a:xfrm>
                <a:off x="10936004" y="1860187"/>
                <a:ext cx="984659" cy="648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Clay</a:t>
                </a: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content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2524F6D3-47FB-405C-FF99-C0115B3D8C7A}"/>
                  </a:ext>
                </a:extLst>
              </p:cNvPr>
              <p:cNvGrpSpPr/>
              <p:nvPr/>
            </p:nvGrpSpPr>
            <p:grpSpPr>
              <a:xfrm>
                <a:off x="6267468" y="1880400"/>
                <a:ext cx="1224000" cy="653724"/>
                <a:chOff x="6936819" y="1587909"/>
                <a:chExt cx="1224000" cy="653724"/>
              </a:xfrm>
            </p:grpSpPr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277CF5F5-2504-99F6-2B17-996C85F03E17}"/>
                    </a:ext>
                  </a:extLst>
                </p:cNvPr>
                <p:cNvSpPr/>
                <p:nvPr/>
              </p:nvSpPr>
              <p:spPr>
                <a:xfrm>
                  <a:off x="6936819" y="1587909"/>
                  <a:ext cx="1224000" cy="324000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Climate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7D5928B6-CCB6-E31E-5E1E-CB6FBD534279}"/>
                    </a:ext>
                  </a:extLst>
                </p:cNvPr>
                <p:cNvSpPr/>
                <p:nvPr/>
              </p:nvSpPr>
              <p:spPr>
                <a:xfrm>
                  <a:off x="6936819" y="1917633"/>
                  <a:ext cx="612000" cy="324000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MAT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78566F6-326D-9B11-DBA4-BAE679613DC6}"/>
                    </a:ext>
                  </a:extLst>
                </p:cNvPr>
                <p:cNvSpPr/>
                <p:nvPr/>
              </p:nvSpPr>
              <p:spPr>
                <a:xfrm>
                  <a:off x="7545954" y="1917633"/>
                  <a:ext cx="612000" cy="324000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MAP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CF71BECB-6337-34E7-349F-EA10C416E01A}"/>
                  </a:ext>
                </a:extLst>
              </p:cNvPr>
              <p:cNvGrpSpPr/>
              <p:nvPr/>
            </p:nvGrpSpPr>
            <p:grpSpPr>
              <a:xfrm>
                <a:off x="8552094" y="1873286"/>
                <a:ext cx="1315789" cy="653724"/>
                <a:chOff x="6936819" y="1576034"/>
                <a:chExt cx="1315789" cy="653724"/>
              </a:xfrm>
            </p:grpSpPr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5B65F5FC-B1FC-1D06-580B-0A755D2DBA8D}"/>
                    </a:ext>
                  </a:extLst>
                </p:cNvPr>
                <p:cNvSpPr/>
                <p:nvPr/>
              </p:nvSpPr>
              <p:spPr>
                <a:xfrm>
                  <a:off x="6936820" y="1576034"/>
                  <a:ext cx="1315788" cy="324000"/>
                </a:xfrm>
                <a:prstGeom prst="rect">
                  <a:avLst/>
                </a:prstGeom>
                <a:solidFill>
                  <a:srgbClr val="7030A0">
                    <a:alpha val="30000"/>
                  </a:srgbClr>
                </a:solidFill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Seasonality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14B5BE0A-ED5B-4493-4CF6-F684E24DF8A5}"/>
                    </a:ext>
                  </a:extLst>
                </p:cNvPr>
                <p:cNvSpPr/>
                <p:nvPr/>
              </p:nvSpPr>
              <p:spPr>
                <a:xfrm>
                  <a:off x="6936819" y="1905758"/>
                  <a:ext cx="658800" cy="324000"/>
                </a:xfrm>
                <a:prstGeom prst="rect">
                  <a:avLst/>
                </a:prstGeom>
                <a:noFill/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TS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38874FF2-F0A9-0FC3-E7C0-157CA3728479}"/>
                    </a:ext>
                  </a:extLst>
                </p:cNvPr>
                <p:cNvSpPr/>
                <p:nvPr/>
              </p:nvSpPr>
              <p:spPr>
                <a:xfrm>
                  <a:off x="7593808" y="1905758"/>
                  <a:ext cx="658800" cy="324000"/>
                </a:xfrm>
                <a:prstGeom prst="rect">
                  <a:avLst/>
                </a:prstGeom>
                <a:noFill/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PS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B794872E-B58A-A4B0-1AD9-E09081663C9B}"/>
                  </a:ext>
                </a:extLst>
              </p:cNvPr>
              <p:cNvGrpSpPr/>
              <p:nvPr/>
            </p:nvGrpSpPr>
            <p:grpSpPr>
              <a:xfrm>
                <a:off x="10727908" y="3340206"/>
                <a:ext cx="1204630" cy="653724"/>
                <a:chOff x="6936820" y="1587909"/>
                <a:chExt cx="1204630" cy="653724"/>
              </a:xfrm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74B4EFC4-1155-52A0-7C6D-7E6C2B1160C0}"/>
                    </a:ext>
                  </a:extLst>
                </p:cNvPr>
                <p:cNvSpPr/>
                <p:nvPr/>
              </p:nvSpPr>
              <p:spPr>
                <a:xfrm>
                  <a:off x="6936820" y="1587909"/>
                  <a:ext cx="1204629" cy="324000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Soil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93000C1-0ECF-E1A5-C2FF-081C937E0F2E}"/>
                    </a:ext>
                  </a:extLst>
                </p:cNvPr>
                <p:cNvSpPr/>
                <p:nvPr/>
              </p:nvSpPr>
              <p:spPr>
                <a:xfrm>
                  <a:off x="6936820" y="1917633"/>
                  <a:ext cx="549757" cy="32400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pH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6F1EA22E-5F27-9A45-DCB2-956FB0C28BB8}"/>
                    </a:ext>
                  </a:extLst>
                </p:cNvPr>
                <p:cNvSpPr/>
                <p:nvPr/>
              </p:nvSpPr>
              <p:spPr>
                <a:xfrm>
                  <a:off x="7486579" y="1917633"/>
                  <a:ext cx="654871" cy="32400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BD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BA6667BA-3C37-7494-ADA8-953384EC5EE7}"/>
                  </a:ext>
                </a:extLst>
              </p:cNvPr>
              <p:cNvGrpSpPr/>
              <p:nvPr/>
            </p:nvGrpSpPr>
            <p:grpSpPr>
              <a:xfrm>
                <a:off x="6488569" y="3326490"/>
                <a:ext cx="2882230" cy="653947"/>
                <a:chOff x="6737362" y="3356657"/>
                <a:chExt cx="2882230" cy="653947"/>
              </a:xfrm>
            </p:grpSpPr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8A7F3D41-E60A-D52D-A553-5AED3757D782}"/>
                    </a:ext>
                  </a:extLst>
                </p:cNvPr>
                <p:cNvSpPr/>
                <p:nvPr/>
              </p:nvSpPr>
              <p:spPr>
                <a:xfrm>
                  <a:off x="6737362" y="3356657"/>
                  <a:ext cx="2882229" cy="32400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Vegetation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846E6B09-0944-59EF-32CD-59AD9542E724}"/>
                    </a:ext>
                  </a:extLst>
                </p:cNvPr>
                <p:cNvSpPr/>
                <p:nvPr/>
              </p:nvSpPr>
              <p:spPr>
                <a:xfrm>
                  <a:off x="6737363" y="3686604"/>
                  <a:ext cx="576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GPP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07C86283-A5A9-E569-1415-05D99823FE37}"/>
                    </a:ext>
                  </a:extLst>
                </p:cNvPr>
                <p:cNvSpPr/>
                <p:nvPr/>
              </p:nvSpPr>
              <p:spPr>
                <a:xfrm>
                  <a:off x="7315880" y="3686604"/>
                  <a:ext cx="1296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Shannon_EVI</a:t>
                  </a:r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50B7807B-4946-42D9-70D2-35001DD8989F}"/>
                    </a:ext>
                  </a:extLst>
                </p:cNvPr>
                <p:cNvSpPr/>
                <p:nvPr/>
              </p:nvSpPr>
              <p:spPr>
                <a:xfrm>
                  <a:off x="8611592" y="3686604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Rootdepth</a:t>
                  </a:r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4D48F2B-5181-13C3-2C3C-3275DBF0DAD1}"/>
                  </a:ext>
                </a:extLst>
              </p:cNvPr>
              <p:cNvSpPr/>
              <p:nvPr/>
            </p:nvSpPr>
            <p:spPr>
              <a:xfrm>
                <a:off x="8968819" y="4595760"/>
                <a:ext cx="1440000" cy="31383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CUE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3B9D9FA3-6E9F-D2AA-0752-F61D151D18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68224" y="1243344"/>
                <a:ext cx="743370" cy="631332"/>
              </a:xfrm>
              <a:prstGeom prst="straightConnector1">
                <a:avLst/>
              </a:prstGeom>
              <a:ln w="254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44F80AF-5BFF-0620-98C1-CB87ABD9D610}"/>
                  </a:ext>
                </a:extLst>
              </p:cNvPr>
              <p:cNvSpPr txBox="1"/>
              <p:nvPr/>
            </p:nvSpPr>
            <p:spPr>
              <a:xfrm>
                <a:off x="6223634" y="1640389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0.01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7B22B3-3924-FC83-6624-EDB73BF4BA6A}"/>
                  </a:ext>
                </a:extLst>
              </p:cNvPr>
              <p:cNvSpPr txBox="1"/>
              <p:nvPr/>
            </p:nvSpPr>
            <p:spPr>
              <a:xfrm rot="19376878">
                <a:off x="7420589" y="1290883"/>
                <a:ext cx="8046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-0.12*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6DB1CA8-B62F-6DA3-F83E-D701AD8D6973}"/>
                  </a:ext>
                </a:extLst>
              </p:cNvPr>
              <p:cNvCxnSpPr>
                <a:cxnSpLocks/>
                <a:endCxn id="41" idx="0"/>
              </p:cNvCxnSpPr>
              <p:nvPr/>
            </p:nvCxnSpPr>
            <p:spPr>
              <a:xfrm>
                <a:off x="7468224" y="2523655"/>
                <a:ext cx="461460" cy="802835"/>
              </a:xfrm>
              <a:prstGeom prst="straightConnector1">
                <a:avLst/>
              </a:prstGeom>
              <a:ln w="571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5CC410CB-265C-2B74-EA5A-8ED71CCAE0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04807" y="1252401"/>
                <a:ext cx="17057" cy="644635"/>
              </a:xfrm>
              <a:prstGeom prst="straightConnector1">
                <a:avLst/>
              </a:prstGeom>
              <a:ln w="28575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032A589-C3E7-2E14-9538-3BE9B19FDB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11846" y="1250776"/>
                <a:ext cx="720000" cy="62942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5E9C8CE-9EB8-1848-CF2C-8F4EFB5C8F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03849" y="2204400"/>
                <a:ext cx="1044000" cy="0"/>
              </a:xfrm>
              <a:prstGeom prst="straightConnector1">
                <a:avLst/>
              </a:prstGeom>
              <a:ln w="508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81DBA87E-B687-50FA-881D-CCFF011932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67883" y="2212069"/>
                <a:ext cx="1063963" cy="0"/>
              </a:xfrm>
              <a:prstGeom prst="straightConnector1">
                <a:avLst/>
              </a:prstGeom>
              <a:ln w="28575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1EA06883-5B8A-7349-A5CA-3498081F0A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66315" y="2523529"/>
                <a:ext cx="1339423" cy="788604"/>
              </a:xfrm>
              <a:prstGeom prst="straightConnector1">
                <a:avLst/>
              </a:prstGeom>
              <a:ln w="444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1B831B5-111D-2B45-1E96-DA20AC3C84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97920" y="2508187"/>
                <a:ext cx="0" cy="829342"/>
              </a:xfrm>
              <a:prstGeom prst="straightConnector1">
                <a:avLst/>
              </a:prstGeom>
              <a:ln w="2222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AF3F8D72-31E2-E4DC-F9C4-B97E750555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29684" y="2541902"/>
                <a:ext cx="1274162" cy="772713"/>
              </a:xfrm>
              <a:prstGeom prst="straightConnector1">
                <a:avLst/>
              </a:prstGeom>
              <a:ln w="317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30C7FE44-D7C6-39B4-A960-5EE87FD3A0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70798" y="3659217"/>
                <a:ext cx="1357109" cy="16864"/>
              </a:xfrm>
              <a:prstGeom prst="straightConnector1">
                <a:avLst/>
              </a:prstGeom>
              <a:ln w="15875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8D843A6E-35AD-96F0-62E2-9609E0353A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60282" y="3980437"/>
                <a:ext cx="936449" cy="605356"/>
              </a:xfrm>
              <a:prstGeom prst="straightConnector1">
                <a:avLst/>
              </a:prstGeom>
              <a:ln w="3175">
                <a:solidFill>
                  <a:srgbClr val="C0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D3BE6F22-98D6-0311-35CE-EAD4784AF7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37477" y="3987183"/>
                <a:ext cx="703187" cy="593685"/>
              </a:xfrm>
              <a:prstGeom prst="straightConnector1">
                <a:avLst/>
              </a:prstGeom>
              <a:ln w="444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9681E84-2382-1E37-8D9D-4B8D5EA1AB01}"/>
                  </a:ext>
                </a:extLst>
              </p:cNvPr>
              <p:cNvSpPr txBox="1"/>
              <p:nvPr/>
            </p:nvSpPr>
            <p:spPr>
              <a:xfrm>
                <a:off x="8409206" y="1652263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0.80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03BCF56-2BD5-1915-62CF-32C4548D1B07}"/>
                  </a:ext>
                </a:extLst>
              </p:cNvPr>
              <p:cNvSpPr txBox="1"/>
              <p:nvPr/>
            </p:nvSpPr>
            <p:spPr>
              <a:xfrm>
                <a:off x="10946971" y="1640389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0.08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69F86A-923E-61B3-CFB5-EDEAEE7FEE81}"/>
                  </a:ext>
                </a:extLst>
              </p:cNvPr>
              <p:cNvSpPr txBox="1"/>
              <p:nvPr/>
            </p:nvSpPr>
            <p:spPr>
              <a:xfrm>
                <a:off x="6681488" y="3082681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0.63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DAA5E37-6A1A-9C5E-C604-A6A81DD2EFBA}"/>
                  </a:ext>
                </a:extLst>
              </p:cNvPr>
              <p:cNvSpPr txBox="1"/>
              <p:nvPr/>
            </p:nvSpPr>
            <p:spPr>
              <a:xfrm>
                <a:off x="9275083" y="4363964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0.23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FD15AF8-64AA-844B-125D-551D2FC768F4}"/>
                  </a:ext>
                </a:extLst>
              </p:cNvPr>
              <p:cNvSpPr txBox="1"/>
              <p:nvPr/>
            </p:nvSpPr>
            <p:spPr>
              <a:xfrm>
                <a:off x="9186763" y="1404522"/>
                <a:ext cx="7242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-0.29***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227EBB7-DBF1-8226-911E-F929251BF3AF}"/>
                  </a:ext>
                </a:extLst>
              </p:cNvPr>
              <p:cNvSpPr txBox="1"/>
              <p:nvPr/>
            </p:nvSpPr>
            <p:spPr>
              <a:xfrm>
                <a:off x="7609386" y="1975273"/>
                <a:ext cx="7501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-0.88***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F1A5967-06A3-A8DA-AFA6-CD4D0204594A}"/>
                  </a:ext>
                </a:extLst>
              </p:cNvPr>
              <p:cNvSpPr txBox="1"/>
              <p:nvPr/>
            </p:nvSpPr>
            <p:spPr>
              <a:xfrm>
                <a:off x="10037477" y="1921033"/>
                <a:ext cx="8178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-0.25***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DF48281-614E-2473-CB55-720D2CC04A2E}"/>
                  </a:ext>
                </a:extLst>
              </p:cNvPr>
              <p:cNvSpPr txBox="1"/>
              <p:nvPr/>
            </p:nvSpPr>
            <p:spPr>
              <a:xfrm rot="2397490">
                <a:off x="10276998" y="1392606"/>
                <a:ext cx="8966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0.08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27040E5-AFDB-FE48-9AA1-E783FB30E92E}"/>
                  </a:ext>
                </a:extLst>
              </p:cNvPr>
              <p:cNvSpPr txBox="1"/>
              <p:nvPr/>
            </p:nvSpPr>
            <p:spPr>
              <a:xfrm rot="19628636">
                <a:off x="8482098" y="2749727"/>
                <a:ext cx="75248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-0.37***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0D5DC5E-3A5D-9144-272F-FFF52B044EC0}"/>
                  </a:ext>
                </a:extLst>
              </p:cNvPr>
              <p:cNvSpPr txBox="1"/>
              <p:nvPr/>
            </p:nvSpPr>
            <p:spPr>
              <a:xfrm rot="3719290">
                <a:off x="7150757" y="2807851"/>
                <a:ext cx="7983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-0.99***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2F6B954-E1B7-C6FF-E67F-306B4C3E9EAB}"/>
                  </a:ext>
                </a:extLst>
              </p:cNvPr>
              <p:cNvSpPr txBox="1"/>
              <p:nvPr/>
            </p:nvSpPr>
            <p:spPr>
              <a:xfrm>
                <a:off x="9856184" y="3427721"/>
                <a:ext cx="7747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-0.15***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76A6EBE-07A9-246B-F2D9-1636516FFB24}"/>
                  </a:ext>
                </a:extLst>
              </p:cNvPr>
              <p:cNvSpPr txBox="1"/>
              <p:nvPr/>
            </p:nvSpPr>
            <p:spPr>
              <a:xfrm rot="1915999">
                <a:off x="8612493" y="4117907"/>
                <a:ext cx="7491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0.003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1208A96-F8B1-BE20-9C13-B28D9E223ED2}"/>
                  </a:ext>
                </a:extLst>
              </p:cNvPr>
              <p:cNvSpPr txBox="1"/>
              <p:nvPr/>
            </p:nvSpPr>
            <p:spPr>
              <a:xfrm rot="19364745">
                <a:off x="10052443" y="3999008"/>
                <a:ext cx="76686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-0.47***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2A693CC-30C3-1E68-B6BA-903375DF13CD}"/>
                  </a:ext>
                </a:extLst>
              </p:cNvPr>
              <p:cNvSpPr txBox="1"/>
              <p:nvPr/>
            </p:nvSpPr>
            <p:spPr>
              <a:xfrm>
                <a:off x="11266007" y="2715773"/>
                <a:ext cx="7002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0.26***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02B32ED-669D-EF9D-4750-2D0E3C7A3FE7}"/>
                  </a:ext>
                </a:extLst>
              </p:cNvPr>
              <p:cNvSpPr txBox="1"/>
              <p:nvPr/>
            </p:nvSpPr>
            <p:spPr>
              <a:xfrm rot="1651559">
                <a:off x="10141060" y="2633469"/>
                <a:ext cx="7438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-0.56***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8B4DF56-21C8-01A9-30FA-C4BA68EFEEFC}"/>
                  </a:ext>
                </a:extLst>
              </p:cNvPr>
              <p:cNvSpPr txBox="1"/>
              <p:nvPr/>
            </p:nvSpPr>
            <p:spPr>
              <a:xfrm>
                <a:off x="6823097" y="4601816"/>
                <a:ext cx="1124026" cy="3079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GOF = 0.50</a:t>
                </a: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C0C59B3F-A599-210B-F310-B5452AE689CB}"/>
                </a:ext>
              </a:extLst>
            </p:cNvPr>
            <p:cNvGrpSpPr/>
            <p:nvPr/>
          </p:nvGrpSpPr>
          <p:grpSpPr>
            <a:xfrm>
              <a:off x="90125" y="683608"/>
              <a:ext cx="5870741" cy="4335839"/>
              <a:chOff x="6223634" y="589620"/>
              <a:chExt cx="5870741" cy="4335839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ED78C62-2C72-5E0B-7DB9-09ACE28A23AE}"/>
                  </a:ext>
                </a:extLst>
              </p:cNvPr>
              <p:cNvSpPr txBox="1"/>
              <p:nvPr/>
            </p:nvSpPr>
            <p:spPr>
              <a:xfrm>
                <a:off x="11266904" y="3110354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0.17</a:t>
                </a:r>
              </a:p>
            </p:txBody>
          </p: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9F0638F4-A6EB-3A06-A8B2-B7B18EFCE1E9}"/>
                  </a:ext>
                </a:extLst>
              </p:cNvPr>
              <p:cNvGrpSpPr/>
              <p:nvPr/>
            </p:nvGrpSpPr>
            <p:grpSpPr>
              <a:xfrm>
                <a:off x="8206319" y="589620"/>
                <a:ext cx="2005527" cy="653724"/>
                <a:chOff x="6875812" y="1043464"/>
                <a:chExt cx="2005527" cy="65372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9138B27A-CA55-DCD5-E26B-00273520C79A}"/>
                    </a:ext>
                  </a:extLst>
                </p:cNvPr>
                <p:cNvSpPr/>
                <p:nvPr/>
              </p:nvSpPr>
              <p:spPr>
                <a:xfrm>
                  <a:off x="6875812" y="1043464"/>
                  <a:ext cx="2005527" cy="324000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Topography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E304E46E-C01C-6AF3-FB42-1BFED2C814F1}"/>
                    </a:ext>
                  </a:extLst>
                </p:cNvPr>
                <p:cNvSpPr/>
                <p:nvPr/>
              </p:nvSpPr>
              <p:spPr>
                <a:xfrm>
                  <a:off x="6875812" y="1373188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Elevation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E0FC1ABF-4CA0-F61E-67DA-AA5473470DC0}"/>
                    </a:ext>
                  </a:extLst>
                </p:cNvPr>
                <p:cNvSpPr/>
                <p:nvPr/>
              </p:nvSpPr>
              <p:spPr>
                <a:xfrm>
                  <a:off x="7873339" y="1373188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Slope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F82B07A6-4FB3-FC14-ECFE-09CBF18E03CD}"/>
                  </a:ext>
                </a:extLst>
              </p:cNvPr>
              <p:cNvSpPr/>
              <p:nvPr/>
            </p:nvSpPr>
            <p:spPr>
              <a:xfrm>
                <a:off x="10936004" y="1860187"/>
                <a:ext cx="984659" cy="648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Clay</a:t>
                </a: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content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D8B5F35E-495F-EC41-B3F7-2837570C1BA2}"/>
                  </a:ext>
                </a:extLst>
              </p:cNvPr>
              <p:cNvGrpSpPr/>
              <p:nvPr/>
            </p:nvGrpSpPr>
            <p:grpSpPr>
              <a:xfrm>
                <a:off x="6267468" y="1880400"/>
                <a:ext cx="1224000" cy="653724"/>
                <a:chOff x="6936819" y="1587909"/>
                <a:chExt cx="1224000" cy="653724"/>
              </a:xfrm>
            </p:grpSpPr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57FF5809-DC3B-12A7-4335-470A570B2193}"/>
                    </a:ext>
                  </a:extLst>
                </p:cNvPr>
                <p:cNvSpPr/>
                <p:nvPr/>
              </p:nvSpPr>
              <p:spPr>
                <a:xfrm>
                  <a:off x="6936819" y="1587909"/>
                  <a:ext cx="1224000" cy="324000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Climate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9823F29B-6054-27A0-0A1E-CDBDDD4D3DFC}"/>
                    </a:ext>
                  </a:extLst>
                </p:cNvPr>
                <p:cNvSpPr/>
                <p:nvPr/>
              </p:nvSpPr>
              <p:spPr>
                <a:xfrm>
                  <a:off x="6936819" y="1917633"/>
                  <a:ext cx="612000" cy="324000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MAT</a:t>
                  </a:r>
                </a:p>
                <a:p>
                  <a:pPr algn="ctr"/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5865A653-027D-1EAA-30CF-C5EA2B209B93}"/>
                    </a:ext>
                  </a:extLst>
                </p:cNvPr>
                <p:cNvSpPr/>
                <p:nvPr/>
              </p:nvSpPr>
              <p:spPr>
                <a:xfrm>
                  <a:off x="7545954" y="1917633"/>
                  <a:ext cx="612000" cy="324000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MAP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11E3C994-8E9B-7887-012E-34A0A709C519}"/>
                  </a:ext>
                </a:extLst>
              </p:cNvPr>
              <p:cNvGrpSpPr/>
              <p:nvPr/>
            </p:nvGrpSpPr>
            <p:grpSpPr>
              <a:xfrm>
                <a:off x="8552094" y="1873286"/>
                <a:ext cx="1315789" cy="653724"/>
                <a:chOff x="6936819" y="1576034"/>
                <a:chExt cx="1315789" cy="653724"/>
              </a:xfrm>
            </p:grpSpPr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A4A1A56D-C6EE-514B-745F-AA2620864AB4}"/>
                    </a:ext>
                  </a:extLst>
                </p:cNvPr>
                <p:cNvSpPr/>
                <p:nvPr/>
              </p:nvSpPr>
              <p:spPr>
                <a:xfrm>
                  <a:off x="6936820" y="1576034"/>
                  <a:ext cx="1315788" cy="324000"/>
                </a:xfrm>
                <a:prstGeom prst="rect">
                  <a:avLst/>
                </a:prstGeom>
                <a:solidFill>
                  <a:srgbClr val="7030A0">
                    <a:alpha val="30000"/>
                  </a:srgbClr>
                </a:solidFill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Seasonality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37FBBA4E-4190-9243-EC6B-AA7C50CB0CA7}"/>
                    </a:ext>
                  </a:extLst>
                </p:cNvPr>
                <p:cNvSpPr/>
                <p:nvPr/>
              </p:nvSpPr>
              <p:spPr>
                <a:xfrm>
                  <a:off x="6936819" y="1905758"/>
                  <a:ext cx="658800" cy="324000"/>
                </a:xfrm>
                <a:prstGeom prst="rect">
                  <a:avLst/>
                </a:prstGeom>
                <a:noFill/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TS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871D3070-CA3C-A151-D4D5-E72B34A0ED95}"/>
                    </a:ext>
                  </a:extLst>
                </p:cNvPr>
                <p:cNvSpPr/>
                <p:nvPr/>
              </p:nvSpPr>
              <p:spPr>
                <a:xfrm>
                  <a:off x="7593808" y="1905758"/>
                  <a:ext cx="658800" cy="324000"/>
                </a:xfrm>
                <a:prstGeom prst="rect">
                  <a:avLst/>
                </a:prstGeom>
                <a:noFill/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PS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5FB0C4BD-4334-688D-A54C-0C28C76A4578}"/>
                  </a:ext>
                </a:extLst>
              </p:cNvPr>
              <p:cNvGrpSpPr/>
              <p:nvPr/>
            </p:nvGrpSpPr>
            <p:grpSpPr>
              <a:xfrm>
                <a:off x="10727908" y="3340206"/>
                <a:ext cx="1204630" cy="653724"/>
                <a:chOff x="6936820" y="1587909"/>
                <a:chExt cx="1204630" cy="653724"/>
              </a:xfrm>
            </p:grpSpPr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A9F3F069-B0FE-3795-77D9-C0A14ABF2163}"/>
                    </a:ext>
                  </a:extLst>
                </p:cNvPr>
                <p:cNvSpPr/>
                <p:nvPr/>
              </p:nvSpPr>
              <p:spPr>
                <a:xfrm>
                  <a:off x="6936820" y="1587909"/>
                  <a:ext cx="1204629" cy="324000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Soil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31647B19-78CF-397B-1D2F-EDEA66F2A84F}"/>
                    </a:ext>
                  </a:extLst>
                </p:cNvPr>
                <p:cNvSpPr/>
                <p:nvPr/>
              </p:nvSpPr>
              <p:spPr>
                <a:xfrm>
                  <a:off x="6936820" y="1917633"/>
                  <a:ext cx="549757" cy="32400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pH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B76FE37C-0DB8-A209-875D-72DC1CF07305}"/>
                    </a:ext>
                  </a:extLst>
                </p:cNvPr>
                <p:cNvSpPr/>
                <p:nvPr/>
              </p:nvSpPr>
              <p:spPr>
                <a:xfrm>
                  <a:off x="7486579" y="1917633"/>
                  <a:ext cx="654871" cy="32400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BD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391A9DEA-4B85-77F6-7DF0-031534EFD7F2}"/>
                  </a:ext>
                </a:extLst>
              </p:cNvPr>
              <p:cNvGrpSpPr/>
              <p:nvPr/>
            </p:nvGrpSpPr>
            <p:grpSpPr>
              <a:xfrm>
                <a:off x="6488569" y="3326490"/>
                <a:ext cx="2882230" cy="653947"/>
                <a:chOff x="6737362" y="3356657"/>
                <a:chExt cx="2882230" cy="653947"/>
              </a:xfrm>
            </p:grpSpPr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4B2ECF82-25C2-67A6-FD29-BDCEC7A9C679}"/>
                    </a:ext>
                  </a:extLst>
                </p:cNvPr>
                <p:cNvSpPr/>
                <p:nvPr/>
              </p:nvSpPr>
              <p:spPr>
                <a:xfrm>
                  <a:off x="6737362" y="3356657"/>
                  <a:ext cx="2882229" cy="32400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Vegetation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D2527C76-0D6D-568F-F229-E956DBB1BB0D}"/>
                    </a:ext>
                  </a:extLst>
                </p:cNvPr>
                <p:cNvSpPr/>
                <p:nvPr/>
              </p:nvSpPr>
              <p:spPr>
                <a:xfrm>
                  <a:off x="6737363" y="3686604"/>
                  <a:ext cx="576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GPP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CCF157A2-93D3-3004-5685-8DC82136D0F0}"/>
                    </a:ext>
                  </a:extLst>
                </p:cNvPr>
                <p:cNvSpPr/>
                <p:nvPr/>
              </p:nvSpPr>
              <p:spPr>
                <a:xfrm>
                  <a:off x="7315880" y="3686604"/>
                  <a:ext cx="1296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Shannon_EVI</a:t>
                  </a:r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C8F8CFAB-2288-1529-665C-42839837A5BC}"/>
                    </a:ext>
                  </a:extLst>
                </p:cNvPr>
                <p:cNvSpPr/>
                <p:nvPr/>
              </p:nvSpPr>
              <p:spPr>
                <a:xfrm>
                  <a:off x="8611592" y="3686604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Rootdepth</a:t>
                  </a:r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08BACE5-7C29-7BBE-32F8-EC83627990ED}"/>
                  </a:ext>
                </a:extLst>
              </p:cNvPr>
              <p:cNvSpPr/>
              <p:nvPr/>
            </p:nvSpPr>
            <p:spPr>
              <a:xfrm>
                <a:off x="8968819" y="4595760"/>
                <a:ext cx="1440000" cy="31383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CUE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279A8165-8969-74DD-7E93-6247FABC60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68224" y="1243344"/>
                <a:ext cx="743370" cy="631332"/>
              </a:xfrm>
              <a:prstGeom prst="straightConnector1">
                <a:avLst/>
              </a:prstGeom>
              <a:ln w="444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18413E9-1840-32DE-ED37-FD2F2E747031}"/>
                  </a:ext>
                </a:extLst>
              </p:cNvPr>
              <p:cNvSpPr txBox="1"/>
              <p:nvPr/>
            </p:nvSpPr>
            <p:spPr>
              <a:xfrm>
                <a:off x="6223634" y="1640389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0.22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3949209-F2A8-CD73-4639-5C829B0D3017}"/>
                  </a:ext>
                </a:extLst>
              </p:cNvPr>
              <p:cNvSpPr txBox="1"/>
              <p:nvPr/>
            </p:nvSpPr>
            <p:spPr>
              <a:xfrm rot="19376878">
                <a:off x="7420589" y="1290883"/>
                <a:ext cx="8046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-0.46***</a:t>
                </a:r>
              </a:p>
            </p:txBody>
          </p: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C5AA62EE-2574-EE05-76D6-79DDDAF414CD}"/>
                  </a:ext>
                </a:extLst>
              </p:cNvPr>
              <p:cNvCxnSpPr>
                <a:cxnSpLocks/>
                <a:endCxn id="96" idx="0"/>
              </p:cNvCxnSpPr>
              <p:nvPr/>
            </p:nvCxnSpPr>
            <p:spPr>
              <a:xfrm>
                <a:off x="7468224" y="2523655"/>
                <a:ext cx="461460" cy="802835"/>
              </a:xfrm>
              <a:prstGeom prst="straightConnector1">
                <a:avLst/>
              </a:prstGeom>
              <a:ln w="571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49AC120-92B0-A0DF-8B3C-3E6B3A111E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04807" y="1252401"/>
                <a:ext cx="17057" cy="644635"/>
              </a:xfrm>
              <a:prstGeom prst="straightConnector1">
                <a:avLst/>
              </a:prstGeom>
              <a:ln w="381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C986E057-DC5E-C9A2-7327-9CD4687592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11846" y="1250776"/>
                <a:ext cx="720000" cy="629425"/>
              </a:xfrm>
              <a:prstGeom prst="straightConnector1">
                <a:avLst/>
              </a:prstGeom>
              <a:ln w="317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55B08540-5541-1EA3-D4BC-8A3630E2BB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15724" y="2204400"/>
                <a:ext cx="1044000" cy="0"/>
              </a:xfrm>
              <a:prstGeom prst="straightConnector1">
                <a:avLst/>
              </a:prstGeom>
              <a:ln w="190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53CFCF59-F0E8-4921-5186-445DD30E6B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67883" y="2212069"/>
                <a:ext cx="1063963" cy="0"/>
              </a:xfrm>
              <a:prstGeom prst="straightConnector1">
                <a:avLst/>
              </a:prstGeom>
              <a:ln w="571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8A21EC9E-9468-0E91-9FC8-7CE18030C3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66315" y="2523529"/>
                <a:ext cx="1339423" cy="788604"/>
              </a:xfrm>
              <a:prstGeom prst="straightConnector1">
                <a:avLst/>
              </a:prstGeom>
              <a:ln w="381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059F262D-5F57-07C3-E466-22604A5708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97920" y="2508187"/>
                <a:ext cx="0" cy="829342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92D78CD-04F7-68E3-04B9-FB775FE4BA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29684" y="2541902"/>
                <a:ext cx="1274162" cy="772713"/>
              </a:xfrm>
              <a:prstGeom prst="straightConnector1">
                <a:avLst/>
              </a:prstGeom>
              <a:ln w="127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E2FE34BD-47D7-3C9B-0EF8-40DAE57651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70798" y="3659217"/>
                <a:ext cx="1357109" cy="16864"/>
              </a:xfrm>
              <a:prstGeom prst="straightConnector1">
                <a:avLst/>
              </a:prstGeom>
              <a:ln w="15875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5075B66A-F291-CC91-267E-A20BAF8DFB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60282" y="3980437"/>
                <a:ext cx="936449" cy="605356"/>
              </a:xfrm>
              <a:prstGeom prst="straightConnector1">
                <a:avLst/>
              </a:prstGeom>
              <a:ln w="41275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FD8012BC-A819-418C-C663-E0028B7D8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37477" y="3987183"/>
                <a:ext cx="703187" cy="593685"/>
              </a:xfrm>
              <a:prstGeom prst="straightConnector1">
                <a:avLst/>
              </a:prstGeom>
              <a:ln w="381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B575D3C-CC7A-25F6-1D78-2F4E5017BD0F}"/>
                  </a:ext>
                </a:extLst>
              </p:cNvPr>
              <p:cNvSpPr txBox="1"/>
              <p:nvPr/>
            </p:nvSpPr>
            <p:spPr>
              <a:xfrm>
                <a:off x="8409206" y="1652263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0.80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527FFF84-F005-CBB1-14E3-76DE69400A11}"/>
                  </a:ext>
                </a:extLst>
              </p:cNvPr>
              <p:cNvSpPr txBox="1"/>
              <p:nvPr/>
            </p:nvSpPr>
            <p:spPr>
              <a:xfrm>
                <a:off x="10946972" y="1640389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0.36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90128B7-B112-A36A-BD14-1F9D49D5260C}"/>
                  </a:ext>
                </a:extLst>
              </p:cNvPr>
              <p:cNvSpPr txBox="1"/>
              <p:nvPr/>
            </p:nvSpPr>
            <p:spPr>
              <a:xfrm>
                <a:off x="6681488" y="3082682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0.63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8951E93-0B1A-62FC-0D26-1FE212553192}"/>
                  </a:ext>
                </a:extLst>
              </p:cNvPr>
              <p:cNvSpPr txBox="1"/>
              <p:nvPr/>
            </p:nvSpPr>
            <p:spPr>
              <a:xfrm>
                <a:off x="9275083" y="4363964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0.16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2AA7F13-9F83-F289-E94B-F75497B5FD94}"/>
                  </a:ext>
                </a:extLst>
              </p:cNvPr>
              <p:cNvSpPr txBox="1"/>
              <p:nvPr/>
            </p:nvSpPr>
            <p:spPr>
              <a:xfrm>
                <a:off x="9186763" y="1404522"/>
                <a:ext cx="7242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-0.34***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1DD2A128-875E-F27B-0ED9-B4F1CE85B649}"/>
                  </a:ext>
                </a:extLst>
              </p:cNvPr>
              <p:cNvSpPr txBox="1"/>
              <p:nvPr/>
            </p:nvSpPr>
            <p:spPr>
              <a:xfrm>
                <a:off x="7609384" y="1975273"/>
                <a:ext cx="7501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-1.00***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9CB82E4-A2CB-6521-B695-336A27D251EF}"/>
                  </a:ext>
                </a:extLst>
              </p:cNvPr>
              <p:cNvSpPr txBox="1"/>
              <p:nvPr/>
            </p:nvSpPr>
            <p:spPr>
              <a:xfrm>
                <a:off x="10037477" y="1921033"/>
                <a:ext cx="8178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-0.52***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1720FFF-3211-5BAD-47BD-EAC0BBF96A3D}"/>
                  </a:ext>
                </a:extLst>
              </p:cNvPr>
              <p:cNvSpPr txBox="1"/>
              <p:nvPr/>
            </p:nvSpPr>
            <p:spPr>
              <a:xfrm rot="2397490">
                <a:off x="10276999" y="1392606"/>
                <a:ext cx="8966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-0.23***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B0CB22E-C832-1B94-EE15-26AB429645F0}"/>
                  </a:ext>
                </a:extLst>
              </p:cNvPr>
              <p:cNvSpPr txBox="1"/>
              <p:nvPr/>
            </p:nvSpPr>
            <p:spPr>
              <a:xfrm rot="20198467">
                <a:off x="8489566" y="2785854"/>
                <a:ext cx="5702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-0.03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AEC5D4B-3D4B-75EA-D352-A99199C6A133}"/>
                  </a:ext>
                </a:extLst>
              </p:cNvPr>
              <p:cNvSpPr txBox="1"/>
              <p:nvPr/>
            </p:nvSpPr>
            <p:spPr>
              <a:xfrm rot="3719290">
                <a:off x="7150757" y="2807851"/>
                <a:ext cx="7983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-0.82***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E8869E5-AF3B-200D-0BE5-958528654770}"/>
                  </a:ext>
                </a:extLst>
              </p:cNvPr>
              <p:cNvSpPr txBox="1"/>
              <p:nvPr/>
            </p:nvSpPr>
            <p:spPr>
              <a:xfrm>
                <a:off x="9856182" y="3427721"/>
                <a:ext cx="7747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-0.12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CA180E2-EEFB-8BF6-6FE3-9F1604186FE9}"/>
                  </a:ext>
                </a:extLst>
              </p:cNvPr>
              <p:cNvSpPr txBox="1"/>
              <p:nvPr/>
            </p:nvSpPr>
            <p:spPr>
              <a:xfrm rot="1915999">
                <a:off x="8612494" y="4117904"/>
                <a:ext cx="7491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-0.43***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375A98B-22C0-4595-7D60-E1AADA2F1570}"/>
                  </a:ext>
                </a:extLst>
              </p:cNvPr>
              <p:cNvSpPr txBox="1"/>
              <p:nvPr/>
            </p:nvSpPr>
            <p:spPr>
              <a:xfrm rot="19364745">
                <a:off x="10052443" y="3999009"/>
                <a:ext cx="76686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-0.26***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BDAF471-6F55-D84B-A8D4-CF98C014E0A1}"/>
                  </a:ext>
                </a:extLst>
              </p:cNvPr>
              <p:cNvSpPr txBox="1"/>
              <p:nvPr/>
            </p:nvSpPr>
            <p:spPr>
              <a:xfrm>
                <a:off x="11266005" y="2715773"/>
                <a:ext cx="7002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0.14***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AC6E085-9B1B-3271-1EA3-4DB076BF881C}"/>
                  </a:ext>
                </a:extLst>
              </p:cNvPr>
              <p:cNvSpPr txBox="1"/>
              <p:nvPr/>
            </p:nvSpPr>
            <p:spPr>
              <a:xfrm rot="1651559">
                <a:off x="10141060" y="2633470"/>
                <a:ext cx="74383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-0.32***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7BE158C-BCB1-92D7-9072-894CF5643B7E}"/>
                  </a:ext>
                </a:extLst>
              </p:cNvPr>
              <p:cNvSpPr txBox="1"/>
              <p:nvPr/>
            </p:nvSpPr>
            <p:spPr>
              <a:xfrm>
                <a:off x="6875390" y="4617554"/>
                <a:ext cx="1124026" cy="3079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GOF = 0.51</a:t>
                </a:r>
              </a:p>
            </p:txBody>
          </p:sp>
        </p:grp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738B7517-20F1-4288-054F-E002D3ED8933}"/>
                </a:ext>
              </a:extLst>
            </p:cNvPr>
            <p:cNvSpPr txBox="1"/>
            <p:nvPr/>
          </p:nvSpPr>
          <p:spPr>
            <a:xfrm>
              <a:off x="790624" y="617043"/>
              <a:ext cx="937308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c) Topsoil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7290ED3C-86E5-7898-44FF-B9808B351575}"/>
                </a:ext>
              </a:extLst>
            </p:cNvPr>
            <p:cNvSpPr txBox="1"/>
            <p:nvPr/>
          </p:nvSpPr>
          <p:spPr>
            <a:xfrm>
              <a:off x="6277667" y="683608"/>
              <a:ext cx="981359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d) Subsoil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51A9DBFD-4866-92DE-A1D3-316C5C533062}"/>
                </a:ext>
              </a:extLst>
            </p:cNvPr>
            <p:cNvCxnSpPr>
              <a:cxnSpLocks/>
            </p:cNvCxnSpPr>
            <p:nvPr/>
          </p:nvCxnSpPr>
          <p:spPr>
            <a:xfrm>
              <a:off x="7305418" y="5370302"/>
              <a:ext cx="1096672" cy="0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4F120792-945D-6058-1BAB-2BCACF8DFF19}"/>
                </a:ext>
              </a:extLst>
            </p:cNvPr>
            <p:cNvCxnSpPr>
              <a:cxnSpLocks/>
            </p:cNvCxnSpPr>
            <p:nvPr/>
          </p:nvCxnSpPr>
          <p:spPr>
            <a:xfrm>
              <a:off x="4584159" y="5356014"/>
              <a:ext cx="1096672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6A6AAB0-114E-7D57-3D9D-E2FB7ECB6C0D}"/>
                </a:ext>
              </a:extLst>
            </p:cNvPr>
            <p:cNvSpPr txBox="1"/>
            <p:nvPr/>
          </p:nvSpPr>
          <p:spPr>
            <a:xfrm>
              <a:off x="3276361" y="5205459"/>
              <a:ext cx="1297086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Positive effect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599B730-0898-6BED-E92C-735A91A5BF01}"/>
                </a:ext>
              </a:extLst>
            </p:cNvPr>
            <p:cNvSpPr txBox="1"/>
            <p:nvPr/>
          </p:nvSpPr>
          <p:spPr>
            <a:xfrm>
              <a:off x="5899497" y="5216414"/>
              <a:ext cx="1375633" cy="307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Negative effect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92205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4ED7C33-1DAA-DAD5-7B8D-09E2F698C98A}"/>
              </a:ext>
            </a:extLst>
          </p:cNvPr>
          <p:cNvGrpSpPr/>
          <p:nvPr/>
        </p:nvGrpSpPr>
        <p:grpSpPr>
          <a:xfrm>
            <a:off x="86954" y="675617"/>
            <a:ext cx="5870740" cy="4948921"/>
            <a:chOff x="86953" y="675614"/>
            <a:chExt cx="5870740" cy="4948917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C0C59B3F-A599-210B-F310-B5452AE689CB}"/>
                </a:ext>
              </a:extLst>
            </p:cNvPr>
            <p:cNvGrpSpPr/>
            <p:nvPr/>
          </p:nvGrpSpPr>
          <p:grpSpPr>
            <a:xfrm>
              <a:off x="86953" y="726470"/>
              <a:ext cx="5870740" cy="4335840"/>
              <a:chOff x="6223634" y="589620"/>
              <a:chExt cx="5870740" cy="4335840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ED78C62-2C72-5E0B-7DB9-09ACE28A23AE}"/>
                  </a:ext>
                </a:extLst>
              </p:cNvPr>
              <p:cNvSpPr txBox="1"/>
              <p:nvPr/>
            </p:nvSpPr>
            <p:spPr>
              <a:xfrm>
                <a:off x="11266903" y="3110354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0.17</a:t>
                </a:r>
              </a:p>
            </p:txBody>
          </p: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9F0638F4-A6EB-3A06-A8B2-B7B18EFCE1E9}"/>
                  </a:ext>
                </a:extLst>
              </p:cNvPr>
              <p:cNvGrpSpPr/>
              <p:nvPr/>
            </p:nvGrpSpPr>
            <p:grpSpPr>
              <a:xfrm>
                <a:off x="8206319" y="589620"/>
                <a:ext cx="2005527" cy="653724"/>
                <a:chOff x="6875812" y="1043464"/>
                <a:chExt cx="2005527" cy="65372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9138B27A-CA55-DCD5-E26B-00273520C79A}"/>
                    </a:ext>
                  </a:extLst>
                </p:cNvPr>
                <p:cNvSpPr/>
                <p:nvPr/>
              </p:nvSpPr>
              <p:spPr>
                <a:xfrm>
                  <a:off x="6875812" y="1043464"/>
                  <a:ext cx="2005527" cy="324000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Topography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E304E46E-C01C-6AF3-FB42-1BFED2C814F1}"/>
                    </a:ext>
                  </a:extLst>
                </p:cNvPr>
                <p:cNvSpPr/>
                <p:nvPr/>
              </p:nvSpPr>
              <p:spPr>
                <a:xfrm>
                  <a:off x="6875812" y="1373188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Elevation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E0FC1ABF-4CA0-F61E-67DA-AA5473470DC0}"/>
                    </a:ext>
                  </a:extLst>
                </p:cNvPr>
                <p:cNvSpPr/>
                <p:nvPr/>
              </p:nvSpPr>
              <p:spPr>
                <a:xfrm>
                  <a:off x="7873339" y="1373188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Slope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F82B07A6-4FB3-FC14-ECFE-09CBF18E03CD}"/>
                  </a:ext>
                </a:extLst>
              </p:cNvPr>
              <p:cNvSpPr/>
              <p:nvPr/>
            </p:nvSpPr>
            <p:spPr>
              <a:xfrm>
                <a:off x="10936004" y="1860187"/>
                <a:ext cx="984659" cy="648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Clay</a:t>
                </a: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content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D8B5F35E-495F-EC41-B3F7-2837570C1BA2}"/>
                  </a:ext>
                </a:extLst>
              </p:cNvPr>
              <p:cNvGrpSpPr/>
              <p:nvPr/>
            </p:nvGrpSpPr>
            <p:grpSpPr>
              <a:xfrm>
                <a:off x="6267468" y="1880400"/>
                <a:ext cx="1224000" cy="653724"/>
                <a:chOff x="6936819" y="1587909"/>
                <a:chExt cx="1224000" cy="653724"/>
              </a:xfrm>
            </p:grpSpPr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57FF5809-DC3B-12A7-4335-470A570B2193}"/>
                    </a:ext>
                  </a:extLst>
                </p:cNvPr>
                <p:cNvSpPr/>
                <p:nvPr/>
              </p:nvSpPr>
              <p:spPr>
                <a:xfrm>
                  <a:off x="6936819" y="1587909"/>
                  <a:ext cx="1224000" cy="324000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Climate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9823F29B-6054-27A0-0A1E-CDBDDD4D3DFC}"/>
                    </a:ext>
                  </a:extLst>
                </p:cNvPr>
                <p:cNvSpPr/>
                <p:nvPr/>
              </p:nvSpPr>
              <p:spPr>
                <a:xfrm>
                  <a:off x="6936819" y="1917633"/>
                  <a:ext cx="612000" cy="324000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MAT</a:t>
                  </a:r>
                </a:p>
                <a:p>
                  <a:pPr algn="ctr"/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5865A653-027D-1EAA-30CF-C5EA2B209B93}"/>
                    </a:ext>
                  </a:extLst>
                </p:cNvPr>
                <p:cNvSpPr/>
                <p:nvPr/>
              </p:nvSpPr>
              <p:spPr>
                <a:xfrm>
                  <a:off x="7545954" y="1917633"/>
                  <a:ext cx="612000" cy="324000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MAP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11E3C994-8E9B-7887-012E-34A0A709C519}"/>
                  </a:ext>
                </a:extLst>
              </p:cNvPr>
              <p:cNvGrpSpPr/>
              <p:nvPr/>
            </p:nvGrpSpPr>
            <p:grpSpPr>
              <a:xfrm>
                <a:off x="8552094" y="1873286"/>
                <a:ext cx="1315789" cy="653724"/>
                <a:chOff x="6936819" y="1576034"/>
                <a:chExt cx="1315789" cy="653724"/>
              </a:xfrm>
            </p:grpSpPr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A4A1A56D-C6EE-514B-745F-AA2620864AB4}"/>
                    </a:ext>
                  </a:extLst>
                </p:cNvPr>
                <p:cNvSpPr/>
                <p:nvPr/>
              </p:nvSpPr>
              <p:spPr>
                <a:xfrm>
                  <a:off x="6936820" y="1576034"/>
                  <a:ext cx="1315788" cy="324000"/>
                </a:xfrm>
                <a:prstGeom prst="rect">
                  <a:avLst/>
                </a:prstGeom>
                <a:solidFill>
                  <a:srgbClr val="7030A0">
                    <a:alpha val="30000"/>
                  </a:srgbClr>
                </a:solidFill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Seasonality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37FBBA4E-4190-9243-EC6B-AA7C50CB0CA7}"/>
                    </a:ext>
                  </a:extLst>
                </p:cNvPr>
                <p:cNvSpPr/>
                <p:nvPr/>
              </p:nvSpPr>
              <p:spPr>
                <a:xfrm>
                  <a:off x="6936819" y="1905758"/>
                  <a:ext cx="658800" cy="324000"/>
                </a:xfrm>
                <a:prstGeom prst="rect">
                  <a:avLst/>
                </a:prstGeom>
                <a:noFill/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TS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871D3070-CA3C-A151-D4D5-E72B34A0ED95}"/>
                    </a:ext>
                  </a:extLst>
                </p:cNvPr>
                <p:cNvSpPr/>
                <p:nvPr/>
              </p:nvSpPr>
              <p:spPr>
                <a:xfrm>
                  <a:off x="7593808" y="1905758"/>
                  <a:ext cx="658800" cy="324000"/>
                </a:xfrm>
                <a:prstGeom prst="rect">
                  <a:avLst/>
                </a:prstGeom>
                <a:noFill/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PS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5FB0C4BD-4334-688D-A54C-0C28C76A4578}"/>
                  </a:ext>
                </a:extLst>
              </p:cNvPr>
              <p:cNvGrpSpPr/>
              <p:nvPr/>
            </p:nvGrpSpPr>
            <p:grpSpPr>
              <a:xfrm>
                <a:off x="10727908" y="3340206"/>
                <a:ext cx="1204630" cy="653724"/>
                <a:chOff x="6936820" y="1587909"/>
                <a:chExt cx="1204630" cy="653724"/>
              </a:xfrm>
            </p:grpSpPr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A9F3F069-B0FE-3795-77D9-C0A14ABF2163}"/>
                    </a:ext>
                  </a:extLst>
                </p:cNvPr>
                <p:cNvSpPr/>
                <p:nvPr/>
              </p:nvSpPr>
              <p:spPr>
                <a:xfrm>
                  <a:off x="6936820" y="1587909"/>
                  <a:ext cx="1204629" cy="324000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Soil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31647B19-78CF-397B-1D2F-EDEA66F2A84F}"/>
                    </a:ext>
                  </a:extLst>
                </p:cNvPr>
                <p:cNvSpPr/>
                <p:nvPr/>
              </p:nvSpPr>
              <p:spPr>
                <a:xfrm>
                  <a:off x="6936820" y="1917633"/>
                  <a:ext cx="549757" cy="32400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pH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B76FE37C-0DB8-A209-875D-72DC1CF07305}"/>
                    </a:ext>
                  </a:extLst>
                </p:cNvPr>
                <p:cNvSpPr/>
                <p:nvPr/>
              </p:nvSpPr>
              <p:spPr>
                <a:xfrm>
                  <a:off x="7486579" y="1917633"/>
                  <a:ext cx="654871" cy="32400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BD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391A9DEA-4B85-77F6-7DF0-031534EFD7F2}"/>
                  </a:ext>
                </a:extLst>
              </p:cNvPr>
              <p:cNvGrpSpPr/>
              <p:nvPr/>
            </p:nvGrpSpPr>
            <p:grpSpPr>
              <a:xfrm>
                <a:off x="6488569" y="3326490"/>
                <a:ext cx="2882230" cy="653947"/>
                <a:chOff x="6737362" y="3356657"/>
                <a:chExt cx="2882230" cy="653947"/>
              </a:xfrm>
            </p:grpSpPr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4B2ECF82-25C2-67A6-FD29-BDCEC7A9C679}"/>
                    </a:ext>
                  </a:extLst>
                </p:cNvPr>
                <p:cNvSpPr/>
                <p:nvPr/>
              </p:nvSpPr>
              <p:spPr>
                <a:xfrm>
                  <a:off x="6737362" y="3356657"/>
                  <a:ext cx="2882229" cy="32400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Vegetation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D2527C76-0D6D-568F-F229-E956DBB1BB0D}"/>
                    </a:ext>
                  </a:extLst>
                </p:cNvPr>
                <p:cNvSpPr/>
                <p:nvPr/>
              </p:nvSpPr>
              <p:spPr>
                <a:xfrm>
                  <a:off x="6737363" y="3686604"/>
                  <a:ext cx="576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GPP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CCF157A2-93D3-3004-5685-8DC82136D0F0}"/>
                    </a:ext>
                  </a:extLst>
                </p:cNvPr>
                <p:cNvSpPr/>
                <p:nvPr/>
              </p:nvSpPr>
              <p:spPr>
                <a:xfrm>
                  <a:off x="7315880" y="3686604"/>
                  <a:ext cx="1296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Shannon_EVI</a:t>
                  </a:r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C8F8CFAB-2288-1529-665C-42839837A5BC}"/>
                    </a:ext>
                  </a:extLst>
                </p:cNvPr>
                <p:cNvSpPr/>
                <p:nvPr/>
              </p:nvSpPr>
              <p:spPr>
                <a:xfrm>
                  <a:off x="8611592" y="3686604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Rootdepth</a:t>
                  </a:r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08BACE5-7C29-7BBE-32F8-EC83627990ED}"/>
                  </a:ext>
                </a:extLst>
              </p:cNvPr>
              <p:cNvSpPr/>
              <p:nvPr/>
            </p:nvSpPr>
            <p:spPr>
              <a:xfrm>
                <a:off x="8968819" y="4595760"/>
                <a:ext cx="1440000" cy="31383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CUE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279A8165-8969-74DD-7E93-6247FABC60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68224" y="1243344"/>
                <a:ext cx="743370" cy="631332"/>
              </a:xfrm>
              <a:prstGeom prst="straightConnector1">
                <a:avLst/>
              </a:prstGeom>
              <a:ln w="444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18413E9-1840-32DE-ED37-FD2F2E747031}"/>
                  </a:ext>
                </a:extLst>
              </p:cNvPr>
              <p:cNvSpPr txBox="1"/>
              <p:nvPr/>
            </p:nvSpPr>
            <p:spPr>
              <a:xfrm>
                <a:off x="6223634" y="1640390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0.22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3949209-F2A8-CD73-4639-5C829B0D3017}"/>
                  </a:ext>
                </a:extLst>
              </p:cNvPr>
              <p:cNvSpPr txBox="1"/>
              <p:nvPr/>
            </p:nvSpPr>
            <p:spPr>
              <a:xfrm rot="19376878">
                <a:off x="7420589" y="1290885"/>
                <a:ext cx="8046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-0.46***</a:t>
                </a:r>
              </a:p>
            </p:txBody>
          </p: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C5AA62EE-2574-EE05-76D6-79DDDAF414CD}"/>
                  </a:ext>
                </a:extLst>
              </p:cNvPr>
              <p:cNvCxnSpPr>
                <a:cxnSpLocks/>
                <a:endCxn id="96" idx="0"/>
              </p:cNvCxnSpPr>
              <p:nvPr/>
            </p:nvCxnSpPr>
            <p:spPr>
              <a:xfrm>
                <a:off x="7468224" y="2523655"/>
                <a:ext cx="461460" cy="802835"/>
              </a:xfrm>
              <a:prstGeom prst="straightConnector1">
                <a:avLst/>
              </a:prstGeom>
              <a:ln w="571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49AC120-92B0-A0DF-8B3C-3E6B3A111E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04807" y="1252401"/>
                <a:ext cx="17057" cy="644635"/>
              </a:xfrm>
              <a:prstGeom prst="straightConnector1">
                <a:avLst/>
              </a:prstGeom>
              <a:ln w="381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C986E057-DC5E-C9A2-7327-9CD4687592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11846" y="1250776"/>
                <a:ext cx="720000" cy="629425"/>
              </a:xfrm>
              <a:prstGeom prst="straightConnector1">
                <a:avLst/>
              </a:prstGeom>
              <a:ln w="317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55B08540-5541-1EA3-D4BC-8A3630E2BB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15724" y="2204400"/>
                <a:ext cx="1044000" cy="0"/>
              </a:xfrm>
              <a:prstGeom prst="straightConnector1">
                <a:avLst/>
              </a:prstGeom>
              <a:ln w="190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53CFCF59-F0E8-4921-5186-445DD30E6B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67883" y="2212069"/>
                <a:ext cx="1063963" cy="0"/>
              </a:xfrm>
              <a:prstGeom prst="straightConnector1">
                <a:avLst/>
              </a:prstGeom>
              <a:ln w="571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8A21EC9E-9468-0E91-9FC8-7CE18030C3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66315" y="2523529"/>
                <a:ext cx="1339423" cy="788604"/>
              </a:xfrm>
              <a:prstGeom prst="straightConnector1">
                <a:avLst/>
              </a:prstGeom>
              <a:ln w="381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059F262D-5F57-07C3-E466-22604A5708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97920" y="2508187"/>
                <a:ext cx="0" cy="829342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92D78CD-04F7-68E3-04B9-FB775FE4BA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29684" y="2541902"/>
                <a:ext cx="1274162" cy="772713"/>
              </a:xfrm>
              <a:prstGeom prst="straightConnector1">
                <a:avLst/>
              </a:prstGeom>
              <a:ln w="127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E2FE34BD-47D7-3C9B-0EF8-40DAE57651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70798" y="3659217"/>
                <a:ext cx="1357109" cy="16864"/>
              </a:xfrm>
              <a:prstGeom prst="straightConnector1">
                <a:avLst/>
              </a:prstGeom>
              <a:ln w="15875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5075B66A-F291-CC91-267E-A20BAF8DFB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60282" y="3980437"/>
                <a:ext cx="936449" cy="605356"/>
              </a:xfrm>
              <a:prstGeom prst="straightConnector1">
                <a:avLst/>
              </a:prstGeom>
              <a:ln w="41275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FD8012BC-A819-418C-C663-E0028B7D8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37477" y="3987183"/>
                <a:ext cx="703187" cy="593685"/>
              </a:xfrm>
              <a:prstGeom prst="straightConnector1">
                <a:avLst/>
              </a:prstGeom>
              <a:ln w="381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B575D3C-CC7A-25F6-1D78-2F4E5017BD0F}"/>
                  </a:ext>
                </a:extLst>
              </p:cNvPr>
              <p:cNvSpPr txBox="1"/>
              <p:nvPr/>
            </p:nvSpPr>
            <p:spPr>
              <a:xfrm>
                <a:off x="8409206" y="1652265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0.80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527FFF84-F005-CBB1-14E3-76DE69400A11}"/>
                  </a:ext>
                </a:extLst>
              </p:cNvPr>
              <p:cNvSpPr txBox="1"/>
              <p:nvPr/>
            </p:nvSpPr>
            <p:spPr>
              <a:xfrm>
                <a:off x="10946974" y="1640390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0.36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90128B7-B112-A36A-BD14-1F9D49D5260C}"/>
                  </a:ext>
                </a:extLst>
              </p:cNvPr>
              <p:cNvSpPr txBox="1"/>
              <p:nvPr/>
            </p:nvSpPr>
            <p:spPr>
              <a:xfrm>
                <a:off x="6681488" y="3082682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0.63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8951E93-0B1A-62FC-0D26-1FE212553192}"/>
                  </a:ext>
                </a:extLst>
              </p:cNvPr>
              <p:cNvSpPr txBox="1"/>
              <p:nvPr/>
            </p:nvSpPr>
            <p:spPr>
              <a:xfrm>
                <a:off x="9275082" y="4363964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0.16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2AA7F13-9F83-F289-E94B-F75497B5FD94}"/>
                  </a:ext>
                </a:extLst>
              </p:cNvPr>
              <p:cNvSpPr txBox="1"/>
              <p:nvPr/>
            </p:nvSpPr>
            <p:spPr>
              <a:xfrm>
                <a:off x="9186761" y="1404521"/>
                <a:ext cx="7242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-0.34***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1DD2A128-875E-F27B-0ED9-B4F1CE85B649}"/>
                  </a:ext>
                </a:extLst>
              </p:cNvPr>
              <p:cNvSpPr txBox="1"/>
              <p:nvPr/>
            </p:nvSpPr>
            <p:spPr>
              <a:xfrm>
                <a:off x="7609387" y="1975272"/>
                <a:ext cx="7501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-1.00***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9CB82E4-A2CB-6521-B695-336A27D251EF}"/>
                  </a:ext>
                </a:extLst>
              </p:cNvPr>
              <p:cNvSpPr txBox="1"/>
              <p:nvPr/>
            </p:nvSpPr>
            <p:spPr>
              <a:xfrm>
                <a:off x="10037477" y="1921032"/>
                <a:ext cx="8178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-0.52***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1720FFF-3211-5BAD-47BD-EAC0BBF96A3D}"/>
                  </a:ext>
                </a:extLst>
              </p:cNvPr>
              <p:cNvSpPr txBox="1"/>
              <p:nvPr/>
            </p:nvSpPr>
            <p:spPr>
              <a:xfrm rot="2397490">
                <a:off x="10276997" y="1392607"/>
                <a:ext cx="8966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-0.23***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B0CB22E-C832-1B94-EE15-26AB429645F0}"/>
                  </a:ext>
                </a:extLst>
              </p:cNvPr>
              <p:cNvSpPr txBox="1"/>
              <p:nvPr/>
            </p:nvSpPr>
            <p:spPr>
              <a:xfrm rot="20198467">
                <a:off x="8489566" y="2785855"/>
                <a:ext cx="57024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-0.03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AEC5D4B-3D4B-75EA-D352-A99199C6A133}"/>
                  </a:ext>
                </a:extLst>
              </p:cNvPr>
              <p:cNvSpPr txBox="1"/>
              <p:nvPr/>
            </p:nvSpPr>
            <p:spPr>
              <a:xfrm rot="3719290">
                <a:off x="7150757" y="2807852"/>
                <a:ext cx="7983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-0.82***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E8869E5-AF3B-200D-0BE5-958528654770}"/>
                  </a:ext>
                </a:extLst>
              </p:cNvPr>
              <p:cNvSpPr txBox="1"/>
              <p:nvPr/>
            </p:nvSpPr>
            <p:spPr>
              <a:xfrm>
                <a:off x="9856183" y="3427722"/>
                <a:ext cx="7747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-0.12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CA180E2-EEFB-8BF6-6FE3-9F1604186FE9}"/>
                  </a:ext>
                </a:extLst>
              </p:cNvPr>
              <p:cNvSpPr txBox="1"/>
              <p:nvPr/>
            </p:nvSpPr>
            <p:spPr>
              <a:xfrm rot="1915999">
                <a:off x="8612494" y="4117905"/>
                <a:ext cx="7491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-0.43***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375A98B-22C0-4595-7D60-E1AADA2F1570}"/>
                  </a:ext>
                </a:extLst>
              </p:cNvPr>
              <p:cNvSpPr txBox="1"/>
              <p:nvPr/>
            </p:nvSpPr>
            <p:spPr>
              <a:xfrm rot="19364745">
                <a:off x="10052442" y="3999010"/>
                <a:ext cx="76686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-0.26***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BDAF471-6F55-D84B-A8D4-CF98C014E0A1}"/>
                  </a:ext>
                </a:extLst>
              </p:cNvPr>
              <p:cNvSpPr txBox="1"/>
              <p:nvPr/>
            </p:nvSpPr>
            <p:spPr>
              <a:xfrm>
                <a:off x="11266005" y="2715773"/>
                <a:ext cx="7002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0.14***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AC6E085-9B1B-3271-1EA3-4DB076BF881C}"/>
                  </a:ext>
                </a:extLst>
              </p:cNvPr>
              <p:cNvSpPr txBox="1"/>
              <p:nvPr/>
            </p:nvSpPr>
            <p:spPr>
              <a:xfrm rot="1651559">
                <a:off x="10141059" y="2633471"/>
                <a:ext cx="7438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-0.32***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7BE158C-BCB1-92D7-9072-894CF5643B7E}"/>
                  </a:ext>
                </a:extLst>
              </p:cNvPr>
              <p:cNvSpPr txBox="1"/>
              <p:nvPr/>
            </p:nvSpPr>
            <p:spPr>
              <a:xfrm>
                <a:off x="6875390" y="4617555"/>
                <a:ext cx="1124026" cy="3079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GOF = 0.51</a:t>
                </a:r>
              </a:p>
            </p:txBody>
          </p:sp>
        </p:grp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738B7517-20F1-4288-054F-E002D3ED8933}"/>
                </a:ext>
              </a:extLst>
            </p:cNvPr>
            <p:cNvSpPr txBox="1"/>
            <p:nvPr/>
          </p:nvSpPr>
          <p:spPr>
            <a:xfrm>
              <a:off x="701202" y="675614"/>
              <a:ext cx="9850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Topsoil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51A9DBFD-4866-92DE-A1D3-316C5C533062}"/>
                </a:ext>
              </a:extLst>
            </p:cNvPr>
            <p:cNvCxnSpPr>
              <a:cxnSpLocks/>
            </p:cNvCxnSpPr>
            <p:nvPr/>
          </p:nvCxnSpPr>
          <p:spPr>
            <a:xfrm>
              <a:off x="4399345" y="5455703"/>
              <a:ext cx="1096672" cy="0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4F120792-945D-6058-1BAB-2BCACF8DFF19}"/>
                </a:ext>
              </a:extLst>
            </p:cNvPr>
            <p:cNvCxnSpPr>
              <a:cxnSpLocks/>
            </p:cNvCxnSpPr>
            <p:nvPr/>
          </p:nvCxnSpPr>
          <p:spPr>
            <a:xfrm>
              <a:off x="1949265" y="5455703"/>
              <a:ext cx="1096672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6A6AAB0-114E-7D57-3D9D-E2FB7ECB6C0D}"/>
                </a:ext>
              </a:extLst>
            </p:cNvPr>
            <p:cNvSpPr txBox="1"/>
            <p:nvPr/>
          </p:nvSpPr>
          <p:spPr>
            <a:xfrm>
              <a:off x="652180" y="5303614"/>
              <a:ext cx="1297086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Positive effect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599B730-0898-6BED-E92C-735A91A5BF01}"/>
                </a:ext>
              </a:extLst>
            </p:cNvPr>
            <p:cNvSpPr txBox="1"/>
            <p:nvPr/>
          </p:nvSpPr>
          <p:spPr>
            <a:xfrm>
              <a:off x="3035997" y="5316626"/>
              <a:ext cx="1375633" cy="307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Negative effect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F5B84B48-9BEE-58BF-25C7-50B32AD85E29}"/>
              </a:ext>
            </a:extLst>
          </p:cNvPr>
          <p:cNvGrpSpPr/>
          <p:nvPr/>
        </p:nvGrpSpPr>
        <p:grpSpPr>
          <a:xfrm>
            <a:off x="6234311" y="726472"/>
            <a:ext cx="5870740" cy="4832271"/>
            <a:chOff x="6234307" y="726470"/>
            <a:chExt cx="5870740" cy="483226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ACD1E0E-FE0F-DCC0-3DAC-C66A7FA913F2}"/>
                </a:ext>
              </a:extLst>
            </p:cNvPr>
            <p:cNvGrpSpPr/>
            <p:nvPr/>
          </p:nvGrpSpPr>
          <p:grpSpPr>
            <a:xfrm>
              <a:off x="6234307" y="726470"/>
              <a:ext cx="5870740" cy="4320102"/>
              <a:chOff x="6223634" y="589620"/>
              <a:chExt cx="5870740" cy="432010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C6EEAA-1471-6961-948E-FCCB1EE5D354}"/>
                  </a:ext>
                </a:extLst>
              </p:cNvPr>
              <p:cNvSpPr txBox="1"/>
              <p:nvPr/>
            </p:nvSpPr>
            <p:spPr>
              <a:xfrm>
                <a:off x="11266903" y="3110354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0.46</a:t>
                </a: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46FCC8C-5FCB-BAF2-0031-BC272AAB5E5D}"/>
                  </a:ext>
                </a:extLst>
              </p:cNvPr>
              <p:cNvGrpSpPr/>
              <p:nvPr/>
            </p:nvGrpSpPr>
            <p:grpSpPr>
              <a:xfrm>
                <a:off x="8206319" y="589620"/>
                <a:ext cx="2005527" cy="653724"/>
                <a:chOff x="6875812" y="1043464"/>
                <a:chExt cx="2005527" cy="65372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F05F816F-F919-54C0-33F6-2F7C9AD979B5}"/>
                    </a:ext>
                  </a:extLst>
                </p:cNvPr>
                <p:cNvSpPr/>
                <p:nvPr/>
              </p:nvSpPr>
              <p:spPr>
                <a:xfrm>
                  <a:off x="6875812" y="1043464"/>
                  <a:ext cx="2005527" cy="324000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Topography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CD7F292-AD08-8809-CD64-7C5AE72FE186}"/>
                    </a:ext>
                  </a:extLst>
                </p:cNvPr>
                <p:cNvSpPr/>
                <p:nvPr/>
              </p:nvSpPr>
              <p:spPr>
                <a:xfrm>
                  <a:off x="6875812" y="1373188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Elevation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F97A0DE-2BFC-D4A7-6FEC-4C9F8E35538E}"/>
                    </a:ext>
                  </a:extLst>
                </p:cNvPr>
                <p:cNvSpPr/>
                <p:nvPr/>
              </p:nvSpPr>
              <p:spPr>
                <a:xfrm>
                  <a:off x="7873339" y="1373188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Slope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27F4618-9DFF-F73E-77D9-D982FA4060B3}"/>
                  </a:ext>
                </a:extLst>
              </p:cNvPr>
              <p:cNvSpPr/>
              <p:nvPr/>
            </p:nvSpPr>
            <p:spPr>
              <a:xfrm>
                <a:off x="10936004" y="1860187"/>
                <a:ext cx="984659" cy="648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Clay</a:t>
                </a: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content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2524F6D3-47FB-405C-FF99-C0115B3D8C7A}"/>
                  </a:ext>
                </a:extLst>
              </p:cNvPr>
              <p:cNvGrpSpPr/>
              <p:nvPr/>
            </p:nvGrpSpPr>
            <p:grpSpPr>
              <a:xfrm>
                <a:off x="6267468" y="1880400"/>
                <a:ext cx="1224000" cy="653724"/>
                <a:chOff x="6936819" y="1587909"/>
                <a:chExt cx="1224000" cy="653724"/>
              </a:xfrm>
            </p:grpSpPr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277CF5F5-2504-99F6-2B17-996C85F03E17}"/>
                    </a:ext>
                  </a:extLst>
                </p:cNvPr>
                <p:cNvSpPr/>
                <p:nvPr/>
              </p:nvSpPr>
              <p:spPr>
                <a:xfrm>
                  <a:off x="6936819" y="1587909"/>
                  <a:ext cx="1224000" cy="324000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Climate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7D5928B6-CCB6-E31E-5E1E-CB6FBD534279}"/>
                    </a:ext>
                  </a:extLst>
                </p:cNvPr>
                <p:cNvSpPr/>
                <p:nvPr/>
              </p:nvSpPr>
              <p:spPr>
                <a:xfrm>
                  <a:off x="6936819" y="1917633"/>
                  <a:ext cx="612000" cy="324000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MAT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78566F6-326D-9B11-DBA4-BAE679613DC6}"/>
                    </a:ext>
                  </a:extLst>
                </p:cNvPr>
                <p:cNvSpPr/>
                <p:nvPr/>
              </p:nvSpPr>
              <p:spPr>
                <a:xfrm>
                  <a:off x="7545954" y="1917633"/>
                  <a:ext cx="612000" cy="324000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MAP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CF71BECB-6337-34E7-349F-EA10C416E01A}"/>
                  </a:ext>
                </a:extLst>
              </p:cNvPr>
              <p:cNvGrpSpPr/>
              <p:nvPr/>
            </p:nvGrpSpPr>
            <p:grpSpPr>
              <a:xfrm>
                <a:off x="8552094" y="1873286"/>
                <a:ext cx="1315789" cy="653724"/>
                <a:chOff x="6936819" y="1576034"/>
                <a:chExt cx="1315789" cy="653724"/>
              </a:xfrm>
            </p:grpSpPr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5B65F5FC-B1FC-1D06-580B-0A755D2DBA8D}"/>
                    </a:ext>
                  </a:extLst>
                </p:cNvPr>
                <p:cNvSpPr/>
                <p:nvPr/>
              </p:nvSpPr>
              <p:spPr>
                <a:xfrm>
                  <a:off x="6936820" y="1576034"/>
                  <a:ext cx="1315788" cy="324000"/>
                </a:xfrm>
                <a:prstGeom prst="rect">
                  <a:avLst/>
                </a:prstGeom>
                <a:solidFill>
                  <a:srgbClr val="7030A0">
                    <a:alpha val="30000"/>
                  </a:srgbClr>
                </a:solidFill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Seasonality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14B5BE0A-ED5B-4493-4CF6-F684E24DF8A5}"/>
                    </a:ext>
                  </a:extLst>
                </p:cNvPr>
                <p:cNvSpPr/>
                <p:nvPr/>
              </p:nvSpPr>
              <p:spPr>
                <a:xfrm>
                  <a:off x="6936819" y="1905758"/>
                  <a:ext cx="658800" cy="324000"/>
                </a:xfrm>
                <a:prstGeom prst="rect">
                  <a:avLst/>
                </a:prstGeom>
                <a:noFill/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TS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38874FF2-F0A9-0FC3-E7C0-157CA3728479}"/>
                    </a:ext>
                  </a:extLst>
                </p:cNvPr>
                <p:cNvSpPr/>
                <p:nvPr/>
              </p:nvSpPr>
              <p:spPr>
                <a:xfrm>
                  <a:off x="7593808" y="1905758"/>
                  <a:ext cx="658800" cy="324000"/>
                </a:xfrm>
                <a:prstGeom prst="rect">
                  <a:avLst/>
                </a:prstGeom>
                <a:noFill/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PS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B794872E-B58A-A4B0-1AD9-E09081663C9B}"/>
                  </a:ext>
                </a:extLst>
              </p:cNvPr>
              <p:cNvGrpSpPr/>
              <p:nvPr/>
            </p:nvGrpSpPr>
            <p:grpSpPr>
              <a:xfrm>
                <a:off x="10727908" y="3340206"/>
                <a:ext cx="1204630" cy="653724"/>
                <a:chOff x="6936820" y="1587909"/>
                <a:chExt cx="1204630" cy="653724"/>
              </a:xfrm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74B4EFC4-1155-52A0-7C6D-7E6C2B1160C0}"/>
                    </a:ext>
                  </a:extLst>
                </p:cNvPr>
                <p:cNvSpPr/>
                <p:nvPr/>
              </p:nvSpPr>
              <p:spPr>
                <a:xfrm>
                  <a:off x="6936820" y="1587909"/>
                  <a:ext cx="1204629" cy="324000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Soil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93000C1-0ECF-E1A5-C2FF-081C937E0F2E}"/>
                    </a:ext>
                  </a:extLst>
                </p:cNvPr>
                <p:cNvSpPr/>
                <p:nvPr/>
              </p:nvSpPr>
              <p:spPr>
                <a:xfrm>
                  <a:off x="6936820" y="1917633"/>
                  <a:ext cx="549757" cy="32400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pH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6F1EA22E-5F27-9A45-DCB2-956FB0C28BB8}"/>
                    </a:ext>
                  </a:extLst>
                </p:cNvPr>
                <p:cNvSpPr/>
                <p:nvPr/>
              </p:nvSpPr>
              <p:spPr>
                <a:xfrm>
                  <a:off x="7486579" y="1917633"/>
                  <a:ext cx="654871" cy="32400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BD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BA6667BA-3C37-7494-ADA8-953384EC5EE7}"/>
                  </a:ext>
                </a:extLst>
              </p:cNvPr>
              <p:cNvGrpSpPr/>
              <p:nvPr/>
            </p:nvGrpSpPr>
            <p:grpSpPr>
              <a:xfrm>
                <a:off x="6488569" y="3326490"/>
                <a:ext cx="2882230" cy="653947"/>
                <a:chOff x="6737362" y="3356657"/>
                <a:chExt cx="2882230" cy="653947"/>
              </a:xfrm>
            </p:grpSpPr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8A7F3D41-E60A-D52D-A553-5AED3757D782}"/>
                    </a:ext>
                  </a:extLst>
                </p:cNvPr>
                <p:cNvSpPr/>
                <p:nvPr/>
              </p:nvSpPr>
              <p:spPr>
                <a:xfrm>
                  <a:off x="6737362" y="3356657"/>
                  <a:ext cx="2882229" cy="32400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Vegetation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846E6B09-0944-59EF-32CD-59AD9542E724}"/>
                    </a:ext>
                  </a:extLst>
                </p:cNvPr>
                <p:cNvSpPr/>
                <p:nvPr/>
              </p:nvSpPr>
              <p:spPr>
                <a:xfrm>
                  <a:off x="6737363" y="3686604"/>
                  <a:ext cx="576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GPP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07C86283-A5A9-E569-1415-05D99823FE37}"/>
                    </a:ext>
                  </a:extLst>
                </p:cNvPr>
                <p:cNvSpPr/>
                <p:nvPr/>
              </p:nvSpPr>
              <p:spPr>
                <a:xfrm>
                  <a:off x="7315880" y="3686604"/>
                  <a:ext cx="1296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Shannon_EVI</a:t>
                  </a:r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50B7807B-4946-42D9-70D2-35001DD8989F}"/>
                    </a:ext>
                  </a:extLst>
                </p:cNvPr>
                <p:cNvSpPr/>
                <p:nvPr/>
              </p:nvSpPr>
              <p:spPr>
                <a:xfrm>
                  <a:off x="8611592" y="3686604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Rootdepth</a:t>
                  </a:r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4D48F2B-5181-13C3-2C3C-3275DBF0DAD1}"/>
                  </a:ext>
                </a:extLst>
              </p:cNvPr>
              <p:cNvSpPr/>
              <p:nvPr/>
            </p:nvSpPr>
            <p:spPr>
              <a:xfrm>
                <a:off x="8968819" y="4595760"/>
                <a:ext cx="1440000" cy="31383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CUE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3B9D9FA3-6E9F-D2AA-0752-F61D151D18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68224" y="1243344"/>
                <a:ext cx="743370" cy="631332"/>
              </a:xfrm>
              <a:prstGeom prst="straightConnector1">
                <a:avLst/>
              </a:prstGeom>
              <a:ln w="254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44F80AF-5BFF-0620-98C1-CB87ABD9D610}"/>
                  </a:ext>
                </a:extLst>
              </p:cNvPr>
              <p:cNvSpPr txBox="1"/>
              <p:nvPr/>
            </p:nvSpPr>
            <p:spPr>
              <a:xfrm>
                <a:off x="6223634" y="1640389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0.01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7B22B3-3924-FC83-6624-EDB73BF4BA6A}"/>
                  </a:ext>
                </a:extLst>
              </p:cNvPr>
              <p:cNvSpPr txBox="1"/>
              <p:nvPr/>
            </p:nvSpPr>
            <p:spPr>
              <a:xfrm rot="19376878">
                <a:off x="7420589" y="1290884"/>
                <a:ext cx="8046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-0.12*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6DB1CA8-B62F-6DA3-F83E-D701AD8D6973}"/>
                  </a:ext>
                </a:extLst>
              </p:cNvPr>
              <p:cNvCxnSpPr>
                <a:cxnSpLocks/>
                <a:endCxn id="41" idx="0"/>
              </p:cNvCxnSpPr>
              <p:nvPr/>
            </p:nvCxnSpPr>
            <p:spPr>
              <a:xfrm>
                <a:off x="7468224" y="2523655"/>
                <a:ext cx="461460" cy="802835"/>
              </a:xfrm>
              <a:prstGeom prst="straightConnector1">
                <a:avLst/>
              </a:prstGeom>
              <a:ln w="571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5CC410CB-265C-2B74-EA5A-8ED71CCAE0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04807" y="1252401"/>
                <a:ext cx="17057" cy="644635"/>
              </a:xfrm>
              <a:prstGeom prst="straightConnector1">
                <a:avLst/>
              </a:prstGeom>
              <a:ln w="28575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032A589-C3E7-2E14-9538-3BE9B19FDB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11846" y="1250776"/>
                <a:ext cx="720000" cy="62942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5E9C8CE-9EB8-1848-CF2C-8F4EFB5C8F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03849" y="2204400"/>
                <a:ext cx="1044000" cy="0"/>
              </a:xfrm>
              <a:prstGeom prst="straightConnector1">
                <a:avLst/>
              </a:prstGeom>
              <a:ln w="508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81DBA87E-B687-50FA-881D-CCFF011932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67883" y="2212069"/>
                <a:ext cx="1063963" cy="0"/>
              </a:xfrm>
              <a:prstGeom prst="straightConnector1">
                <a:avLst/>
              </a:prstGeom>
              <a:ln w="28575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1EA06883-5B8A-7349-A5CA-3498081F0A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66315" y="2523529"/>
                <a:ext cx="1339423" cy="788604"/>
              </a:xfrm>
              <a:prstGeom prst="straightConnector1">
                <a:avLst/>
              </a:prstGeom>
              <a:ln w="444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1B831B5-111D-2B45-1E96-DA20AC3C84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97920" y="2508187"/>
                <a:ext cx="0" cy="829342"/>
              </a:xfrm>
              <a:prstGeom prst="straightConnector1">
                <a:avLst/>
              </a:prstGeom>
              <a:ln w="2222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AF3F8D72-31E2-E4DC-F9C4-B97E750555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29684" y="2541902"/>
                <a:ext cx="1274162" cy="772713"/>
              </a:xfrm>
              <a:prstGeom prst="straightConnector1">
                <a:avLst/>
              </a:prstGeom>
              <a:ln w="317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30C7FE44-D7C6-39B4-A960-5EE87FD3A0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70798" y="3659217"/>
                <a:ext cx="1357109" cy="16864"/>
              </a:xfrm>
              <a:prstGeom prst="straightConnector1">
                <a:avLst/>
              </a:prstGeom>
              <a:ln w="15875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8D843A6E-35AD-96F0-62E2-9609E0353A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60282" y="3980437"/>
                <a:ext cx="936449" cy="605356"/>
              </a:xfrm>
              <a:prstGeom prst="straightConnector1">
                <a:avLst/>
              </a:prstGeom>
              <a:ln w="3175">
                <a:solidFill>
                  <a:srgbClr val="C0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D3BE6F22-98D6-0311-35CE-EAD4784AF7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37477" y="3987183"/>
                <a:ext cx="703187" cy="593685"/>
              </a:xfrm>
              <a:prstGeom prst="straightConnector1">
                <a:avLst/>
              </a:prstGeom>
              <a:ln w="444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9681E84-2382-1E37-8D9D-4B8D5EA1AB01}"/>
                  </a:ext>
                </a:extLst>
              </p:cNvPr>
              <p:cNvSpPr txBox="1"/>
              <p:nvPr/>
            </p:nvSpPr>
            <p:spPr>
              <a:xfrm>
                <a:off x="8409206" y="1652263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0.80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03BCF56-2BD5-1915-62CF-32C4548D1B07}"/>
                  </a:ext>
                </a:extLst>
              </p:cNvPr>
              <p:cNvSpPr txBox="1"/>
              <p:nvPr/>
            </p:nvSpPr>
            <p:spPr>
              <a:xfrm>
                <a:off x="10946974" y="1640389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0.08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69F86A-923E-61B3-CFB5-EDEAEE7FEE81}"/>
                  </a:ext>
                </a:extLst>
              </p:cNvPr>
              <p:cNvSpPr txBox="1"/>
              <p:nvPr/>
            </p:nvSpPr>
            <p:spPr>
              <a:xfrm>
                <a:off x="6681488" y="3082683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0.63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DAA5E37-6A1A-9C5E-C604-A6A81DD2EFBA}"/>
                  </a:ext>
                </a:extLst>
              </p:cNvPr>
              <p:cNvSpPr txBox="1"/>
              <p:nvPr/>
            </p:nvSpPr>
            <p:spPr>
              <a:xfrm>
                <a:off x="9275082" y="4363965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0.23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FD15AF8-64AA-844B-125D-551D2FC768F4}"/>
                  </a:ext>
                </a:extLst>
              </p:cNvPr>
              <p:cNvSpPr txBox="1"/>
              <p:nvPr/>
            </p:nvSpPr>
            <p:spPr>
              <a:xfrm>
                <a:off x="9186761" y="1404522"/>
                <a:ext cx="7242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-0.29***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227EBB7-DBF1-8226-911E-F929251BF3AF}"/>
                  </a:ext>
                </a:extLst>
              </p:cNvPr>
              <p:cNvSpPr txBox="1"/>
              <p:nvPr/>
            </p:nvSpPr>
            <p:spPr>
              <a:xfrm>
                <a:off x="7609387" y="1975273"/>
                <a:ext cx="7501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-0.88***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F1A5967-06A3-A8DA-AFA6-CD4D0204594A}"/>
                  </a:ext>
                </a:extLst>
              </p:cNvPr>
              <p:cNvSpPr txBox="1"/>
              <p:nvPr/>
            </p:nvSpPr>
            <p:spPr>
              <a:xfrm>
                <a:off x="10037477" y="1921033"/>
                <a:ext cx="8178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-0.25***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DF48281-614E-2473-CB55-720D2CC04A2E}"/>
                  </a:ext>
                </a:extLst>
              </p:cNvPr>
              <p:cNvSpPr txBox="1"/>
              <p:nvPr/>
            </p:nvSpPr>
            <p:spPr>
              <a:xfrm rot="2397490">
                <a:off x="10276997" y="1392606"/>
                <a:ext cx="8966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0.08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27040E5-AFDB-FE48-9AA1-E783FB30E92E}"/>
                  </a:ext>
                </a:extLst>
              </p:cNvPr>
              <p:cNvSpPr txBox="1"/>
              <p:nvPr/>
            </p:nvSpPr>
            <p:spPr>
              <a:xfrm rot="19628636">
                <a:off x="8482098" y="2749730"/>
                <a:ext cx="75248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-0.37***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0D5DC5E-3A5D-9144-272F-FFF52B044EC0}"/>
                  </a:ext>
                </a:extLst>
              </p:cNvPr>
              <p:cNvSpPr txBox="1"/>
              <p:nvPr/>
            </p:nvSpPr>
            <p:spPr>
              <a:xfrm rot="3719290">
                <a:off x="7150757" y="2807851"/>
                <a:ext cx="79834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-0.99***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2F6B954-E1B7-C6FF-E67F-306B4C3E9EAB}"/>
                  </a:ext>
                </a:extLst>
              </p:cNvPr>
              <p:cNvSpPr txBox="1"/>
              <p:nvPr/>
            </p:nvSpPr>
            <p:spPr>
              <a:xfrm>
                <a:off x="9856183" y="3427722"/>
                <a:ext cx="7747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-0.15***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76A6EBE-07A9-246B-F2D9-1636516FFB24}"/>
                  </a:ext>
                </a:extLst>
              </p:cNvPr>
              <p:cNvSpPr txBox="1"/>
              <p:nvPr/>
            </p:nvSpPr>
            <p:spPr>
              <a:xfrm rot="1915999">
                <a:off x="8612494" y="4117907"/>
                <a:ext cx="7491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0.003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1208A96-F8B1-BE20-9C13-B28D9E223ED2}"/>
                  </a:ext>
                </a:extLst>
              </p:cNvPr>
              <p:cNvSpPr txBox="1"/>
              <p:nvPr/>
            </p:nvSpPr>
            <p:spPr>
              <a:xfrm rot="19364745">
                <a:off x="10052442" y="3999012"/>
                <a:ext cx="76686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-0.47***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2A693CC-30C3-1E68-B6BA-903375DF13CD}"/>
                  </a:ext>
                </a:extLst>
              </p:cNvPr>
              <p:cNvSpPr txBox="1"/>
              <p:nvPr/>
            </p:nvSpPr>
            <p:spPr>
              <a:xfrm>
                <a:off x="11266005" y="2715774"/>
                <a:ext cx="7002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0.26***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02B32ED-669D-EF9D-4750-2D0E3C7A3FE7}"/>
                  </a:ext>
                </a:extLst>
              </p:cNvPr>
              <p:cNvSpPr txBox="1"/>
              <p:nvPr/>
            </p:nvSpPr>
            <p:spPr>
              <a:xfrm rot="1651559">
                <a:off x="10141059" y="2633472"/>
                <a:ext cx="7438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-0.56***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8B4DF56-21C8-01A9-30FA-C4BA68EFEEFC}"/>
                  </a:ext>
                </a:extLst>
              </p:cNvPr>
              <p:cNvSpPr txBox="1"/>
              <p:nvPr/>
            </p:nvSpPr>
            <p:spPr>
              <a:xfrm>
                <a:off x="6823099" y="4601817"/>
                <a:ext cx="1124026" cy="3079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GOF = 0.50</a:t>
                </a:r>
              </a:p>
            </p:txBody>
          </p:sp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7290ED3C-86E5-7898-44FF-B9808B351575}"/>
                </a:ext>
              </a:extLst>
            </p:cNvPr>
            <p:cNvSpPr txBox="1"/>
            <p:nvPr/>
          </p:nvSpPr>
          <p:spPr>
            <a:xfrm>
              <a:off x="6274495" y="726470"/>
              <a:ext cx="10278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Subsoil</a:t>
              </a: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CA2795FE-A2BB-C101-EC38-B1C45E014C82}"/>
                </a:ext>
              </a:extLst>
            </p:cNvPr>
            <p:cNvCxnSpPr>
              <a:cxnSpLocks/>
            </p:cNvCxnSpPr>
            <p:nvPr/>
          </p:nvCxnSpPr>
          <p:spPr>
            <a:xfrm>
              <a:off x="10317665" y="5389910"/>
              <a:ext cx="1096672" cy="0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8BCC5063-0B93-931E-218C-D7DE4E086C13}"/>
                </a:ext>
              </a:extLst>
            </p:cNvPr>
            <p:cNvCxnSpPr>
              <a:cxnSpLocks/>
            </p:cNvCxnSpPr>
            <p:nvPr/>
          </p:nvCxnSpPr>
          <p:spPr>
            <a:xfrm>
              <a:off x="7867585" y="5389910"/>
              <a:ext cx="1096672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DBF35BA3-21BF-AE12-B2DE-3458829F92AB}"/>
                </a:ext>
              </a:extLst>
            </p:cNvPr>
            <p:cNvSpPr txBox="1"/>
            <p:nvPr/>
          </p:nvSpPr>
          <p:spPr>
            <a:xfrm>
              <a:off x="6570499" y="5237821"/>
              <a:ext cx="1297086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Positive effect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12B0E6B3-7A43-D42E-8C7E-34FF990520F1}"/>
                </a:ext>
              </a:extLst>
            </p:cNvPr>
            <p:cNvSpPr txBox="1"/>
            <p:nvPr/>
          </p:nvSpPr>
          <p:spPr>
            <a:xfrm>
              <a:off x="8954314" y="5250833"/>
              <a:ext cx="1375633" cy="307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Negative effect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283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4ED7C33-1DAA-DAD5-7B8D-09E2F698C98A}"/>
              </a:ext>
            </a:extLst>
          </p:cNvPr>
          <p:cNvGrpSpPr/>
          <p:nvPr/>
        </p:nvGrpSpPr>
        <p:grpSpPr>
          <a:xfrm>
            <a:off x="86954" y="675617"/>
            <a:ext cx="5870740" cy="4948921"/>
            <a:chOff x="86953" y="675614"/>
            <a:chExt cx="5870740" cy="4948917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C0C59B3F-A599-210B-F310-B5452AE689CB}"/>
                </a:ext>
              </a:extLst>
            </p:cNvPr>
            <p:cNvGrpSpPr/>
            <p:nvPr/>
          </p:nvGrpSpPr>
          <p:grpSpPr>
            <a:xfrm>
              <a:off x="86953" y="726470"/>
              <a:ext cx="5870740" cy="4335840"/>
              <a:chOff x="6223634" y="589620"/>
              <a:chExt cx="5870740" cy="4335840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ED78C62-2C72-5E0B-7DB9-09ACE28A23AE}"/>
                  </a:ext>
                </a:extLst>
              </p:cNvPr>
              <p:cNvSpPr txBox="1"/>
              <p:nvPr/>
            </p:nvSpPr>
            <p:spPr>
              <a:xfrm>
                <a:off x="11266903" y="3110354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0.17</a:t>
                </a:r>
              </a:p>
            </p:txBody>
          </p: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9F0638F4-A6EB-3A06-A8B2-B7B18EFCE1E9}"/>
                  </a:ext>
                </a:extLst>
              </p:cNvPr>
              <p:cNvGrpSpPr/>
              <p:nvPr/>
            </p:nvGrpSpPr>
            <p:grpSpPr>
              <a:xfrm>
                <a:off x="8206319" y="589620"/>
                <a:ext cx="2005527" cy="653724"/>
                <a:chOff x="6875812" y="1043464"/>
                <a:chExt cx="2005527" cy="65372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9138B27A-CA55-DCD5-E26B-00273520C79A}"/>
                    </a:ext>
                  </a:extLst>
                </p:cNvPr>
                <p:cNvSpPr/>
                <p:nvPr/>
              </p:nvSpPr>
              <p:spPr>
                <a:xfrm>
                  <a:off x="6875812" y="1043464"/>
                  <a:ext cx="2005527" cy="324000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Topography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E304E46E-C01C-6AF3-FB42-1BFED2C814F1}"/>
                    </a:ext>
                  </a:extLst>
                </p:cNvPr>
                <p:cNvSpPr/>
                <p:nvPr/>
              </p:nvSpPr>
              <p:spPr>
                <a:xfrm>
                  <a:off x="6875812" y="1373188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Elevation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E0FC1ABF-4CA0-F61E-67DA-AA5473470DC0}"/>
                    </a:ext>
                  </a:extLst>
                </p:cNvPr>
                <p:cNvSpPr/>
                <p:nvPr/>
              </p:nvSpPr>
              <p:spPr>
                <a:xfrm>
                  <a:off x="7873339" y="1373188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Slope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F82B07A6-4FB3-FC14-ECFE-09CBF18E03CD}"/>
                  </a:ext>
                </a:extLst>
              </p:cNvPr>
              <p:cNvSpPr/>
              <p:nvPr/>
            </p:nvSpPr>
            <p:spPr>
              <a:xfrm>
                <a:off x="10936004" y="1860187"/>
                <a:ext cx="984659" cy="648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Clay</a:t>
                </a: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content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D8B5F35E-495F-EC41-B3F7-2837570C1BA2}"/>
                  </a:ext>
                </a:extLst>
              </p:cNvPr>
              <p:cNvGrpSpPr/>
              <p:nvPr/>
            </p:nvGrpSpPr>
            <p:grpSpPr>
              <a:xfrm>
                <a:off x="6267468" y="1880400"/>
                <a:ext cx="1224000" cy="653724"/>
                <a:chOff x="6936819" y="1587909"/>
                <a:chExt cx="1224000" cy="653724"/>
              </a:xfrm>
            </p:grpSpPr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57FF5809-DC3B-12A7-4335-470A570B2193}"/>
                    </a:ext>
                  </a:extLst>
                </p:cNvPr>
                <p:cNvSpPr/>
                <p:nvPr/>
              </p:nvSpPr>
              <p:spPr>
                <a:xfrm>
                  <a:off x="6936819" y="1587909"/>
                  <a:ext cx="1224000" cy="324000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Climate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9823F29B-6054-27A0-0A1E-CDBDDD4D3DFC}"/>
                    </a:ext>
                  </a:extLst>
                </p:cNvPr>
                <p:cNvSpPr/>
                <p:nvPr/>
              </p:nvSpPr>
              <p:spPr>
                <a:xfrm>
                  <a:off x="6936819" y="1917633"/>
                  <a:ext cx="612000" cy="324000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MAT</a:t>
                  </a:r>
                </a:p>
                <a:p>
                  <a:pPr algn="ctr"/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5865A653-027D-1EAA-30CF-C5EA2B209B93}"/>
                    </a:ext>
                  </a:extLst>
                </p:cNvPr>
                <p:cNvSpPr/>
                <p:nvPr/>
              </p:nvSpPr>
              <p:spPr>
                <a:xfrm>
                  <a:off x="7545954" y="1917633"/>
                  <a:ext cx="612000" cy="324000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MAP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11E3C994-8E9B-7887-012E-34A0A709C519}"/>
                  </a:ext>
                </a:extLst>
              </p:cNvPr>
              <p:cNvGrpSpPr/>
              <p:nvPr/>
            </p:nvGrpSpPr>
            <p:grpSpPr>
              <a:xfrm>
                <a:off x="8552094" y="1873286"/>
                <a:ext cx="1315789" cy="653724"/>
                <a:chOff x="6936819" y="1576034"/>
                <a:chExt cx="1315789" cy="653724"/>
              </a:xfrm>
            </p:grpSpPr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A4A1A56D-C6EE-514B-745F-AA2620864AB4}"/>
                    </a:ext>
                  </a:extLst>
                </p:cNvPr>
                <p:cNvSpPr/>
                <p:nvPr/>
              </p:nvSpPr>
              <p:spPr>
                <a:xfrm>
                  <a:off x="6936820" y="1576034"/>
                  <a:ext cx="1315788" cy="324000"/>
                </a:xfrm>
                <a:prstGeom prst="rect">
                  <a:avLst/>
                </a:prstGeom>
                <a:solidFill>
                  <a:srgbClr val="7030A0">
                    <a:alpha val="30000"/>
                  </a:srgbClr>
                </a:solidFill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Seasonality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37FBBA4E-4190-9243-EC6B-AA7C50CB0CA7}"/>
                    </a:ext>
                  </a:extLst>
                </p:cNvPr>
                <p:cNvSpPr/>
                <p:nvPr/>
              </p:nvSpPr>
              <p:spPr>
                <a:xfrm>
                  <a:off x="6936819" y="1905758"/>
                  <a:ext cx="658800" cy="324000"/>
                </a:xfrm>
                <a:prstGeom prst="rect">
                  <a:avLst/>
                </a:prstGeom>
                <a:noFill/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TS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871D3070-CA3C-A151-D4D5-E72B34A0ED95}"/>
                    </a:ext>
                  </a:extLst>
                </p:cNvPr>
                <p:cNvSpPr/>
                <p:nvPr/>
              </p:nvSpPr>
              <p:spPr>
                <a:xfrm>
                  <a:off x="7593808" y="1905758"/>
                  <a:ext cx="658800" cy="324000"/>
                </a:xfrm>
                <a:prstGeom prst="rect">
                  <a:avLst/>
                </a:prstGeom>
                <a:noFill/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PS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5FB0C4BD-4334-688D-A54C-0C28C76A4578}"/>
                  </a:ext>
                </a:extLst>
              </p:cNvPr>
              <p:cNvGrpSpPr/>
              <p:nvPr/>
            </p:nvGrpSpPr>
            <p:grpSpPr>
              <a:xfrm>
                <a:off x="10727908" y="3340206"/>
                <a:ext cx="1204630" cy="653724"/>
                <a:chOff x="6936820" y="1587909"/>
                <a:chExt cx="1204630" cy="653724"/>
              </a:xfrm>
            </p:grpSpPr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A9F3F069-B0FE-3795-77D9-C0A14ABF2163}"/>
                    </a:ext>
                  </a:extLst>
                </p:cNvPr>
                <p:cNvSpPr/>
                <p:nvPr/>
              </p:nvSpPr>
              <p:spPr>
                <a:xfrm>
                  <a:off x="6936820" y="1587909"/>
                  <a:ext cx="1204629" cy="324000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Soil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31647B19-78CF-397B-1D2F-EDEA66F2A84F}"/>
                    </a:ext>
                  </a:extLst>
                </p:cNvPr>
                <p:cNvSpPr/>
                <p:nvPr/>
              </p:nvSpPr>
              <p:spPr>
                <a:xfrm>
                  <a:off x="6936820" y="1917633"/>
                  <a:ext cx="549757" cy="32400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pH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B76FE37C-0DB8-A209-875D-72DC1CF07305}"/>
                    </a:ext>
                  </a:extLst>
                </p:cNvPr>
                <p:cNvSpPr/>
                <p:nvPr/>
              </p:nvSpPr>
              <p:spPr>
                <a:xfrm>
                  <a:off x="7486579" y="1917633"/>
                  <a:ext cx="654871" cy="32400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BD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391A9DEA-4B85-77F6-7DF0-031534EFD7F2}"/>
                  </a:ext>
                </a:extLst>
              </p:cNvPr>
              <p:cNvGrpSpPr/>
              <p:nvPr/>
            </p:nvGrpSpPr>
            <p:grpSpPr>
              <a:xfrm>
                <a:off x="6488569" y="3326490"/>
                <a:ext cx="2882230" cy="653947"/>
                <a:chOff x="6737362" y="3356657"/>
                <a:chExt cx="2882230" cy="653947"/>
              </a:xfrm>
            </p:grpSpPr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4B2ECF82-25C2-67A6-FD29-BDCEC7A9C679}"/>
                    </a:ext>
                  </a:extLst>
                </p:cNvPr>
                <p:cNvSpPr/>
                <p:nvPr/>
              </p:nvSpPr>
              <p:spPr>
                <a:xfrm>
                  <a:off x="6737362" y="3356657"/>
                  <a:ext cx="2882229" cy="32400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Vegetation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D2527C76-0D6D-568F-F229-E956DBB1BB0D}"/>
                    </a:ext>
                  </a:extLst>
                </p:cNvPr>
                <p:cNvSpPr/>
                <p:nvPr/>
              </p:nvSpPr>
              <p:spPr>
                <a:xfrm>
                  <a:off x="6737363" y="3686604"/>
                  <a:ext cx="576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GPP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CCF157A2-93D3-3004-5685-8DC82136D0F0}"/>
                    </a:ext>
                  </a:extLst>
                </p:cNvPr>
                <p:cNvSpPr/>
                <p:nvPr/>
              </p:nvSpPr>
              <p:spPr>
                <a:xfrm>
                  <a:off x="7315880" y="3686604"/>
                  <a:ext cx="1296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Shannon_EVI</a:t>
                  </a:r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C8F8CFAB-2288-1529-665C-42839837A5BC}"/>
                    </a:ext>
                  </a:extLst>
                </p:cNvPr>
                <p:cNvSpPr/>
                <p:nvPr/>
              </p:nvSpPr>
              <p:spPr>
                <a:xfrm>
                  <a:off x="8611592" y="3686604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Rootdepth</a:t>
                  </a:r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08BACE5-7C29-7BBE-32F8-EC83627990ED}"/>
                  </a:ext>
                </a:extLst>
              </p:cNvPr>
              <p:cNvSpPr/>
              <p:nvPr/>
            </p:nvSpPr>
            <p:spPr>
              <a:xfrm>
                <a:off x="8968819" y="4595760"/>
                <a:ext cx="1440000" cy="31383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CUE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279A8165-8969-74DD-7E93-6247FABC60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68224" y="1243344"/>
                <a:ext cx="743370" cy="631332"/>
              </a:xfrm>
              <a:prstGeom prst="straightConnector1">
                <a:avLst/>
              </a:prstGeom>
              <a:ln w="444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18413E9-1840-32DE-ED37-FD2F2E747031}"/>
                  </a:ext>
                </a:extLst>
              </p:cNvPr>
              <p:cNvSpPr txBox="1"/>
              <p:nvPr/>
            </p:nvSpPr>
            <p:spPr>
              <a:xfrm>
                <a:off x="6223634" y="1640390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0.22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3949209-F2A8-CD73-4639-5C829B0D3017}"/>
                  </a:ext>
                </a:extLst>
              </p:cNvPr>
              <p:cNvSpPr txBox="1"/>
              <p:nvPr/>
            </p:nvSpPr>
            <p:spPr>
              <a:xfrm rot="19376878">
                <a:off x="7420589" y="1290885"/>
                <a:ext cx="8046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-0.46***</a:t>
                </a:r>
              </a:p>
            </p:txBody>
          </p: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C5AA62EE-2574-EE05-76D6-79DDDAF414CD}"/>
                  </a:ext>
                </a:extLst>
              </p:cNvPr>
              <p:cNvCxnSpPr>
                <a:cxnSpLocks/>
                <a:endCxn id="96" idx="0"/>
              </p:cNvCxnSpPr>
              <p:nvPr/>
            </p:nvCxnSpPr>
            <p:spPr>
              <a:xfrm>
                <a:off x="7468224" y="2523655"/>
                <a:ext cx="461460" cy="802835"/>
              </a:xfrm>
              <a:prstGeom prst="straightConnector1">
                <a:avLst/>
              </a:prstGeom>
              <a:ln w="571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49AC120-92B0-A0DF-8B3C-3E6B3A111E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04807" y="1252401"/>
                <a:ext cx="17057" cy="644635"/>
              </a:xfrm>
              <a:prstGeom prst="straightConnector1">
                <a:avLst/>
              </a:prstGeom>
              <a:ln w="381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C986E057-DC5E-C9A2-7327-9CD4687592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11846" y="1250776"/>
                <a:ext cx="720000" cy="629425"/>
              </a:xfrm>
              <a:prstGeom prst="straightConnector1">
                <a:avLst/>
              </a:prstGeom>
              <a:ln w="317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55B08540-5541-1EA3-D4BC-8A3630E2BB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15724" y="2204400"/>
                <a:ext cx="1044000" cy="0"/>
              </a:xfrm>
              <a:prstGeom prst="straightConnector1">
                <a:avLst/>
              </a:prstGeom>
              <a:ln w="190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53CFCF59-F0E8-4921-5186-445DD30E6B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67883" y="2212069"/>
                <a:ext cx="1063963" cy="0"/>
              </a:xfrm>
              <a:prstGeom prst="straightConnector1">
                <a:avLst/>
              </a:prstGeom>
              <a:ln w="571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8A21EC9E-9468-0E91-9FC8-7CE18030C3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66315" y="2523529"/>
                <a:ext cx="1339423" cy="788604"/>
              </a:xfrm>
              <a:prstGeom prst="straightConnector1">
                <a:avLst/>
              </a:prstGeom>
              <a:ln w="381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059F262D-5F57-07C3-E466-22604A5708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97920" y="2508187"/>
                <a:ext cx="0" cy="829342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92D78CD-04F7-68E3-04B9-FB775FE4BA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29684" y="2541902"/>
                <a:ext cx="1274162" cy="772713"/>
              </a:xfrm>
              <a:prstGeom prst="straightConnector1">
                <a:avLst/>
              </a:prstGeom>
              <a:ln w="127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E2FE34BD-47D7-3C9B-0EF8-40DAE57651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70798" y="3659217"/>
                <a:ext cx="1357109" cy="16864"/>
              </a:xfrm>
              <a:prstGeom prst="straightConnector1">
                <a:avLst/>
              </a:prstGeom>
              <a:ln w="15875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5075B66A-F291-CC91-267E-A20BAF8DFB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60282" y="3980437"/>
                <a:ext cx="936449" cy="605356"/>
              </a:xfrm>
              <a:prstGeom prst="straightConnector1">
                <a:avLst/>
              </a:prstGeom>
              <a:ln w="41275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FD8012BC-A819-418C-C663-E0028B7D8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37477" y="3987183"/>
                <a:ext cx="703187" cy="593685"/>
              </a:xfrm>
              <a:prstGeom prst="straightConnector1">
                <a:avLst/>
              </a:prstGeom>
              <a:ln w="381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B575D3C-CC7A-25F6-1D78-2F4E5017BD0F}"/>
                  </a:ext>
                </a:extLst>
              </p:cNvPr>
              <p:cNvSpPr txBox="1"/>
              <p:nvPr/>
            </p:nvSpPr>
            <p:spPr>
              <a:xfrm>
                <a:off x="8409206" y="1652265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0.80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527FFF84-F005-CBB1-14E3-76DE69400A11}"/>
                  </a:ext>
                </a:extLst>
              </p:cNvPr>
              <p:cNvSpPr txBox="1"/>
              <p:nvPr/>
            </p:nvSpPr>
            <p:spPr>
              <a:xfrm>
                <a:off x="10946974" y="1640390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0.36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90128B7-B112-A36A-BD14-1F9D49D5260C}"/>
                  </a:ext>
                </a:extLst>
              </p:cNvPr>
              <p:cNvSpPr txBox="1"/>
              <p:nvPr/>
            </p:nvSpPr>
            <p:spPr>
              <a:xfrm>
                <a:off x="6681488" y="3082682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0.63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8951E93-0B1A-62FC-0D26-1FE212553192}"/>
                  </a:ext>
                </a:extLst>
              </p:cNvPr>
              <p:cNvSpPr txBox="1"/>
              <p:nvPr/>
            </p:nvSpPr>
            <p:spPr>
              <a:xfrm>
                <a:off x="9275082" y="4363964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0.16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2AA7F13-9F83-F289-E94B-F75497B5FD94}"/>
                  </a:ext>
                </a:extLst>
              </p:cNvPr>
              <p:cNvSpPr txBox="1"/>
              <p:nvPr/>
            </p:nvSpPr>
            <p:spPr>
              <a:xfrm>
                <a:off x="9186761" y="1404521"/>
                <a:ext cx="7242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-0.34***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1DD2A128-875E-F27B-0ED9-B4F1CE85B649}"/>
                  </a:ext>
                </a:extLst>
              </p:cNvPr>
              <p:cNvSpPr txBox="1"/>
              <p:nvPr/>
            </p:nvSpPr>
            <p:spPr>
              <a:xfrm>
                <a:off x="7609387" y="1975272"/>
                <a:ext cx="7501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-1.00***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9CB82E4-A2CB-6521-B695-336A27D251EF}"/>
                  </a:ext>
                </a:extLst>
              </p:cNvPr>
              <p:cNvSpPr txBox="1"/>
              <p:nvPr/>
            </p:nvSpPr>
            <p:spPr>
              <a:xfrm>
                <a:off x="10037477" y="1921032"/>
                <a:ext cx="8178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-0.52***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1720FFF-3211-5BAD-47BD-EAC0BBF96A3D}"/>
                  </a:ext>
                </a:extLst>
              </p:cNvPr>
              <p:cNvSpPr txBox="1"/>
              <p:nvPr/>
            </p:nvSpPr>
            <p:spPr>
              <a:xfrm rot="2397490">
                <a:off x="10276997" y="1392607"/>
                <a:ext cx="8966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-0.23***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CB0CB22E-C832-1B94-EE15-26AB429645F0}"/>
                  </a:ext>
                </a:extLst>
              </p:cNvPr>
              <p:cNvSpPr txBox="1"/>
              <p:nvPr/>
            </p:nvSpPr>
            <p:spPr>
              <a:xfrm rot="20198467">
                <a:off x="8489566" y="2785855"/>
                <a:ext cx="57024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-0.03</a:t>
                </a: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AEC5D4B-3D4B-75EA-D352-A99199C6A133}"/>
                  </a:ext>
                </a:extLst>
              </p:cNvPr>
              <p:cNvSpPr txBox="1"/>
              <p:nvPr/>
            </p:nvSpPr>
            <p:spPr>
              <a:xfrm rot="3719290">
                <a:off x="7150757" y="2807852"/>
                <a:ext cx="7983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-0.82***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1E8869E5-AF3B-200D-0BE5-958528654770}"/>
                  </a:ext>
                </a:extLst>
              </p:cNvPr>
              <p:cNvSpPr txBox="1"/>
              <p:nvPr/>
            </p:nvSpPr>
            <p:spPr>
              <a:xfrm>
                <a:off x="9856183" y="3427722"/>
                <a:ext cx="7747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-0.12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CA180E2-EEFB-8BF6-6FE3-9F1604186FE9}"/>
                  </a:ext>
                </a:extLst>
              </p:cNvPr>
              <p:cNvSpPr txBox="1"/>
              <p:nvPr/>
            </p:nvSpPr>
            <p:spPr>
              <a:xfrm rot="1915999">
                <a:off x="8612494" y="4117905"/>
                <a:ext cx="7491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-0.43***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375A98B-22C0-4595-7D60-E1AADA2F1570}"/>
                  </a:ext>
                </a:extLst>
              </p:cNvPr>
              <p:cNvSpPr txBox="1"/>
              <p:nvPr/>
            </p:nvSpPr>
            <p:spPr>
              <a:xfrm rot="19364745">
                <a:off x="10052442" y="3999010"/>
                <a:ext cx="76686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-0.26***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BDAF471-6F55-D84B-A8D4-CF98C014E0A1}"/>
                  </a:ext>
                </a:extLst>
              </p:cNvPr>
              <p:cNvSpPr txBox="1"/>
              <p:nvPr/>
            </p:nvSpPr>
            <p:spPr>
              <a:xfrm>
                <a:off x="11266005" y="2715773"/>
                <a:ext cx="7002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0.14***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AC6E085-9B1B-3271-1EA3-4DB076BF881C}"/>
                  </a:ext>
                </a:extLst>
              </p:cNvPr>
              <p:cNvSpPr txBox="1"/>
              <p:nvPr/>
            </p:nvSpPr>
            <p:spPr>
              <a:xfrm rot="1651559">
                <a:off x="10141059" y="2633471"/>
                <a:ext cx="7438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-0.32***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7BE158C-BCB1-92D7-9072-894CF5643B7E}"/>
                  </a:ext>
                </a:extLst>
              </p:cNvPr>
              <p:cNvSpPr txBox="1"/>
              <p:nvPr/>
            </p:nvSpPr>
            <p:spPr>
              <a:xfrm>
                <a:off x="6875390" y="4617555"/>
                <a:ext cx="1124026" cy="3079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GOF = 0.51</a:t>
                </a:r>
              </a:p>
            </p:txBody>
          </p:sp>
        </p:grp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738B7517-20F1-4288-054F-E002D3ED8933}"/>
                </a:ext>
              </a:extLst>
            </p:cNvPr>
            <p:cNvSpPr txBox="1"/>
            <p:nvPr/>
          </p:nvSpPr>
          <p:spPr>
            <a:xfrm>
              <a:off x="701202" y="675614"/>
              <a:ext cx="9850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Topsoil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51A9DBFD-4866-92DE-A1D3-316C5C533062}"/>
                </a:ext>
              </a:extLst>
            </p:cNvPr>
            <p:cNvCxnSpPr>
              <a:cxnSpLocks/>
            </p:cNvCxnSpPr>
            <p:nvPr/>
          </p:nvCxnSpPr>
          <p:spPr>
            <a:xfrm>
              <a:off x="4399345" y="5455703"/>
              <a:ext cx="1096672" cy="0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4F120792-945D-6058-1BAB-2BCACF8DFF19}"/>
                </a:ext>
              </a:extLst>
            </p:cNvPr>
            <p:cNvCxnSpPr>
              <a:cxnSpLocks/>
            </p:cNvCxnSpPr>
            <p:nvPr/>
          </p:nvCxnSpPr>
          <p:spPr>
            <a:xfrm>
              <a:off x="1949265" y="5455703"/>
              <a:ext cx="1096672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6A6AAB0-114E-7D57-3D9D-E2FB7ECB6C0D}"/>
                </a:ext>
              </a:extLst>
            </p:cNvPr>
            <p:cNvSpPr txBox="1"/>
            <p:nvPr/>
          </p:nvSpPr>
          <p:spPr>
            <a:xfrm>
              <a:off x="652180" y="5303614"/>
              <a:ext cx="1297086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Positive effect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599B730-0898-6BED-E92C-735A91A5BF01}"/>
                </a:ext>
              </a:extLst>
            </p:cNvPr>
            <p:cNvSpPr txBox="1"/>
            <p:nvPr/>
          </p:nvSpPr>
          <p:spPr>
            <a:xfrm>
              <a:off x="3035997" y="5316626"/>
              <a:ext cx="1375633" cy="307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Negative effect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F5B84B48-9BEE-58BF-25C7-50B32AD85E29}"/>
              </a:ext>
            </a:extLst>
          </p:cNvPr>
          <p:cNvGrpSpPr/>
          <p:nvPr/>
        </p:nvGrpSpPr>
        <p:grpSpPr>
          <a:xfrm>
            <a:off x="6234311" y="726472"/>
            <a:ext cx="5870740" cy="4832271"/>
            <a:chOff x="6234307" y="726470"/>
            <a:chExt cx="5870740" cy="483226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ACD1E0E-FE0F-DCC0-3DAC-C66A7FA913F2}"/>
                </a:ext>
              </a:extLst>
            </p:cNvPr>
            <p:cNvGrpSpPr/>
            <p:nvPr/>
          </p:nvGrpSpPr>
          <p:grpSpPr>
            <a:xfrm>
              <a:off x="6234307" y="726470"/>
              <a:ext cx="5870740" cy="4320102"/>
              <a:chOff x="6223634" y="589620"/>
              <a:chExt cx="5870740" cy="432010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C6EEAA-1471-6961-948E-FCCB1EE5D354}"/>
                  </a:ext>
                </a:extLst>
              </p:cNvPr>
              <p:cNvSpPr txBox="1"/>
              <p:nvPr/>
            </p:nvSpPr>
            <p:spPr>
              <a:xfrm>
                <a:off x="11266903" y="3110354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0.46</a:t>
                </a: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46FCC8C-5FCB-BAF2-0031-BC272AAB5E5D}"/>
                  </a:ext>
                </a:extLst>
              </p:cNvPr>
              <p:cNvGrpSpPr/>
              <p:nvPr/>
            </p:nvGrpSpPr>
            <p:grpSpPr>
              <a:xfrm>
                <a:off x="8206319" y="589620"/>
                <a:ext cx="2005527" cy="653724"/>
                <a:chOff x="6875812" y="1043464"/>
                <a:chExt cx="2005527" cy="653724"/>
              </a:xfrm>
              <a:solidFill>
                <a:schemeClr val="accent2">
                  <a:lumMod val="60000"/>
                  <a:lumOff val="40000"/>
                </a:schemeClr>
              </a:solidFill>
            </p:grpSpPr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F05F816F-F919-54C0-33F6-2F7C9AD979B5}"/>
                    </a:ext>
                  </a:extLst>
                </p:cNvPr>
                <p:cNvSpPr/>
                <p:nvPr/>
              </p:nvSpPr>
              <p:spPr>
                <a:xfrm>
                  <a:off x="6875812" y="1043464"/>
                  <a:ext cx="2005527" cy="324000"/>
                </a:xfrm>
                <a:prstGeom prst="rect">
                  <a:avLst/>
                </a:prstGeom>
                <a:grp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Topography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1CD7F292-AD08-8809-CD64-7C5AE72FE186}"/>
                    </a:ext>
                  </a:extLst>
                </p:cNvPr>
                <p:cNvSpPr/>
                <p:nvPr/>
              </p:nvSpPr>
              <p:spPr>
                <a:xfrm>
                  <a:off x="6875812" y="1373188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Elevation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7F97A0DE-2BFC-D4A7-6FEC-4C9F8E35538E}"/>
                    </a:ext>
                  </a:extLst>
                </p:cNvPr>
                <p:cNvSpPr/>
                <p:nvPr/>
              </p:nvSpPr>
              <p:spPr>
                <a:xfrm>
                  <a:off x="7873339" y="1373188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Slope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27F4618-9DFF-F73E-77D9-D982FA4060B3}"/>
                  </a:ext>
                </a:extLst>
              </p:cNvPr>
              <p:cNvSpPr/>
              <p:nvPr/>
            </p:nvSpPr>
            <p:spPr>
              <a:xfrm>
                <a:off x="10936004" y="1860187"/>
                <a:ext cx="984659" cy="648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Clay</a:t>
                </a: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content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2524F6D3-47FB-405C-FF99-C0115B3D8C7A}"/>
                  </a:ext>
                </a:extLst>
              </p:cNvPr>
              <p:cNvGrpSpPr/>
              <p:nvPr/>
            </p:nvGrpSpPr>
            <p:grpSpPr>
              <a:xfrm>
                <a:off x="6267468" y="1880400"/>
                <a:ext cx="1224000" cy="653724"/>
                <a:chOff x="6936819" y="1587909"/>
                <a:chExt cx="1224000" cy="653724"/>
              </a:xfrm>
            </p:grpSpPr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277CF5F5-2504-99F6-2B17-996C85F03E17}"/>
                    </a:ext>
                  </a:extLst>
                </p:cNvPr>
                <p:cNvSpPr/>
                <p:nvPr/>
              </p:nvSpPr>
              <p:spPr>
                <a:xfrm>
                  <a:off x="6936819" y="1587909"/>
                  <a:ext cx="1224000" cy="324000"/>
                </a:xfrm>
                <a:prstGeom prst="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Climate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7D5928B6-CCB6-E31E-5E1E-CB6FBD534279}"/>
                    </a:ext>
                  </a:extLst>
                </p:cNvPr>
                <p:cNvSpPr/>
                <p:nvPr/>
              </p:nvSpPr>
              <p:spPr>
                <a:xfrm>
                  <a:off x="6936819" y="1917633"/>
                  <a:ext cx="612000" cy="324000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MAT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B78566F6-326D-9B11-DBA4-BAE679613DC6}"/>
                    </a:ext>
                  </a:extLst>
                </p:cNvPr>
                <p:cNvSpPr/>
                <p:nvPr/>
              </p:nvSpPr>
              <p:spPr>
                <a:xfrm>
                  <a:off x="7545954" y="1917633"/>
                  <a:ext cx="612000" cy="324000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MAP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CF71BECB-6337-34E7-349F-EA10C416E01A}"/>
                  </a:ext>
                </a:extLst>
              </p:cNvPr>
              <p:cNvGrpSpPr/>
              <p:nvPr/>
            </p:nvGrpSpPr>
            <p:grpSpPr>
              <a:xfrm>
                <a:off x="8552094" y="1873286"/>
                <a:ext cx="1315789" cy="653724"/>
                <a:chOff x="6936819" y="1576034"/>
                <a:chExt cx="1315789" cy="653724"/>
              </a:xfrm>
            </p:grpSpPr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5B65F5FC-B1FC-1D06-580B-0A755D2DBA8D}"/>
                    </a:ext>
                  </a:extLst>
                </p:cNvPr>
                <p:cNvSpPr/>
                <p:nvPr/>
              </p:nvSpPr>
              <p:spPr>
                <a:xfrm>
                  <a:off x="6936820" y="1576034"/>
                  <a:ext cx="1315788" cy="324000"/>
                </a:xfrm>
                <a:prstGeom prst="rect">
                  <a:avLst/>
                </a:prstGeom>
                <a:solidFill>
                  <a:srgbClr val="7030A0">
                    <a:alpha val="30000"/>
                  </a:srgbClr>
                </a:solidFill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Seasonality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14B5BE0A-ED5B-4493-4CF6-F684E24DF8A5}"/>
                    </a:ext>
                  </a:extLst>
                </p:cNvPr>
                <p:cNvSpPr/>
                <p:nvPr/>
              </p:nvSpPr>
              <p:spPr>
                <a:xfrm>
                  <a:off x="6936819" y="1905758"/>
                  <a:ext cx="658800" cy="324000"/>
                </a:xfrm>
                <a:prstGeom prst="rect">
                  <a:avLst/>
                </a:prstGeom>
                <a:noFill/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TS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38874FF2-F0A9-0FC3-E7C0-157CA3728479}"/>
                    </a:ext>
                  </a:extLst>
                </p:cNvPr>
                <p:cNvSpPr/>
                <p:nvPr/>
              </p:nvSpPr>
              <p:spPr>
                <a:xfrm>
                  <a:off x="7593808" y="1905758"/>
                  <a:ext cx="658800" cy="324000"/>
                </a:xfrm>
                <a:prstGeom prst="rect">
                  <a:avLst/>
                </a:prstGeom>
                <a:noFill/>
                <a:ln>
                  <a:solidFill>
                    <a:srgbClr val="7030A0">
                      <a:alpha val="30000"/>
                    </a:srgb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PS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B794872E-B58A-A4B0-1AD9-E09081663C9B}"/>
                  </a:ext>
                </a:extLst>
              </p:cNvPr>
              <p:cNvGrpSpPr/>
              <p:nvPr/>
            </p:nvGrpSpPr>
            <p:grpSpPr>
              <a:xfrm>
                <a:off x="10727908" y="3340206"/>
                <a:ext cx="1204630" cy="653724"/>
                <a:chOff x="6936820" y="1587909"/>
                <a:chExt cx="1204630" cy="653724"/>
              </a:xfrm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74B4EFC4-1155-52A0-7C6D-7E6C2B1160C0}"/>
                    </a:ext>
                  </a:extLst>
                </p:cNvPr>
                <p:cNvSpPr/>
                <p:nvPr/>
              </p:nvSpPr>
              <p:spPr>
                <a:xfrm>
                  <a:off x="6936820" y="1587909"/>
                  <a:ext cx="1204629" cy="324000"/>
                </a:xfrm>
                <a:prstGeom prst="rect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Soil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293000C1-0ECF-E1A5-C2FF-081C937E0F2E}"/>
                    </a:ext>
                  </a:extLst>
                </p:cNvPr>
                <p:cNvSpPr/>
                <p:nvPr/>
              </p:nvSpPr>
              <p:spPr>
                <a:xfrm>
                  <a:off x="6936820" y="1917633"/>
                  <a:ext cx="549757" cy="32400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pH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6F1EA22E-5F27-9A45-DCB2-956FB0C28BB8}"/>
                    </a:ext>
                  </a:extLst>
                </p:cNvPr>
                <p:cNvSpPr/>
                <p:nvPr/>
              </p:nvSpPr>
              <p:spPr>
                <a:xfrm>
                  <a:off x="7486579" y="1917633"/>
                  <a:ext cx="654871" cy="32400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BD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BA6667BA-3C37-7494-ADA8-953384EC5EE7}"/>
                  </a:ext>
                </a:extLst>
              </p:cNvPr>
              <p:cNvGrpSpPr/>
              <p:nvPr/>
            </p:nvGrpSpPr>
            <p:grpSpPr>
              <a:xfrm>
                <a:off x="6488569" y="3326490"/>
                <a:ext cx="2882230" cy="653947"/>
                <a:chOff x="6737362" y="3356657"/>
                <a:chExt cx="2882230" cy="653947"/>
              </a:xfrm>
            </p:grpSpPr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8A7F3D41-E60A-D52D-A553-5AED3757D782}"/>
                    </a:ext>
                  </a:extLst>
                </p:cNvPr>
                <p:cNvSpPr/>
                <p:nvPr/>
              </p:nvSpPr>
              <p:spPr>
                <a:xfrm>
                  <a:off x="6737362" y="3356657"/>
                  <a:ext cx="2882229" cy="32400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Vegetation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846E6B09-0944-59EF-32CD-59AD9542E724}"/>
                    </a:ext>
                  </a:extLst>
                </p:cNvPr>
                <p:cNvSpPr/>
                <p:nvPr/>
              </p:nvSpPr>
              <p:spPr>
                <a:xfrm>
                  <a:off x="6737363" y="3686604"/>
                  <a:ext cx="576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GPP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07C86283-A5A9-E569-1415-05D99823FE37}"/>
                    </a:ext>
                  </a:extLst>
                </p:cNvPr>
                <p:cNvSpPr/>
                <p:nvPr/>
              </p:nvSpPr>
              <p:spPr>
                <a:xfrm>
                  <a:off x="7315880" y="3686604"/>
                  <a:ext cx="1296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Shannon_EVI</a:t>
                  </a:r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50B7807B-4946-42D9-70D2-35001DD8989F}"/>
                    </a:ext>
                  </a:extLst>
                </p:cNvPr>
                <p:cNvSpPr/>
                <p:nvPr/>
              </p:nvSpPr>
              <p:spPr>
                <a:xfrm>
                  <a:off x="8611592" y="3686604"/>
                  <a:ext cx="1008000" cy="324000"/>
                </a:xfrm>
                <a:prstGeom prst="rect">
                  <a:avLst/>
                </a:prstGeom>
                <a:noFill/>
                <a:ln>
                  <a:solidFill>
                    <a:schemeClr val="accent6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sz="140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Rootdepth</a:t>
                  </a:r>
                  <a:endParaRPr lang="en-US" sz="140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4D48F2B-5181-13C3-2C3C-3275DBF0DAD1}"/>
                  </a:ext>
                </a:extLst>
              </p:cNvPr>
              <p:cNvSpPr/>
              <p:nvPr/>
            </p:nvSpPr>
            <p:spPr>
              <a:xfrm>
                <a:off x="8968819" y="4595760"/>
                <a:ext cx="1440000" cy="31383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CUE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3B9D9FA3-6E9F-D2AA-0752-F61D151D181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68224" y="1243344"/>
                <a:ext cx="743370" cy="631332"/>
              </a:xfrm>
              <a:prstGeom prst="straightConnector1">
                <a:avLst/>
              </a:prstGeom>
              <a:ln w="254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44F80AF-5BFF-0620-98C1-CB87ABD9D610}"/>
                  </a:ext>
                </a:extLst>
              </p:cNvPr>
              <p:cNvSpPr txBox="1"/>
              <p:nvPr/>
            </p:nvSpPr>
            <p:spPr>
              <a:xfrm>
                <a:off x="6223634" y="1640389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0.01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7B22B3-3924-FC83-6624-EDB73BF4BA6A}"/>
                  </a:ext>
                </a:extLst>
              </p:cNvPr>
              <p:cNvSpPr txBox="1"/>
              <p:nvPr/>
            </p:nvSpPr>
            <p:spPr>
              <a:xfrm rot="19376878">
                <a:off x="7420589" y="1290884"/>
                <a:ext cx="80461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-0.12*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6DB1CA8-B62F-6DA3-F83E-D701AD8D6973}"/>
                  </a:ext>
                </a:extLst>
              </p:cNvPr>
              <p:cNvCxnSpPr>
                <a:cxnSpLocks/>
                <a:endCxn id="41" idx="0"/>
              </p:cNvCxnSpPr>
              <p:nvPr/>
            </p:nvCxnSpPr>
            <p:spPr>
              <a:xfrm>
                <a:off x="7468224" y="2523655"/>
                <a:ext cx="461460" cy="802835"/>
              </a:xfrm>
              <a:prstGeom prst="straightConnector1">
                <a:avLst/>
              </a:prstGeom>
              <a:ln w="571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5CC410CB-265C-2B74-EA5A-8ED71CCAE0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04807" y="1252401"/>
                <a:ext cx="17057" cy="644635"/>
              </a:xfrm>
              <a:prstGeom prst="straightConnector1">
                <a:avLst/>
              </a:prstGeom>
              <a:ln w="28575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032A589-C3E7-2E14-9538-3BE9B19FDB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11846" y="1250776"/>
                <a:ext cx="720000" cy="629425"/>
              </a:xfrm>
              <a:prstGeom prst="straightConnector1">
                <a:avLst/>
              </a:prstGeom>
              <a:ln w="12700">
                <a:solidFill>
                  <a:srgbClr val="C0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5E9C8CE-9EB8-1848-CF2C-8F4EFB5C8F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03849" y="2204400"/>
                <a:ext cx="1044000" cy="0"/>
              </a:xfrm>
              <a:prstGeom prst="straightConnector1">
                <a:avLst/>
              </a:prstGeom>
              <a:ln w="5080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81DBA87E-B687-50FA-881D-CCFF011932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67883" y="2212069"/>
                <a:ext cx="1063963" cy="0"/>
              </a:xfrm>
              <a:prstGeom prst="straightConnector1">
                <a:avLst/>
              </a:prstGeom>
              <a:ln w="28575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1EA06883-5B8A-7349-A5CA-3498081F0A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66315" y="2523529"/>
                <a:ext cx="1339423" cy="788604"/>
              </a:xfrm>
              <a:prstGeom prst="straightConnector1">
                <a:avLst/>
              </a:prstGeom>
              <a:ln w="444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11B831B5-111D-2B45-1E96-DA20AC3C84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97920" y="2508187"/>
                <a:ext cx="0" cy="829342"/>
              </a:xfrm>
              <a:prstGeom prst="straightConnector1">
                <a:avLst/>
              </a:prstGeom>
              <a:ln w="22225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AF3F8D72-31E2-E4DC-F9C4-B97E750555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29684" y="2541902"/>
                <a:ext cx="1274162" cy="772713"/>
              </a:xfrm>
              <a:prstGeom prst="straightConnector1">
                <a:avLst/>
              </a:prstGeom>
              <a:ln w="317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30C7FE44-D7C6-39B4-A960-5EE87FD3A04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370798" y="3659217"/>
                <a:ext cx="1357109" cy="16864"/>
              </a:xfrm>
              <a:prstGeom prst="straightConnector1">
                <a:avLst/>
              </a:prstGeom>
              <a:ln w="15875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8D843A6E-35AD-96F0-62E2-9609E0353A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60282" y="3980437"/>
                <a:ext cx="936449" cy="605356"/>
              </a:xfrm>
              <a:prstGeom prst="straightConnector1">
                <a:avLst/>
              </a:prstGeom>
              <a:ln w="3175">
                <a:solidFill>
                  <a:srgbClr val="C0000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D3BE6F22-98D6-0311-35CE-EAD4784AF7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37477" y="3987183"/>
                <a:ext cx="703187" cy="593685"/>
              </a:xfrm>
              <a:prstGeom prst="straightConnector1">
                <a:avLst/>
              </a:prstGeom>
              <a:ln w="444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9681E84-2382-1E37-8D9D-4B8D5EA1AB01}"/>
                  </a:ext>
                </a:extLst>
              </p:cNvPr>
              <p:cNvSpPr txBox="1"/>
              <p:nvPr/>
            </p:nvSpPr>
            <p:spPr>
              <a:xfrm>
                <a:off x="8409206" y="1652263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0.80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03BCF56-2BD5-1915-62CF-32C4548D1B07}"/>
                  </a:ext>
                </a:extLst>
              </p:cNvPr>
              <p:cNvSpPr txBox="1"/>
              <p:nvPr/>
            </p:nvSpPr>
            <p:spPr>
              <a:xfrm>
                <a:off x="10946974" y="1640389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0.08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E69F86A-923E-61B3-CFB5-EDEAEE7FEE81}"/>
                  </a:ext>
                </a:extLst>
              </p:cNvPr>
              <p:cNvSpPr txBox="1"/>
              <p:nvPr/>
            </p:nvSpPr>
            <p:spPr>
              <a:xfrm>
                <a:off x="6681488" y="3082683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0.63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DAA5E37-6A1A-9C5E-C604-A6A81DD2EFBA}"/>
                  </a:ext>
                </a:extLst>
              </p:cNvPr>
              <p:cNvSpPr txBox="1"/>
              <p:nvPr/>
            </p:nvSpPr>
            <p:spPr>
              <a:xfrm>
                <a:off x="9275082" y="4363965"/>
                <a:ext cx="8274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en-US" sz="1200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 = 0.23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FD15AF8-64AA-844B-125D-551D2FC768F4}"/>
                  </a:ext>
                </a:extLst>
              </p:cNvPr>
              <p:cNvSpPr txBox="1"/>
              <p:nvPr/>
            </p:nvSpPr>
            <p:spPr>
              <a:xfrm>
                <a:off x="9186761" y="1404522"/>
                <a:ext cx="7242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-0.29***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227EBB7-DBF1-8226-911E-F929251BF3AF}"/>
                  </a:ext>
                </a:extLst>
              </p:cNvPr>
              <p:cNvSpPr txBox="1"/>
              <p:nvPr/>
            </p:nvSpPr>
            <p:spPr>
              <a:xfrm>
                <a:off x="7609387" y="1975273"/>
                <a:ext cx="7501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-0.88***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F1A5967-06A3-A8DA-AFA6-CD4D0204594A}"/>
                  </a:ext>
                </a:extLst>
              </p:cNvPr>
              <p:cNvSpPr txBox="1"/>
              <p:nvPr/>
            </p:nvSpPr>
            <p:spPr>
              <a:xfrm>
                <a:off x="10037477" y="1921033"/>
                <a:ext cx="8178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-0.25***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DF48281-614E-2473-CB55-720D2CC04A2E}"/>
                  </a:ext>
                </a:extLst>
              </p:cNvPr>
              <p:cNvSpPr txBox="1"/>
              <p:nvPr/>
            </p:nvSpPr>
            <p:spPr>
              <a:xfrm rot="2397490">
                <a:off x="10276997" y="1392606"/>
                <a:ext cx="8966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0.08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27040E5-AFDB-FE48-9AA1-E783FB30E92E}"/>
                  </a:ext>
                </a:extLst>
              </p:cNvPr>
              <p:cNvSpPr txBox="1"/>
              <p:nvPr/>
            </p:nvSpPr>
            <p:spPr>
              <a:xfrm rot="19628636">
                <a:off x="8482098" y="2749730"/>
                <a:ext cx="75248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-0.37***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0D5DC5E-3A5D-9144-272F-FFF52B044EC0}"/>
                  </a:ext>
                </a:extLst>
              </p:cNvPr>
              <p:cNvSpPr txBox="1"/>
              <p:nvPr/>
            </p:nvSpPr>
            <p:spPr>
              <a:xfrm rot="3719290">
                <a:off x="7150757" y="2807851"/>
                <a:ext cx="79834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-0.99***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2F6B954-E1B7-C6FF-E67F-306B4C3E9EAB}"/>
                  </a:ext>
                </a:extLst>
              </p:cNvPr>
              <p:cNvSpPr txBox="1"/>
              <p:nvPr/>
            </p:nvSpPr>
            <p:spPr>
              <a:xfrm>
                <a:off x="9856183" y="3427722"/>
                <a:ext cx="7747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-0.15***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76A6EBE-07A9-246B-F2D9-1636516FFB24}"/>
                  </a:ext>
                </a:extLst>
              </p:cNvPr>
              <p:cNvSpPr txBox="1"/>
              <p:nvPr/>
            </p:nvSpPr>
            <p:spPr>
              <a:xfrm rot="1915999">
                <a:off x="8612494" y="4117907"/>
                <a:ext cx="74912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0.003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1208A96-F8B1-BE20-9C13-B28D9E223ED2}"/>
                  </a:ext>
                </a:extLst>
              </p:cNvPr>
              <p:cNvSpPr txBox="1"/>
              <p:nvPr/>
            </p:nvSpPr>
            <p:spPr>
              <a:xfrm rot="19364745">
                <a:off x="10052442" y="3999012"/>
                <a:ext cx="76686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-0.47***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2A693CC-30C3-1E68-B6BA-903375DF13CD}"/>
                  </a:ext>
                </a:extLst>
              </p:cNvPr>
              <p:cNvSpPr txBox="1"/>
              <p:nvPr/>
            </p:nvSpPr>
            <p:spPr>
              <a:xfrm>
                <a:off x="11266005" y="2715774"/>
                <a:ext cx="70023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0.26***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02B32ED-669D-EF9D-4750-2D0E3C7A3FE7}"/>
                  </a:ext>
                </a:extLst>
              </p:cNvPr>
              <p:cNvSpPr txBox="1"/>
              <p:nvPr/>
            </p:nvSpPr>
            <p:spPr>
              <a:xfrm rot="1651559">
                <a:off x="10141059" y="2633472"/>
                <a:ext cx="7438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-0.56***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8B4DF56-21C8-01A9-30FA-C4BA68EFEEFC}"/>
                  </a:ext>
                </a:extLst>
              </p:cNvPr>
              <p:cNvSpPr txBox="1"/>
              <p:nvPr/>
            </p:nvSpPr>
            <p:spPr>
              <a:xfrm>
                <a:off x="6823099" y="4601817"/>
                <a:ext cx="1124026" cy="3079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GOF = 0.50</a:t>
                </a:r>
              </a:p>
            </p:txBody>
          </p:sp>
        </p:grp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7290ED3C-86E5-7898-44FF-B9808B351575}"/>
                </a:ext>
              </a:extLst>
            </p:cNvPr>
            <p:cNvSpPr txBox="1"/>
            <p:nvPr/>
          </p:nvSpPr>
          <p:spPr>
            <a:xfrm>
              <a:off x="6274495" y="726470"/>
              <a:ext cx="10278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Subsoil</a:t>
              </a:r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CA2795FE-A2BB-C101-EC38-B1C45E014C82}"/>
                </a:ext>
              </a:extLst>
            </p:cNvPr>
            <p:cNvCxnSpPr>
              <a:cxnSpLocks/>
            </p:cNvCxnSpPr>
            <p:nvPr/>
          </p:nvCxnSpPr>
          <p:spPr>
            <a:xfrm>
              <a:off x="10317665" y="5389910"/>
              <a:ext cx="1096672" cy="0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8BCC5063-0B93-931E-218C-D7DE4E086C13}"/>
                </a:ext>
              </a:extLst>
            </p:cNvPr>
            <p:cNvCxnSpPr>
              <a:cxnSpLocks/>
            </p:cNvCxnSpPr>
            <p:nvPr/>
          </p:nvCxnSpPr>
          <p:spPr>
            <a:xfrm>
              <a:off x="7867585" y="5389910"/>
              <a:ext cx="1096672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DBF35BA3-21BF-AE12-B2DE-3458829F92AB}"/>
                </a:ext>
              </a:extLst>
            </p:cNvPr>
            <p:cNvSpPr txBox="1"/>
            <p:nvPr/>
          </p:nvSpPr>
          <p:spPr>
            <a:xfrm>
              <a:off x="6570499" y="5237821"/>
              <a:ext cx="1297086" cy="3079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Positive effect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12B0E6B3-7A43-D42E-8C7E-34FF990520F1}"/>
                </a:ext>
              </a:extLst>
            </p:cNvPr>
            <p:cNvSpPr txBox="1"/>
            <p:nvPr/>
          </p:nvSpPr>
          <p:spPr>
            <a:xfrm>
              <a:off x="8954314" y="5250833"/>
              <a:ext cx="1375633" cy="3079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Negative effect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7294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B86EC646-302F-5631-1369-AA73941B4D40}"/>
              </a:ext>
            </a:extLst>
          </p:cNvPr>
          <p:cNvGrpSpPr/>
          <p:nvPr/>
        </p:nvGrpSpPr>
        <p:grpSpPr>
          <a:xfrm>
            <a:off x="40636" y="-101730"/>
            <a:ext cx="12422424" cy="11701490"/>
            <a:chOff x="40636" y="-101730"/>
            <a:chExt cx="12422424" cy="11701490"/>
          </a:xfrm>
        </p:grpSpPr>
        <p:cxnSp>
          <p:nvCxnSpPr>
            <p:cNvPr id="236" name="Straight Arrow Connector 235">
              <a:extLst>
                <a:ext uri="{FF2B5EF4-FFF2-40B4-BE49-F238E27FC236}">
                  <a16:creationId xmlns:a16="http://schemas.microsoft.com/office/drawing/2014/main" id="{FC982087-423D-9AD5-4A9F-93474F474F70}"/>
                </a:ext>
              </a:extLst>
            </p:cNvPr>
            <p:cNvCxnSpPr>
              <a:cxnSpLocks/>
            </p:cNvCxnSpPr>
            <p:nvPr/>
          </p:nvCxnSpPr>
          <p:spPr>
            <a:xfrm>
              <a:off x="4584702" y="11436595"/>
              <a:ext cx="900000" cy="0"/>
            </a:xfrm>
            <a:prstGeom prst="straightConnector1">
              <a:avLst/>
            </a:prstGeom>
            <a:ln w="381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Arrow Connector 236">
              <a:extLst>
                <a:ext uri="{FF2B5EF4-FFF2-40B4-BE49-F238E27FC236}">
                  <a16:creationId xmlns:a16="http://schemas.microsoft.com/office/drawing/2014/main" id="{7DB1015F-2A85-EC1C-A091-4A5713C43617}"/>
                </a:ext>
              </a:extLst>
            </p:cNvPr>
            <p:cNvCxnSpPr>
              <a:cxnSpLocks/>
            </p:cNvCxnSpPr>
            <p:nvPr/>
          </p:nvCxnSpPr>
          <p:spPr>
            <a:xfrm>
              <a:off x="2023494" y="11420395"/>
              <a:ext cx="900000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EF3CEB71-2337-CA74-4343-1C864E204C14}"/>
                </a:ext>
              </a:extLst>
            </p:cNvPr>
            <p:cNvSpPr txBox="1"/>
            <p:nvPr/>
          </p:nvSpPr>
          <p:spPr>
            <a:xfrm>
              <a:off x="561124" y="11241493"/>
              <a:ext cx="145854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Positive effect</a:t>
              </a:r>
            </a:p>
          </p:txBody>
        </p: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9CF155E7-F441-2D5A-D009-CCAC1AFFC1D9}"/>
                </a:ext>
              </a:extLst>
            </p:cNvPr>
            <p:cNvSpPr txBox="1"/>
            <p:nvPr/>
          </p:nvSpPr>
          <p:spPr>
            <a:xfrm>
              <a:off x="3042246" y="11261206"/>
              <a:ext cx="15415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Negative effect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D147355-89A9-8586-4A75-C911540E3D28}"/>
                </a:ext>
              </a:extLst>
            </p:cNvPr>
            <p:cNvGrpSpPr/>
            <p:nvPr/>
          </p:nvGrpSpPr>
          <p:grpSpPr>
            <a:xfrm>
              <a:off x="40636" y="-101730"/>
              <a:ext cx="12422424" cy="11490754"/>
              <a:chOff x="40636" y="-101730"/>
              <a:chExt cx="12422424" cy="114907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C8E19D4-2B42-3AEF-73C4-B41CC9A4B3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96775" y="6652607"/>
                <a:ext cx="5184000" cy="4320000"/>
              </a:xfrm>
              <a:prstGeom prst="rect">
                <a:avLst/>
              </a:prstGeom>
            </p:spPr>
          </p:pic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A8CC59FB-BD85-16FD-96D4-13389B912DD8}"/>
                  </a:ext>
                </a:extLst>
              </p:cNvPr>
              <p:cNvGrpSpPr/>
              <p:nvPr/>
            </p:nvGrpSpPr>
            <p:grpSpPr>
              <a:xfrm>
                <a:off x="40636" y="-101730"/>
                <a:ext cx="11743177" cy="11490754"/>
                <a:chOff x="40636" y="-101730"/>
                <a:chExt cx="11743177" cy="11490754"/>
              </a:xfrm>
            </p:grpSpPr>
            <p:grpSp>
              <p:nvGrpSpPr>
                <p:cNvPr id="320" name="Group 319">
                  <a:extLst>
                    <a:ext uri="{FF2B5EF4-FFF2-40B4-BE49-F238E27FC236}">
                      <a16:creationId xmlns:a16="http://schemas.microsoft.com/office/drawing/2014/main" id="{4E5289E7-AB5A-FA03-FD68-692C28C49F09}"/>
                    </a:ext>
                  </a:extLst>
                </p:cNvPr>
                <p:cNvGrpSpPr/>
                <p:nvPr/>
              </p:nvGrpSpPr>
              <p:grpSpPr>
                <a:xfrm>
                  <a:off x="40636" y="-101730"/>
                  <a:ext cx="5878523" cy="5501917"/>
                  <a:chOff x="40636" y="-101730"/>
                  <a:chExt cx="5878523" cy="5501917"/>
                </a:xfrm>
              </p:grpSpPr>
              <p:grpSp>
                <p:nvGrpSpPr>
                  <p:cNvPr id="57" name="Group 56">
                    <a:extLst>
                      <a:ext uri="{FF2B5EF4-FFF2-40B4-BE49-F238E27FC236}">
                        <a16:creationId xmlns:a16="http://schemas.microsoft.com/office/drawing/2014/main" id="{C0C59B3F-A599-210B-F310-B5452AE689CB}"/>
                      </a:ext>
                    </a:extLst>
                  </p:cNvPr>
                  <p:cNvGrpSpPr/>
                  <p:nvPr/>
                </p:nvGrpSpPr>
                <p:grpSpPr>
                  <a:xfrm>
                    <a:off x="49389" y="421671"/>
                    <a:ext cx="5869770" cy="4978516"/>
                    <a:chOff x="6267468" y="589620"/>
                    <a:chExt cx="5869770" cy="4978514"/>
                  </a:xfrm>
                </p:grpSpPr>
                <p:sp>
                  <p:nvSpPr>
                    <p:cNvPr id="58" name="TextBox 57">
                      <a:extLst>
                        <a:ext uri="{FF2B5EF4-FFF2-40B4-BE49-F238E27FC236}">
                          <a16:creationId xmlns:a16="http://schemas.microsoft.com/office/drawing/2014/main" id="{5ED78C62-2C72-5E0B-7DB9-09ACE28A23A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309767" y="3167507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0.18</a:t>
                      </a:r>
                    </a:p>
                  </p:txBody>
                </p:sp>
                <p:grpSp>
                  <p:nvGrpSpPr>
                    <p:cNvPr id="59" name="Group 58">
                      <a:extLst>
                        <a:ext uri="{FF2B5EF4-FFF2-40B4-BE49-F238E27FC236}">
                          <a16:creationId xmlns:a16="http://schemas.microsoft.com/office/drawing/2014/main" id="{9F0638F4-A6EB-3A06-A8B2-B7B18EFCE1E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06319" y="589620"/>
                      <a:ext cx="2005527" cy="653724"/>
                      <a:chOff x="6875812" y="1043464"/>
                      <a:chExt cx="2005527" cy="653724"/>
                    </a:xfrm>
                    <a:solidFill>
                      <a:schemeClr val="accent2">
                        <a:lumMod val="60000"/>
                        <a:lumOff val="40000"/>
                      </a:schemeClr>
                    </a:solidFill>
                  </p:grpSpPr>
                  <p:sp>
                    <p:nvSpPr>
                      <p:cNvPr id="109" name="Rectangle 108">
                        <a:extLst>
                          <a:ext uri="{FF2B5EF4-FFF2-40B4-BE49-F238E27FC236}">
                            <a16:creationId xmlns:a16="http://schemas.microsoft.com/office/drawing/2014/main" id="{9138B27A-CA55-DCD5-E26B-00273520C7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75812" y="1043464"/>
                        <a:ext cx="2005527" cy="324000"/>
                      </a:xfrm>
                      <a:prstGeom prst="rect">
                        <a:avLst/>
                      </a:prstGeom>
                      <a:solidFill>
                        <a:schemeClr val="accent2">
                          <a:alpha val="30000"/>
                        </a:schemeClr>
                      </a:solidFill>
                      <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Topography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10" name="Rectangle 109">
                        <a:extLst>
                          <a:ext uri="{FF2B5EF4-FFF2-40B4-BE49-F238E27FC236}">
                            <a16:creationId xmlns:a16="http://schemas.microsoft.com/office/drawing/2014/main" id="{E304E46E-C01C-6AF3-FB42-1BFED2C814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75812" y="1373188"/>
                        <a:ext cx="10080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Elevation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11" name="Rectangle 110">
                        <a:extLst>
                          <a:ext uri="{FF2B5EF4-FFF2-40B4-BE49-F238E27FC236}">
                            <a16:creationId xmlns:a16="http://schemas.microsoft.com/office/drawing/2014/main" id="{E0FC1ABF-4CA0-F61E-67DA-AA5473470D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73339" y="1373188"/>
                        <a:ext cx="10080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Slope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60" name="Rectangle 59">
                      <a:extLst>
                        <a:ext uri="{FF2B5EF4-FFF2-40B4-BE49-F238E27FC236}">
                          <a16:creationId xmlns:a16="http://schemas.microsoft.com/office/drawing/2014/main" id="{F82B07A6-4FB3-FC14-ECFE-09CBF18E03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36004" y="1860187"/>
                      <a:ext cx="1073213" cy="648000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Clay</a:t>
                      </a:r>
                    </a:p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</a:t>
                      </a:r>
                    </a:p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61" name="Group 60">
                      <a:extLst>
                        <a:ext uri="{FF2B5EF4-FFF2-40B4-BE49-F238E27FC236}">
                          <a16:creationId xmlns:a16="http://schemas.microsoft.com/office/drawing/2014/main" id="{D8B5F35E-495F-EC41-B3F7-2837570C1BA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267468" y="1880400"/>
                      <a:ext cx="1224000" cy="653724"/>
                      <a:chOff x="6936819" y="1587909"/>
                      <a:chExt cx="1224000" cy="653724"/>
                    </a:xfrm>
                  </p:grpSpPr>
                  <p:sp>
                    <p:nvSpPr>
                      <p:cNvPr id="106" name="Rectangle 105">
                        <a:extLst>
                          <a:ext uri="{FF2B5EF4-FFF2-40B4-BE49-F238E27FC236}">
                            <a16:creationId xmlns:a16="http://schemas.microsoft.com/office/drawing/2014/main" id="{57FF5809-DC3B-12A7-4335-470A570B21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36819" y="1587909"/>
                        <a:ext cx="1224000" cy="324000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  <a:alpha val="30000"/>
                        </a:schemeClr>
                      </a:solidFill>
                      <a:ln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600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Climate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07" name="Rectangle 106">
                        <a:extLst>
                          <a:ext uri="{FF2B5EF4-FFF2-40B4-BE49-F238E27FC236}">
                            <a16:creationId xmlns:a16="http://schemas.microsoft.com/office/drawing/2014/main" id="{9823F29B-6054-27A0-0A1E-CDBDDD4D3D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36819" y="1917633"/>
                        <a:ext cx="6120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MAT</a:t>
                        </a:r>
                      </a:p>
                      <a:p>
                        <a:pPr algn="ctr"/>
                        <a:endParaRPr lang="en-US" sz="140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08" name="Rectangle 107">
                        <a:extLst>
                          <a:ext uri="{FF2B5EF4-FFF2-40B4-BE49-F238E27FC236}">
                            <a16:creationId xmlns:a16="http://schemas.microsoft.com/office/drawing/2014/main" id="{5865A653-027D-1EAA-30CF-C5EA2B209B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45954" y="1917633"/>
                        <a:ext cx="6120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MAP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62" name="Group 61">
                      <a:extLst>
                        <a:ext uri="{FF2B5EF4-FFF2-40B4-BE49-F238E27FC236}">
                          <a16:creationId xmlns:a16="http://schemas.microsoft.com/office/drawing/2014/main" id="{11E3C994-8E9B-7887-012E-34A0A709C51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473264" y="1898424"/>
                      <a:ext cx="1459599" cy="642874"/>
                      <a:chOff x="6857989" y="1601172"/>
                      <a:chExt cx="1459599" cy="642874"/>
                    </a:xfrm>
                  </p:grpSpPr>
                  <p:sp>
                    <p:nvSpPr>
                      <p:cNvPr id="103" name="Rectangle 102">
                        <a:extLst>
                          <a:ext uri="{FF2B5EF4-FFF2-40B4-BE49-F238E27FC236}">
                            <a16:creationId xmlns:a16="http://schemas.microsoft.com/office/drawing/2014/main" id="{A4A1A56D-C6EE-514B-745F-AA2620864A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7989" y="1601172"/>
                        <a:ext cx="1459599" cy="314101"/>
                      </a:xfrm>
                      <a:prstGeom prst="rect">
                        <a:avLst/>
                      </a:prstGeom>
                      <a:solidFill>
                        <a:srgbClr val="7030A0">
                          <a:alpha val="20000"/>
                        </a:srgbClr>
                      </a:solidFill>
                      <a:ln>
                        <a:solidFill>
                          <a:srgbClr val="7030A0">
                            <a:alpha val="30000"/>
                          </a:srgb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Seasonality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04" name="Rectangle 103">
                        <a:extLst>
                          <a:ext uri="{FF2B5EF4-FFF2-40B4-BE49-F238E27FC236}">
                            <a16:creationId xmlns:a16="http://schemas.microsoft.com/office/drawing/2014/main" id="{37FBBA4E-4190-9243-EC6B-AA7C50CB0C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7989" y="1920046"/>
                        <a:ext cx="7308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7030A0">
                            <a:alpha val="30000"/>
                          </a:srgb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TS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05" name="Rectangle 104">
                        <a:extLst>
                          <a:ext uri="{FF2B5EF4-FFF2-40B4-BE49-F238E27FC236}">
                            <a16:creationId xmlns:a16="http://schemas.microsoft.com/office/drawing/2014/main" id="{871D3070-CA3C-A151-D4D5-E72B34A0ED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84364" y="1920046"/>
                        <a:ext cx="7308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7030A0">
                            <a:alpha val="30000"/>
                          </a:srgb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PS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63" name="Group 62">
                      <a:extLst>
                        <a:ext uri="{FF2B5EF4-FFF2-40B4-BE49-F238E27FC236}">
                          <a16:creationId xmlns:a16="http://schemas.microsoft.com/office/drawing/2014/main" id="{5FB0C4BD-4334-688D-A54C-0C28C76A457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790972" y="3402744"/>
                      <a:ext cx="1204630" cy="638484"/>
                      <a:chOff x="6999884" y="1650447"/>
                      <a:chExt cx="1204630" cy="638484"/>
                    </a:xfrm>
                  </p:grpSpPr>
                  <p:sp>
                    <p:nvSpPr>
                      <p:cNvPr id="100" name="Rectangle 99">
                        <a:extLst>
                          <a:ext uri="{FF2B5EF4-FFF2-40B4-BE49-F238E27FC236}">
                            <a16:creationId xmlns:a16="http://schemas.microsoft.com/office/drawing/2014/main" id="{A9F3F069-B0FE-3795-77D9-C0A14ABF21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99884" y="1650447"/>
                        <a:ext cx="1204629" cy="32400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60000"/>
                          <a:lumOff val="40000"/>
                          <a:alpha val="50000"/>
                        </a:schemeClr>
                      </a:solidFill>
                      <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Soil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01" name="Rectangle 100">
                        <a:extLst>
                          <a:ext uri="{FF2B5EF4-FFF2-40B4-BE49-F238E27FC236}">
                            <a16:creationId xmlns:a16="http://schemas.microsoft.com/office/drawing/2014/main" id="{31647B19-78CF-397B-1D2F-EDEA66F2A8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99884" y="1964931"/>
                        <a:ext cx="549757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pH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02" name="Rectangle 101">
                        <a:extLst>
                          <a:ext uri="{FF2B5EF4-FFF2-40B4-BE49-F238E27FC236}">
                            <a16:creationId xmlns:a16="http://schemas.microsoft.com/office/drawing/2014/main" id="{B76FE37C-0DB8-A209-875D-72DC1CF073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49643" y="1964931"/>
                        <a:ext cx="654871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BD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64" name="Group 63">
                      <a:extLst>
                        <a:ext uri="{FF2B5EF4-FFF2-40B4-BE49-F238E27FC236}">
                          <a16:creationId xmlns:a16="http://schemas.microsoft.com/office/drawing/2014/main" id="{391A9DEA-4B85-77F6-7DF0-031534EFD7F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267469" y="3373787"/>
                      <a:ext cx="1706763" cy="682326"/>
                      <a:chOff x="6516262" y="3403954"/>
                      <a:chExt cx="1706763" cy="682326"/>
                    </a:xfrm>
                  </p:grpSpPr>
                  <p:sp>
                    <p:nvSpPr>
                      <p:cNvPr id="96" name="Rectangle 95">
                        <a:extLst>
                          <a:ext uri="{FF2B5EF4-FFF2-40B4-BE49-F238E27FC236}">
                            <a16:creationId xmlns:a16="http://schemas.microsoft.com/office/drawing/2014/main" id="{4B2ECF82-25C2-67A6-FD29-BDCEC7A9C6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16262" y="3403954"/>
                        <a:ext cx="1706763" cy="354541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  <a:alpha val="50000"/>
                        </a:schemeClr>
                      </a:solidFill>
                      <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Vegetation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97" name="Rectangle 96">
                        <a:extLst>
                          <a:ext uri="{FF2B5EF4-FFF2-40B4-BE49-F238E27FC236}">
                            <a16:creationId xmlns:a16="http://schemas.microsoft.com/office/drawing/2014/main" id="{D2527C76-0D6D-568F-F229-E956DBB1BB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16639" y="3762280"/>
                        <a:ext cx="56127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GPP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98" name="Rectangle 97">
                        <a:extLst>
                          <a:ext uri="{FF2B5EF4-FFF2-40B4-BE49-F238E27FC236}">
                            <a16:creationId xmlns:a16="http://schemas.microsoft.com/office/drawing/2014/main" id="{CCF157A2-93D3-3004-5685-8DC82136D0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90084" y="3761044"/>
                        <a:ext cx="566137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AGB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99" name="Rectangle 98">
                        <a:extLst>
                          <a:ext uri="{FF2B5EF4-FFF2-40B4-BE49-F238E27FC236}">
                            <a16:creationId xmlns:a16="http://schemas.microsoft.com/office/drawing/2014/main" id="{C8F8CFAB-2288-1529-665C-42839837A5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55856" y="3762280"/>
                        <a:ext cx="559217" cy="321481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BGB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65" name="Rectangle 64">
                      <a:extLst>
                        <a:ext uri="{FF2B5EF4-FFF2-40B4-BE49-F238E27FC236}">
                          <a16:creationId xmlns:a16="http://schemas.microsoft.com/office/drawing/2014/main" id="{408BACE5-7C29-7BBE-32F8-EC83627990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6587" y="4975925"/>
                      <a:ext cx="1440000" cy="313833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  <a:alpha val="50000"/>
                      </a:schemeClr>
                    </a:solidFill>
                    <a:ln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CUE</a:t>
                      </a:r>
                    </a:p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66" name="Straight Arrow Connector 65">
                      <a:extLst>
                        <a:ext uri="{FF2B5EF4-FFF2-40B4-BE49-F238E27FC236}">
                          <a16:creationId xmlns:a16="http://schemas.microsoft.com/office/drawing/2014/main" id="{279A8165-8969-74DD-7E93-6247FABC608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468224" y="1243344"/>
                      <a:ext cx="743370" cy="631332"/>
                    </a:xfrm>
                    <a:prstGeom prst="straightConnector1">
                      <a:avLst/>
                    </a:prstGeom>
                    <a:ln w="50800"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218413E9-1840-32DE-ED37-FD2F2E74703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53188" y="1640389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0.22</a:t>
                      </a:r>
                    </a:p>
                  </p:txBody>
                </p:sp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A3949209-F2A8-CD73-4639-5C829B0D3017}"/>
                        </a:ext>
                      </a:extLst>
                    </p:cNvPr>
                    <p:cNvSpPr txBox="1"/>
                    <p:nvPr/>
                  </p:nvSpPr>
                  <p:spPr>
                    <a:xfrm rot="19376878">
                      <a:off x="7350995" y="1290885"/>
                      <a:ext cx="80461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-0.46***</a:t>
                      </a:r>
                    </a:p>
                  </p:txBody>
                </p:sp>
                <p:cxnSp>
                  <p:nvCxnSpPr>
                    <p:cNvPr id="69" name="Straight Arrow Connector 68">
                      <a:extLst>
                        <a:ext uri="{FF2B5EF4-FFF2-40B4-BE49-F238E27FC236}">
                          <a16:creationId xmlns:a16="http://schemas.microsoft.com/office/drawing/2014/main" id="{C5AA62EE-2574-EE05-76D6-79DDDAF414C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870978" y="2548063"/>
                      <a:ext cx="0" cy="813785"/>
                    </a:xfrm>
                    <a:prstGeom prst="straightConnector1">
                      <a:avLst/>
                    </a:prstGeom>
                    <a:ln w="66675">
                      <a:solidFill>
                        <a:srgbClr val="C00000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" name="Straight Arrow Connector 69">
                      <a:extLst>
                        <a:ext uri="{FF2B5EF4-FFF2-40B4-BE49-F238E27FC236}">
                          <a16:creationId xmlns:a16="http://schemas.microsoft.com/office/drawing/2014/main" id="{D49AC120-92B0-A0DF-8B3C-3E6B3A111E9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204807" y="1252401"/>
                      <a:ext cx="0" cy="644635"/>
                    </a:xfrm>
                    <a:prstGeom prst="straightConnector1">
                      <a:avLst/>
                    </a:prstGeom>
                    <a:ln w="25400">
                      <a:solidFill>
                        <a:srgbClr val="C00000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1" name="Straight Arrow Connector 70">
                      <a:extLst>
                        <a:ext uri="{FF2B5EF4-FFF2-40B4-BE49-F238E27FC236}">
                          <a16:creationId xmlns:a16="http://schemas.microsoft.com/office/drawing/2014/main" id="{C986E057-DC5E-C9A2-7327-9CD4687592A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11846" y="1250776"/>
                      <a:ext cx="720000" cy="629425"/>
                    </a:xfrm>
                    <a:prstGeom prst="straightConnector1">
                      <a:avLst/>
                    </a:prstGeom>
                    <a:ln w="44450"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Straight Arrow Connector 71">
                      <a:extLst>
                        <a:ext uri="{FF2B5EF4-FFF2-40B4-BE49-F238E27FC236}">
                          <a16:creationId xmlns:a16="http://schemas.microsoft.com/office/drawing/2014/main" id="{55B08540-5541-1EA3-D4BC-8A3630E2BB6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15724" y="2204400"/>
                      <a:ext cx="935600" cy="7669"/>
                    </a:xfrm>
                    <a:prstGeom prst="straightConnector1">
                      <a:avLst/>
                    </a:prstGeom>
                    <a:ln w="19050"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" name="Straight Arrow Connector 72">
                      <a:extLst>
                        <a:ext uri="{FF2B5EF4-FFF2-40B4-BE49-F238E27FC236}">
                          <a16:creationId xmlns:a16="http://schemas.microsoft.com/office/drawing/2014/main" id="{53CFCF59-F0E8-4921-5186-445DD30E6BC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0037477" y="2212069"/>
                      <a:ext cx="894369" cy="456"/>
                    </a:xfrm>
                    <a:prstGeom prst="straightConnector1">
                      <a:avLst/>
                    </a:prstGeom>
                    <a:ln w="60325"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" name="Straight Arrow Connector 73">
                      <a:extLst>
                        <a:ext uri="{FF2B5EF4-FFF2-40B4-BE49-F238E27FC236}">
                          <a16:creationId xmlns:a16="http://schemas.microsoft.com/office/drawing/2014/main" id="{8A21EC9E-9468-0E91-9FC8-7CE18030C3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944976" y="2561641"/>
                      <a:ext cx="841651" cy="838426"/>
                    </a:xfrm>
                    <a:prstGeom prst="straightConnector1">
                      <a:avLst/>
                    </a:prstGeom>
                    <a:ln w="47625">
                      <a:solidFill>
                        <a:srgbClr val="C00000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" name="Straight Arrow Connector 74">
                      <a:extLst>
                        <a:ext uri="{FF2B5EF4-FFF2-40B4-BE49-F238E27FC236}">
                          <a16:creationId xmlns:a16="http://schemas.microsoft.com/office/drawing/2014/main" id="{059F262D-5F57-07C3-E466-22604A5708B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329069" y="2508187"/>
                      <a:ext cx="0" cy="893087"/>
                    </a:xfrm>
                    <a:prstGeom prst="straightConnector1">
                      <a:avLst/>
                    </a:prstGeom>
                    <a:ln w="38100">
                      <a:solidFill>
                        <a:schemeClr val="accent1"/>
                      </a:solidFill>
                      <a:prstDash val="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6" name="Straight Arrow Connector 75">
                      <a:extLst>
                        <a:ext uri="{FF2B5EF4-FFF2-40B4-BE49-F238E27FC236}">
                          <a16:creationId xmlns:a16="http://schemas.microsoft.com/office/drawing/2014/main" id="{E92D78CD-04F7-68E3-04B9-FB775FE4BA5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949398" y="2567028"/>
                      <a:ext cx="519442" cy="800805"/>
                    </a:xfrm>
                    <a:prstGeom prst="straightConnector1">
                      <a:avLst/>
                    </a:prstGeom>
                    <a:ln w="63500"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Straight Arrow Connector 76">
                      <a:extLst>
                        <a:ext uri="{FF2B5EF4-FFF2-40B4-BE49-F238E27FC236}">
                          <a16:creationId xmlns:a16="http://schemas.microsoft.com/office/drawing/2014/main" id="{E2FE34BD-47D7-3C9B-0EF8-40DAE576511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8005305" y="3726744"/>
                      <a:ext cx="2768421" cy="8267"/>
                    </a:xfrm>
                    <a:prstGeom prst="straightConnector1">
                      <a:avLst/>
                    </a:prstGeom>
                    <a:ln w="50800"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Straight Arrow Connector 77">
                      <a:extLst>
                        <a:ext uri="{FF2B5EF4-FFF2-40B4-BE49-F238E27FC236}">
                          <a16:creationId xmlns:a16="http://schemas.microsoft.com/office/drawing/2014/main" id="{5075B66A-F291-CC91-267E-A20BAF8DFBF4}"/>
                        </a:ext>
                      </a:extLst>
                    </p:cNvPr>
                    <p:cNvCxnSpPr>
                      <a:cxnSpLocks/>
                      <a:endCxn id="65" idx="0"/>
                    </p:cNvCxnSpPr>
                    <p:nvPr/>
                  </p:nvCxnSpPr>
                  <p:spPr>
                    <a:xfrm>
                      <a:off x="7971453" y="4069138"/>
                      <a:ext cx="1305134" cy="906788"/>
                    </a:xfrm>
                    <a:prstGeom prst="straightConnector1">
                      <a:avLst/>
                    </a:prstGeom>
                    <a:ln w="47625">
                      <a:solidFill>
                        <a:srgbClr val="C00000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" name="Straight Arrow Connector 78">
                      <a:extLst>
                        <a:ext uri="{FF2B5EF4-FFF2-40B4-BE49-F238E27FC236}">
                          <a16:creationId xmlns:a16="http://schemas.microsoft.com/office/drawing/2014/main" id="{FD8012BC-A819-418C-C663-E0028B7D8EE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9276587" y="4023635"/>
                      <a:ext cx="1510040" cy="936525"/>
                    </a:xfrm>
                    <a:prstGeom prst="straightConnector1">
                      <a:avLst/>
                    </a:prstGeom>
                    <a:ln w="38100">
                      <a:solidFill>
                        <a:srgbClr val="C00000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0" name="TextBox 79">
                      <a:extLst>
                        <a:ext uri="{FF2B5EF4-FFF2-40B4-BE49-F238E27FC236}">
                          <a16:creationId xmlns:a16="http://schemas.microsoft.com/office/drawing/2014/main" id="{FB575D3C-CC7A-25F6-1D78-2F4E5017BD0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09206" y="1652264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0.81</a:t>
                      </a:r>
                    </a:p>
                  </p:txBody>
                </p:sp>
                <p:sp>
                  <p:nvSpPr>
                    <p:cNvPr id="81" name="TextBox 80">
                      <a:extLst>
                        <a:ext uri="{FF2B5EF4-FFF2-40B4-BE49-F238E27FC236}">
                          <a16:creationId xmlns:a16="http://schemas.microsoft.com/office/drawing/2014/main" id="{527FFF84-F005-CBB1-14E3-76DE69400A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078505" y="1625148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0.36</a:t>
                      </a:r>
                    </a:p>
                  </p:txBody>
                </p:sp>
                <p:sp>
                  <p:nvSpPr>
                    <p:cNvPr id="82" name="TextBox 81">
                      <a:extLst>
                        <a:ext uri="{FF2B5EF4-FFF2-40B4-BE49-F238E27FC236}">
                          <a16:creationId xmlns:a16="http://schemas.microsoft.com/office/drawing/2014/main" id="{890128B7-B112-A36A-BD14-1F9D49D526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946221" y="3117089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0.55</a:t>
                      </a:r>
                    </a:p>
                  </p:txBody>
                </p:sp>
                <p:sp>
                  <p:nvSpPr>
                    <p:cNvPr id="83" name="TextBox 82">
                      <a:extLst>
                        <a:ext uri="{FF2B5EF4-FFF2-40B4-BE49-F238E27FC236}">
                          <a16:creationId xmlns:a16="http://schemas.microsoft.com/office/drawing/2014/main" id="{48951E93-0B1A-62FC-0D26-1FE21255319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03795" y="5291135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0.16</a:t>
                      </a:r>
                    </a:p>
                  </p:txBody>
                </p:sp>
                <p:sp>
                  <p:nvSpPr>
                    <p:cNvPr id="84" name="TextBox 83">
                      <a:extLst>
                        <a:ext uri="{FF2B5EF4-FFF2-40B4-BE49-F238E27FC236}">
                          <a16:creationId xmlns:a16="http://schemas.microsoft.com/office/drawing/2014/main" id="{32AA7F13-9F83-F289-E94B-F75497B5FD9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186761" y="1404522"/>
                      <a:ext cx="72423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0.13***</a:t>
                      </a:r>
                    </a:p>
                  </p:txBody>
                </p:sp>
                <p:sp>
                  <p:nvSpPr>
                    <p:cNvPr id="85" name="TextBox 84">
                      <a:extLst>
                        <a:ext uri="{FF2B5EF4-FFF2-40B4-BE49-F238E27FC236}">
                          <a16:creationId xmlns:a16="http://schemas.microsoft.com/office/drawing/2014/main" id="{1DD2A128-875E-F27B-0ED9-B4F1CE85B64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82798" y="1959140"/>
                      <a:ext cx="75012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-1.00***</a:t>
                      </a:r>
                    </a:p>
                  </p:txBody>
                </p:sp>
                <p:sp>
                  <p:nvSpPr>
                    <p:cNvPr id="86" name="TextBox 85">
                      <a:extLst>
                        <a:ext uri="{FF2B5EF4-FFF2-40B4-BE49-F238E27FC236}">
                          <a16:creationId xmlns:a16="http://schemas.microsoft.com/office/drawing/2014/main" id="{09CB82E4-A2CB-6521-B695-336A27D251E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083427" y="1935070"/>
                      <a:ext cx="81785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-0.52***</a:t>
                      </a:r>
                    </a:p>
                  </p:txBody>
                </p:sp>
                <p:sp>
                  <p:nvSpPr>
                    <p:cNvPr id="87" name="TextBox 86">
                      <a:extLst>
                        <a:ext uri="{FF2B5EF4-FFF2-40B4-BE49-F238E27FC236}">
                          <a16:creationId xmlns:a16="http://schemas.microsoft.com/office/drawing/2014/main" id="{91720FFF-3211-5BAD-47BD-EAC0BBF96A3D}"/>
                        </a:ext>
                      </a:extLst>
                    </p:cNvPr>
                    <p:cNvSpPr txBox="1"/>
                    <p:nvPr/>
                  </p:nvSpPr>
                  <p:spPr>
                    <a:xfrm rot="2397490">
                      <a:off x="10276997" y="1392606"/>
                      <a:ext cx="89663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-0.30***</a:t>
                      </a:r>
                    </a:p>
                  </p:txBody>
                </p:sp>
                <p:sp>
                  <p:nvSpPr>
                    <p:cNvPr id="88" name="TextBox 87">
                      <a:extLst>
                        <a:ext uri="{FF2B5EF4-FFF2-40B4-BE49-F238E27FC236}">
                          <a16:creationId xmlns:a16="http://schemas.microsoft.com/office/drawing/2014/main" id="{CB0CB22E-C832-1B94-EE15-26AB429645F0}"/>
                        </a:ext>
                      </a:extLst>
                    </p:cNvPr>
                    <p:cNvSpPr txBox="1"/>
                    <p:nvPr/>
                  </p:nvSpPr>
                  <p:spPr>
                    <a:xfrm rot="18473950">
                      <a:off x="8038262" y="2807368"/>
                      <a:ext cx="71443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-0.56***</a:t>
                      </a:r>
                    </a:p>
                  </p:txBody>
                </p:sp>
                <p:sp>
                  <p:nvSpPr>
                    <p:cNvPr id="89" name="TextBox 88">
                      <a:extLst>
                        <a:ext uri="{FF2B5EF4-FFF2-40B4-BE49-F238E27FC236}">
                          <a16:creationId xmlns:a16="http://schemas.microsoft.com/office/drawing/2014/main" id="{BAEC5D4B-3D4B-75EA-D352-A99199C6A13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82123" y="2781641"/>
                      <a:ext cx="79834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0.64***</a:t>
                      </a:r>
                    </a:p>
                  </p:txBody>
                </p:sp>
                <p:sp>
                  <p:nvSpPr>
                    <p:cNvPr id="90" name="TextBox 89">
                      <a:extLst>
                        <a:ext uri="{FF2B5EF4-FFF2-40B4-BE49-F238E27FC236}">
                          <a16:creationId xmlns:a16="http://schemas.microsoft.com/office/drawing/2014/main" id="{1E8869E5-AF3B-200D-0BE5-95852865477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08288" y="3447998"/>
                      <a:ext cx="77473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-0.41***</a:t>
                      </a:r>
                    </a:p>
                  </p:txBody>
                </p:sp>
                <p:sp>
                  <p:nvSpPr>
                    <p:cNvPr id="91" name="TextBox 90">
                      <a:extLst>
                        <a:ext uri="{FF2B5EF4-FFF2-40B4-BE49-F238E27FC236}">
                          <a16:creationId xmlns:a16="http://schemas.microsoft.com/office/drawing/2014/main" id="{2CA180E2-EEFB-8BF6-6FE3-9F1604186FE9}"/>
                        </a:ext>
                      </a:extLst>
                    </p:cNvPr>
                    <p:cNvSpPr txBox="1"/>
                    <p:nvPr/>
                  </p:nvSpPr>
                  <p:spPr>
                    <a:xfrm rot="1920645">
                      <a:off x="8196585" y="4168710"/>
                      <a:ext cx="74912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0.46***</a:t>
                      </a:r>
                    </a:p>
                  </p:txBody>
                </p:sp>
                <p:sp>
                  <p:nvSpPr>
                    <p:cNvPr id="92" name="TextBox 91">
                      <a:extLst>
                        <a:ext uri="{FF2B5EF4-FFF2-40B4-BE49-F238E27FC236}">
                          <a16:creationId xmlns:a16="http://schemas.microsoft.com/office/drawing/2014/main" id="{9375A98B-22C0-4595-7D60-E1AADA2F1570}"/>
                        </a:ext>
                      </a:extLst>
                    </p:cNvPr>
                    <p:cNvSpPr txBox="1"/>
                    <p:nvPr/>
                  </p:nvSpPr>
                  <p:spPr>
                    <a:xfrm rot="19814511">
                      <a:off x="9883872" y="4036085"/>
                      <a:ext cx="76686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0.21***</a:t>
                      </a:r>
                    </a:p>
                  </p:txBody>
                </p:sp>
                <p:sp>
                  <p:nvSpPr>
                    <p:cNvPr id="93" name="TextBox 92">
                      <a:extLst>
                        <a:ext uri="{FF2B5EF4-FFF2-40B4-BE49-F238E27FC236}">
                          <a16:creationId xmlns:a16="http://schemas.microsoft.com/office/drawing/2014/main" id="{EBDAF471-6F55-D84B-A8D4-CF98C014E0A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280293" y="2715773"/>
                      <a:ext cx="75513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-0.26***</a:t>
                      </a:r>
                    </a:p>
                  </p:txBody>
                </p:sp>
                <p:sp>
                  <p:nvSpPr>
                    <p:cNvPr id="94" name="TextBox 93">
                      <a:extLst>
                        <a:ext uri="{FF2B5EF4-FFF2-40B4-BE49-F238E27FC236}">
                          <a16:creationId xmlns:a16="http://schemas.microsoft.com/office/drawing/2014/main" id="{FAC6E085-9B1B-3271-1EA3-4DB076BF881C}"/>
                        </a:ext>
                      </a:extLst>
                    </p:cNvPr>
                    <p:cNvSpPr txBox="1"/>
                    <p:nvPr/>
                  </p:nvSpPr>
                  <p:spPr>
                    <a:xfrm rot="2606430">
                      <a:off x="10164084" y="2785563"/>
                      <a:ext cx="74383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0.35***</a:t>
                      </a:r>
                    </a:p>
                  </p:txBody>
                </p:sp>
                <p:sp>
                  <p:nvSpPr>
                    <p:cNvPr id="95" name="TextBox 94">
                      <a:extLst>
                        <a:ext uri="{FF2B5EF4-FFF2-40B4-BE49-F238E27FC236}">
                          <a16:creationId xmlns:a16="http://schemas.microsoft.com/office/drawing/2014/main" id="{C7BE158C-BCB1-92D7-9072-894CF5643B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32538" y="4893775"/>
                      <a:ext cx="131478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GOF = 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0.52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13" name="TextBox 112">
                    <a:extLst>
                      <a:ext uri="{FF2B5EF4-FFF2-40B4-BE49-F238E27FC236}">
                        <a16:creationId xmlns:a16="http://schemas.microsoft.com/office/drawing/2014/main" id="{738B7517-20F1-4288-054F-E002D3ED8933}"/>
                      </a:ext>
                    </a:extLst>
                  </p:cNvPr>
                  <p:cNvSpPr txBox="1"/>
                  <p:nvPr/>
                </p:nvSpPr>
                <p:spPr>
                  <a:xfrm>
                    <a:off x="40636" y="-101730"/>
                    <a:ext cx="1307409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</a:t>
                    </a:r>
                    <a:r>
                      <a: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 Topsoil</a:t>
                    </a:r>
                    <a:endParaRPr lang="en-US" sz="16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38D8A64C-48F6-07D8-22C6-9F2E7B9DDDD3}"/>
                    </a:ext>
                  </a:extLst>
                </p:cNvPr>
                <p:cNvGrpSpPr/>
                <p:nvPr/>
              </p:nvGrpSpPr>
              <p:grpSpPr>
                <a:xfrm>
                  <a:off x="6044300" y="5768548"/>
                  <a:ext cx="5684414" cy="5620476"/>
                  <a:chOff x="6044300" y="5768548"/>
                  <a:chExt cx="5684414" cy="5620476"/>
                </a:xfrm>
              </p:grpSpPr>
              <p:sp>
                <p:nvSpPr>
                  <p:cNvPr id="132" name="TextBox 131">
                    <a:extLst>
                      <a:ext uri="{FF2B5EF4-FFF2-40B4-BE49-F238E27FC236}">
                        <a16:creationId xmlns:a16="http://schemas.microsoft.com/office/drawing/2014/main" id="{99543B93-91C9-5806-D5D8-DD4B96692397}"/>
                      </a:ext>
                    </a:extLst>
                  </p:cNvPr>
                  <p:cNvSpPr txBox="1"/>
                  <p:nvPr/>
                </p:nvSpPr>
                <p:spPr>
                  <a:xfrm>
                    <a:off x="6044300" y="5768548"/>
                    <a:ext cx="135485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d</a:t>
                    </a:r>
                    <a:r>
                      <a: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 Subsoil</a:t>
                    </a:r>
                    <a:endParaRPr 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16" name="Group 315">
                    <a:extLst>
                      <a:ext uri="{FF2B5EF4-FFF2-40B4-BE49-F238E27FC236}">
                        <a16:creationId xmlns:a16="http://schemas.microsoft.com/office/drawing/2014/main" id="{D50AFCE0-1BF8-3516-3CA7-5628795A54B4}"/>
                      </a:ext>
                    </a:extLst>
                  </p:cNvPr>
                  <p:cNvGrpSpPr/>
                  <p:nvPr/>
                </p:nvGrpSpPr>
                <p:grpSpPr>
                  <a:xfrm>
                    <a:off x="6359792" y="6627472"/>
                    <a:ext cx="5368922" cy="4761552"/>
                    <a:chOff x="7056893" y="6597398"/>
                    <a:chExt cx="5368922" cy="4761552"/>
                  </a:xfrm>
                </p:grpSpPr>
                <p:sp>
                  <p:nvSpPr>
                    <p:cNvPr id="133" name="TextBox 132">
                      <a:extLst>
                        <a:ext uri="{FF2B5EF4-FFF2-40B4-BE49-F238E27FC236}">
                          <a16:creationId xmlns:a16="http://schemas.microsoft.com/office/drawing/2014/main" id="{5E1FB067-9721-8B65-15A8-116E135272F3}"/>
                        </a:ext>
                      </a:extLst>
                    </p:cNvPr>
                    <p:cNvSpPr txBox="1"/>
                    <p:nvPr/>
                  </p:nvSpPr>
                  <p:spPr>
                    <a:xfrm rot="18746364">
                      <a:off x="7760981" y="10562097"/>
                      <a:ext cx="1255152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Topography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34" name="TextBox 133">
                      <a:extLst>
                        <a:ext uri="{FF2B5EF4-FFF2-40B4-BE49-F238E27FC236}">
                          <a16:creationId xmlns:a16="http://schemas.microsoft.com/office/drawing/2014/main" id="{E66DFB51-E8EE-5BE5-2DD0-21019ACA2ED2}"/>
                        </a:ext>
                      </a:extLst>
                    </p:cNvPr>
                    <p:cNvSpPr txBox="1"/>
                    <p:nvPr/>
                  </p:nvSpPr>
                  <p:spPr>
                    <a:xfrm rot="18746364">
                      <a:off x="8863459" y="10423214"/>
                      <a:ext cx="87876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Climate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35" name="TextBox 134">
                      <a:extLst>
                        <a:ext uri="{FF2B5EF4-FFF2-40B4-BE49-F238E27FC236}">
                          <a16:creationId xmlns:a16="http://schemas.microsoft.com/office/drawing/2014/main" id="{57394820-E95F-1080-E0D2-F36CD3E63299}"/>
                        </a:ext>
                      </a:extLst>
                    </p:cNvPr>
                    <p:cNvSpPr txBox="1"/>
                    <p:nvPr/>
                  </p:nvSpPr>
                  <p:spPr>
                    <a:xfrm rot="18746364">
                      <a:off x="9331598" y="10531169"/>
                      <a:ext cx="1242648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Seasonality</a:t>
                      </a:r>
                    </a:p>
                  </p:txBody>
                </p:sp>
                <p:sp>
                  <p:nvSpPr>
                    <p:cNvPr id="136" name="TextBox 135">
                      <a:extLst>
                        <a:ext uri="{FF2B5EF4-FFF2-40B4-BE49-F238E27FC236}">
                          <a16:creationId xmlns:a16="http://schemas.microsoft.com/office/drawing/2014/main" id="{A8EB75CE-5BFD-139C-6EE1-142801A7CB8A}"/>
                        </a:ext>
                      </a:extLst>
                    </p:cNvPr>
                    <p:cNvSpPr txBox="1"/>
                    <p:nvPr/>
                  </p:nvSpPr>
                  <p:spPr>
                    <a:xfrm rot="18746364">
                      <a:off x="10560129" y="10341629"/>
                      <a:ext cx="593432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Clay</a:t>
                      </a:r>
                    </a:p>
                  </p:txBody>
                </p:sp>
                <p:sp>
                  <p:nvSpPr>
                    <p:cNvPr id="137" name="TextBox 136">
                      <a:extLst>
                        <a:ext uri="{FF2B5EF4-FFF2-40B4-BE49-F238E27FC236}">
                          <a16:creationId xmlns:a16="http://schemas.microsoft.com/office/drawing/2014/main" id="{2C95D7C6-8181-77AE-4BF6-B5C2543434F9}"/>
                        </a:ext>
                      </a:extLst>
                    </p:cNvPr>
                    <p:cNvSpPr txBox="1"/>
                    <p:nvPr/>
                  </p:nvSpPr>
                  <p:spPr>
                    <a:xfrm rot="18746364">
                      <a:off x="11329944" y="10408612"/>
                      <a:ext cx="582211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Soil </a:t>
                      </a:r>
                    </a:p>
                  </p:txBody>
                </p:sp>
                <p:sp>
                  <p:nvSpPr>
                    <p:cNvPr id="138" name="TextBox 137">
                      <a:extLst>
                        <a:ext uri="{FF2B5EF4-FFF2-40B4-BE49-F238E27FC236}">
                          <a16:creationId xmlns:a16="http://schemas.microsoft.com/office/drawing/2014/main" id="{C6647EFC-F642-6504-C3E2-C126E63F5E8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64201" y="10253623"/>
                      <a:ext cx="652743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-0.60</a:t>
                      </a:r>
                    </a:p>
                  </p:txBody>
                </p:sp>
                <p:sp>
                  <p:nvSpPr>
                    <p:cNvPr id="139" name="TextBox 138">
                      <a:extLst>
                        <a:ext uri="{FF2B5EF4-FFF2-40B4-BE49-F238E27FC236}">
                          <a16:creationId xmlns:a16="http://schemas.microsoft.com/office/drawing/2014/main" id="{5447F8A0-AECB-2070-D24B-C052FBC6E43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64201" y="9353827"/>
                      <a:ext cx="652743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-0.30</a:t>
                      </a:r>
                    </a:p>
                  </p:txBody>
                </p:sp>
                <p:sp>
                  <p:nvSpPr>
                    <p:cNvPr id="140" name="TextBox 139">
                      <a:extLst>
                        <a:ext uri="{FF2B5EF4-FFF2-40B4-BE49-F238E27FC236}">
                          <a16:creationId xmlns:a16="http://schemas.microsoft.com/office/drawing/2014/main" id="{DD8D8781-8FF3-A814-C5B9-1F6E8F8F61A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22795" y="8422971"/>
                      <a:ext cx="58381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</p:txBody>
                </p:sp>
                <p:sp>
                  <p:nvSpPr>
                    <p:cNvPr id="141" name="TextBox 140">
                      <a:extLst>
                        <a:ext uri="{FF2B5EF4-FFF2-40B4-BE49-F238E27FC236}">
                          <a16:creationId xmlns:a16="http://schemas.microsoft.com/office/drawing/2014/main" id="{CA0CAAA0-15CE-9529-5B79-766B350B706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22278" y="7494588"/>
                      <a:ext cx="58381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0.30</a:t>
                      </a:r>
                    </a:p>
                  </p:txBody>
                </p:sp>
                <p:sp>
                  <p:nvSpPr>
                    <p:cNvPr id="142" name="TextBox 141">
                      <a:extLst>
                        <a:ext uri="{FF2B5EF4-FFF2-40B4-BE49-F238E27FC236}">
                          <a16:creationId xmlns:a16="http://schemas.microsoft.com/office/drawing/2014/main" id="{FF07C2AB-D8E6-9688-B771-C5DFCC8657D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08507" y="6597398"/>
                      <a:ext cx="58381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0.60</a:t>
                      </a:r>
                    </a:p>
                  </p:txBody>
                </p:sp>
                <p:sp>
                  <p:nvSpPr>
                    <p:cNvPr id="143" name="TextBox 142">
                      <a:extLst>
                        <a:ext uri="{FF2B5EF4-FFF2-40B4-BE49-F238E27FC236}">
                          <a16:creationId xmlns:a16="http://schemas.microsoft.com/office/drawing/2014/main" id="{007BC67E-D5DD-8336-61B6-9696E82C7740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5700351" y="8268616"/>
                      <a:ext cx="3113194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Standardized total effects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189B5132-9E35-1003-4130-CA843C5AA091}"/>
                        </a:ext>
                      </a:extLst>
                    </p:cNvPr>
                    <p:cNvSpPr txBox="1"/>
                    <p:nvPr/>
                  </p:nvSpPr>
                  <p:spPr>
                    <a:xfrm rot="18746364">
                      <a:off x="11680162" y="10433584"/>
                      <a:ext cx="1152751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Vegetation</a:t>
                      </a:r>
                    </a:p>
                  </p:txBody>
                </p:sp>
              </p:grpSp>
            </p:grp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F1A11ABC-D588-272A-2830-CBA32E57F80E}"/>
                    </a:ext>
                  </a:extLst>
                </p:cNvPr>
                <p:cNvGrpSpPr/>
                <p:nvPr/>
              </p:nvGrpSpPr>
              <p:grpSpPr>
                <a:xfrm>
                  <a:off x="40636" y="5790732"/>
                  <a:ext cx="5878523" cy="5501917"/>
                  <a:chOff x="40636" y="-101730"/>
                  <a:chExt cx="5878523" cy="5501917"/>
                </a:xfrm>
              </p:grpSpPr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D3C5EAD9-101F-E0E9-0012-87A04C9C845F}"/>
                      </a:ext>
                    </a:extLst>
                  </p:cNvPr>
                  <p:cNvGrpSpPr/>
                  <p:nvPr/>
                </p:nvGrpSpPr>
                <p:grpSpPr>
                  <a:xfrm>
                    <a:off x="49389" y="421671"/>
                    <a:ext cx="5869770" cy="4978516"/>
                    <a:chOff x="6267468" y="589620"/>
                    <a:chExt cx="5869770" cy="4978514"/>
                  </a:xfrm>
                </p:grpSpPr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78CD45BC-2218-C4D5-12C4-4BF461AD412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309767" y="3167507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0.50</a:t>
                      </a:r>
                    </a:p>
                  </p:txBody>
                </p:sp>
                <p:grpSp>
                  <p:nvGrpSpPr>
                    <p:cNvPr id="24" name="Group 23">
                      <a:extLst>
                        <a:ext uri="{FF2B5EF4-FFF2-40B4-BE49-F238E27FC236}">
                          <a16:creationId xmlns:a16="http://schemas.microsoft.com/office/drawing/2014/main" id="{C8674CDD-462B-BFE5-72BD-0CB9206F9AD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06319" y="589620"/>
                      <a:ext cx="2005527" cy="653724"/>
                      <a:chOff x="6875812" y="1043464"/>
                      <a:chExt cx="2005527" cy="653724"/>
                    </a:xfrm>
                    <a:solidFill>
                      <a:schemeClr val="accent2">
                        <a:lumMod val="60000"/>
                        <a:lumOff val="40000"/>
                      </a:schemeClr>
                    </a:solidFill>
                  </p:grpSpPr>
                  <p:sp>
                    <p:nvSpPr>
                      <p:cNvPr id="130" name="Rectangle 129">
                        <a:extLst>
                          <a:ext uri="{FF2B5EF4-FFF2-40B4-BE49-F238E27FC236}">
                            <a16:creationId xmlns:a16="http://schemas.microsoft.com/office/drawing/2014/main" id="{458AB796-E7BE-2603-1AF5-83285AC7CF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75812" y="1043464"/>
                        <a:ext cx="2005527" cy="324000"/>
                      </a:xfrm>
                      <a:prstGeom prst="rect">
                        <a:avLst/>
                      </a:prstGeom>
                      <a:solidFill>
                        <a:schemeClr val="accent2">
                          <a:alpha val="30000"/>
                        </a:schemeClr>
                      </a:solidFill>
                      <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Topography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31" name="Rectangle 130">
                        <a:extLst>
                          <a:ext uri="{FF2B5EF4-FFF2-40B4-BE49-F238E27FC236}">
                            <a16:creationId xmlns:a16="http://schemas.microsoft.com/office/drawing/2014/main" id="{54BF1E29-C113-2520-C0A1-1704758DA9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75812" y="1373188"/>
                        <a:ext cx="10080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Elevation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44" name="Rectangle 143">
                        <a:extLst>
                          <a:ext uri="{FF2B5EF4-FFF2-40B4-BE49-F238E27FC236}">
                            <a16:creationId xmlns:a16="http://schemas.microsoft.com/office/drawing/2014/main" id="{2402CBB4-F097-C2C2-3497-3ECB3DE9CEB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73339" y="1373188"/>
                        <a:ext cx="10080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Slope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25" name="Rectangle 24">
                      <a:extLst>
                        <a:ext uri="{FF2B5EF4-FFF2-40B4-BE49-F238E27FC236}">
                          <a16:creationId xmlns:a16="http://schemas.microsoft.com/office/drawing/2014/main" id="{0DB27E2E-6989-CBA4-EB7B-E2784E1DC5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36004" y="1860187"/>
                      <a:ext cx="1073213" cy="648000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Clay</a:t>
                      </a:r>
                    </a:p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</a:t>
                      </a:r>
                    </a:p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26" name="Group 25">
                      <a:extLst>
                        <a:ext uri="{FF2B5EF4-FFF2-40B4-BE49-F238E27FC236}">
                          <a16:creationId xmlns:a16="http://schemas.microsoft.com/office/drawing/2014/main" id="{D70A4AB4-5577-8F12-7AEB-70E899D4CB9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267468" y="1880400"/>
                      <a:ext cx="1224000" cy="653724"/>
                      <a:chOff x="6936819" y="1587909"/>
                      <a:chExt cx="1224000" cy="653724"/>
                    </a:xfrm>
                  </p:grpSpPr>
                  <p:sp>
                    <p:nvSpPr>
                      <p:cNvPr id="127" name="Rectangle 126">
                        <a:extLst>
                          <a:ext uri="{FF2B5EF4-FFF2-40B4-BE49-F238E27FC236}">
                            <a16:creationId xmlns:a16="http://schemas.microsoft.com/office/drawing/2014/main" id="{120A5C9B-1B8B-89AB-DB6F-E49699ACC8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36819" y="1587909"/>
                        <a:ext cx="1224000" cy="324000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  <a:alpha val="30000"/>
                        </a:schemeClr>
                      </a:solidFill>
                      <a:ln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600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Climate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8" name="Rectangle 127">
                        <a:extLst>
                          <a:ext uri="{FF2B5EF4-FFF2-40B4-BE49-F238E27FC236}">
                            <a16:creationId xmlns:a16="http://schemas.microsoft.com/office/drawing/2014/main" id="{D18BC063-AAF5-5A20-B59A-7798E48EF9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36819" y="1917633"/>
                        <a:ext cx="6120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MAT</a:t>
                        </a:r>
                      </a:p>
                      <a:p>
                        <a:pPr algn="ctr"/>
                        <a:endParaRPr lang="en-US" sz="140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9" name="Rectangle 128">
                        <a:extLst>
                          <a:ext uri="{FF2B5EF4-FFF2-40B4-BE49-F238E27FC236}">
                            <a16:creationId xmlns:a16="http://schemas.microsoft.com/office/drawing/2014/main" id="{DD090B66-4961-4114-C0AA-CE28573411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45954" y="1917633"/>
                        <a:ext cx="6120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MAP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27" name="Group 26">
                      <a:extLst>
                        <a:ext uri="{FF2B5EF4-FFF2-40B4-BE49-F238E27FC236}">
                          <a16:creationId xmlns:a16="http://schemas.microsoft.com/office/drawing/2014/main" id="{AAABC71A-1E65-9225-FD7B-E56AA8EBC6B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473264" y="1898424"/>
                      <a:ext cx="1459599" cy="642874"/>
                      <a:chOff x="6857989" y="1601172"/>
                      <a:chExt cx="1459599" cy="642874"/>
                    </a:xfrm>
                  </p:grpSpPr>
                  <p:sp>
                    <p:nvSpPr>
                      <p:cNvPr id="124" name="Rectangle 123">
                        <a:extLst>
                          <a:ext uri="{FF2B5EF4-FFF2-40B4-BE49-F238E27FC236}">
                            <a16:creationId xmlns:a16="http://schemas.microsoft.com/office/drawing/2014/main" id="{D57D9247-4C8C-3FD9-1C7C-A0215A946B4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7989" y="1601172"/>
                        <a:ext cx="1459599" cy="314101"/>
                      </a:xfrm>
                      <a:prstGeom prst="rect">
                        <a:avLst/>
                      </a:prstGeom>
                      <a:solidFill>
                        <a:srgbClr val="7030A0">
                          <a:alpha val="20000"/>
                        </a:srgbClr>
                      </a:solidFill>
                      <a:ln>
                        <a:solidFill>
                          <a:srgbClr val="7030A0">
                            <a:alpha val="30000"/>
                          </a:srgb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Seasonality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5" name="Rectangle 124">
                        <a:extLst>
                          <a:ext uri="{FF2B5EF4-FFF2-40B4-BE49-F238E27FC236}">
                            <a16:creationId xmlns:a16="http://schemas.microsoft.com/office/drawing/2014/main" id="{C72DC986-FE9C-6249-A217-DF81C40789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7989" y="1920046"/>
                        <a:ext cx="7308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7030A0">
                            <a:alpha val="30000"/>
                          </a:srgb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TS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6" name="Rectangle 125">
                        <a:extLst>
                          <a:ext uri="{FF2B5EF4-FFF2-40B4-BE49-F238E27FC236}">
                            <a16:creationId xmlns:a16="http://schemas.microsoft.com/office/drawing/2014/main" id="{829DB094-0247-B52B-40AB-4D4188E68C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84364" y="1920046"/>
                        <a:ext cx="7308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7030A0">
                            <a:alpha val="30000"/>
                          </a:srgb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PS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28" name="Group 27">
                      <a:extLst>
                        <a:ext uri="{FF2B5EF4-FFF2-40B4-BE49-F238E27FC236}">
                          <a16:creationId xmlns:a16="http://schemas.microsoft.com/office/drawing/2014/main" id="{BBE861B8-717A-7C52-6B4A-E095040D0B0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790972" y="3402744"/>
                      <a:ext cx="1204630" cy="638484"/>
                      <a:chOff x="6999884" y="1650447"/>
                      <a:chExt cx="1204630" cy="638484"/>
                    </a:xfrm>
                  </p:grpSpPr>
                  <p:sp>
                    <p:nvSpPr>
                      <p:cNvPr id="121" name="Rectangle 120">
                        <a:extLst>
                          <a:ext uri="{FF2B5EF4-FFF2-40B4-BE49-F238E27FC236}">
                            <a16:creationId xmlns:a16="http://schemas.microsoft.com/office/drawing/2014/main" id="{89FD0E6D-91CE-E356-92A9-107BB31081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99884" y="1650447"/>
                        <a:ext cx="1204629" cy="32400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60000"/>
                          <a:lumOff val="40000"/>
                          <a:alpha val="50000"/>
                        </a:schemeClr>
                      </a:solidFill>
                      <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Soil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2" name="Rectangle 121">
                        <a:extLst>
                          <a:ext uri="{FF2B5EF4-FFF2-40B4-BE49-F238E27FC236}">
                            <a16:creationId xmlns:a16="http://schemas.microsoft.com/office/drawing/2014/main" id="{A761F387-D6CE-454C-9207-DA09C878C1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99884" y="1964931"/>
                        <a:ext cx="549757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pH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3" name="Rectangle 122">
                        <a:extLst>
                          <a:ext uri="{FF2B5EF4-FFF2-40B4-BE49-F238E27FC236}">
                            <a16:creationId xmlns:a16="http://schemas.microsoft.com/office/drawing/2014/main" id="{32CC44E6-E86F-91C4-9472-48CB684404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49643" y="1964931"/>
                        <a:ext cx="654871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BD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29" name="Group 28">
                      <a:extLst>
                        <a:ext uri="{FF2B5EF4-FFF2-40B4-BE49-F238E27FC236}">
                          <a16:creationId xmlns:a16="http://schemas.microsoft.com/office/drawing/2014/main" id="{2FFD2588-AE3B-5DDF-E2E2-3EFFD8400F8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267469" y="3373787"/>
                      <a:ext cx="1706763" cy="682326"/>
                      <a:chOff x="6516262" y="3403954"/>
                      <a:chExt cx="1706763" cy="682326"/>
                    </a:xfrm>
                  </p:grpSpPr>
                  <p:sp>
                    <p:nvSpPr>
                      <p:cNvPr id="117" name="Rectangle 116">
                        <a:extLst>
                          <a:ext uri="{FF2B5EF4-FFF2-40B4-BE49-F238E27FC236}">
                            <a16:creationId xmlns:a16="http://schemas.microsoft.com/office/drawing/2014/main" id="{DA8B86C4-CC25-388B-ECC9-050E683E68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16262" y="3403954"/>
                        <a:ext cx="1706763" cy="354541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  <a:alpha val="50000"/>
                        </a:schemeClr>
                      </a:solidFill>
                      <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Vegetation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18" name="Rectangle 117">
                        <a:extLst>
                          <a:ext uri="{FF2B5EF4-FFF2-40B4-BE49-F238E27FC236}">
                            <a16:creationId xmlns:a16="http://schemas.microsoft.com/office/drawing/2014/main" id="{F436D799-51BD-FDF8-1128-6C3E60854E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16639" y="3762280"/>
                        <a:ext cx="5760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GPP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19" name="Rectangle 118">
                        <a:extLst>
                          <a:ext uri="{FF2B5EF4-FFF2-40B4-BE49-F238E27FC236}">
                            <a16:creationId xmlns:a16="http://schemas.microsoft.com/office/drawing/2014/main" id="{6BB55E9C-A03F-EF0F-EA38-DAA78DB228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95156" y="3762280"/>
                        <a:ext cx="5760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AGB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20" name="Rectangle 119">
                        <a:extLst>
                          <a:ext uri="{FF2B5EF4-FFF2-40B4-BE49-F238E27FC236}">
                            <a16:creationId xmlns:a16="http://schemas.microsoft.com/office/drawing/2014/main" id="{3D7D22C9-7B28-B88C-C83A-44A7B85A89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647025" y="3762280"/>
                        <a:ext cx="576000" cy="321481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BGB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30" name="Rectangle 29">
                      <a:extLst>
                        <a:ext uri="{FF2B5EF4-FFF2-40B4-BE49-F238E27FC236}">
                          <a16:creationId xmlns:a16="http://schemas.microsoft.com/office/drawing/2014/main" id="{E587DD19-12A2-6158-D6AD-721207C203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6587" y="4975925"/>
                      <a:ext cx="1440000" cy="313833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  <a:alpha val="50000"/>
                      </a:schemeClr>
                    </a:solidFill>
                    <a:ln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CUE</a:t>
                      </a:r>
                    </a:p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31" name="Straight Arrow Connector 30">
                      <a:extLst>
                        <a:ext uri="{FF2B5EF4-FFF2-40B4-BE49-F238E27FC236}">
                          <a16:creationId xmlns:a16="http://schemas.microsoft.com/office/drawing/2014/main" id="{D7E71ABD-C4C3-BBD1-C626-A52E4556569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468224" y="1243344"/>
                      <a:ext cx="743370" cy="631332"/>
                    </a:xfrm>
                    <a:prstGeom prst="straightConnector1">
                      <a:avLst/>
                    </a:prstGeom>
                    <a:ln w="25400"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853AA270-1C82-26B6-B3AF-2A636971E70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53188" y="1640389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0.01</a:t>
                      </a:r>
                    </a:p>
                  </p:txBody>
                </p:sp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6E60B409-2E7A-DE4B-2108-2D7C5AE0BACE}"/>
                        </a:ext>
                      </a:extLst>
                    </p:cNvPr>
                    <p:cNvSpPr txBox="1"/>
                    <p:nvPr/>
                  </p:nvSpPr>
                  <p:spPr>
                    <a:xfrm rot="19376878">
                      <a:off x="7350995" y="1290885"/>
                      <a:ext cx="80461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-0.11*</a:t>
                      </a:r>
                    </a:p>
                  </p:txBody>
                </p:sp>
                <p:cxnSp>
                  <p:nvCxnSpPr>
                    <p:cNvPr id="34" name="Straight Arrow Connector 33">
                      <a:extLst>
                        <a:ext uri="{FF2B5EF4-FFF2-40B4-BE49-F238E27FC236}">
                          <a16:creationId xmlns:a16="http://schemas.microsoft.com/office/drawing/2014/main" id="{66EB12E4-7883-37C6-CBE0-03D84C84A0A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6870978" y="2548063"/>
                      <a:ext cx="0" cy="813785"/>
                    </a:xfrm>
                    <a:prstGeom prst="straightConnector1">
                      <a:avLst/>
                    </a:prstGeom>
                    <a:ln w="63500">
                      <a:solidFill>
                        <a:srgbClr val="C00000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Straight Arrow Connector 34">
                      <a:extLst>
                        <a:ext uri="{FF2B5EF4-FFF2-40B4-BE49-F238E27FC236}">
                          <a16:creationId xmlns:a16="http://schemas.microsoft.com/office/drawing/2014/main" id="{CC4EE33F-D56B-8A75-017C-25F9EF50C56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204807" y="1252401"/>
                      <a:ext cx="17057" cy="644635"/>
                    </a:xfrm>
                    <a:prstGeom prst="straightConnector1">
                      <a:avLst/>
                    </a:prstGeom>
                    <a:ln w="25400"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" name="Straight Arrow Connector 35">
                      <a:extLst>
                        <a:ext uri="{FF2B5EF4-FFF2-40B4-BE49-F238E27FC236}">
                          <a16:creationId xmlns:a16="http://schemas.microsoft.com/office/drawing/2014/main" id="{D97FA98F-2E98-E99A-F24C-D0AC8AF2C14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11846" y="1250776"/>
                      <a:ext cx="720000" cy="629425"/>
                    </a:xfrm>
                    <a:prstGeom prst="straightConnector1">
                      <a:avLst/>
                    </a:prstGeom>
                    <a:ln w="25400">
                      <a:solidFill>
                        <a:srgbClr val="C00000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Straight Arrow Connector 36">
                      <a:extLst>
                        <a:ext uri="{FF2B5EF4-FFF2-40B4-BE49-F238E27FC236}">
                          <a16:creationId xmlns:a16="http://schemas.microsoft.com/office/drawing/2014/main" id="{1AD4AF1F-1486-187E-DCB8-02F68A4115F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15724" y="2204400"/>
                      <a:ext cx="935600" cy="7669"/>
                    </a:xfrm>
                    <a:prstGeom prst="straightConnector1">
                      <a:avLst/>
                    </a:prstGeom>
                    <a:ln w="76200"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" name="Straight Arrow Connector 37">
                      <a:extLst>
                        <a:ext uri="{FF2B5EF4-FFF2-40B4-BE49-F238E27FC236}">
                          <a16:creationId xmlns:a16="http://schemas.microsoft.com/office/drawing/2014/main" id="{EE8AC20D-9666-9A66-65D1-8B7E6396FDC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0037477" y="2212069"/>
                      <a:ext cx="894369" cy="456"/>
                    </a:xfrm>
                    <a:prstGeom prst="straightConnector1">
                      <a:avLst/>
                    </a:prstGeom>
                    <a:ln w="38100"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" name="Straight Arrow Connector 38">
                      <a:extLst>
                        <a:ext uri="{FF2B5EF4-FFF2-40B4-BE49-F238E27FC236}">
                          <a16:creationId xmlns:a16="http://schemas.microsoft.com/office/drawing/2014/main" id="{7A28BCA9-C293-C430-D28E-E86D4FD62D9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944976" y="2561641"/>
                      <a:ext cx="841651" cy="838426"/>
                    </a:xfrm>
                    <a:prstGeom prst="straightConnector1">
                      <a:avLst/>
                    </a:prstGeom>
                    <a:ln w="60325"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" name="Straight Arrow Connector 39">
                      <a:extLst>
                        <a:ext uri="{FF2B5EF4-FFF2-40B4-BE49-F238E27FC236}">
                          <a16:creationId xmlns:a16="http://schemas.microsoft.com/office/drawing/2014/main" id="{EAB1ECFE-E5DB-7DE7-50BC-6B8E4D3614E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329069" y="2508187"/>
                      <a:ext cx="0" cy="893087"/>
                    </a:xfrm>
                    <a:prstGeom prst="straightConnector1">
                      <a:avLst/>
                    </a:prstGeom>
                    <a:ln w="31750">
                      <a:solidFill>
                        <a:srgbClr val="C00000"/>
                      </a:solidFill>
                      <a:prstDash val="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" name="Straight Arrow Connector 40">
                      <a:extLst>
                        <a:ext uri="{FF2B5EF4-FFF2-40B4-BE49-F238E27FC236}">
                          <a16:creationId xmlns:a16="http://schemas.microsoft.com/office/drawing/2014/main" id="{BE1C7F0F-4A6C-B65C-A6A0-FB41F1ADFA6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949398" y="2567028"/>
                      <a:ext cx="519442" cy="800805"/>
                    </a:xfrm>
                    <a:prstGeom prst="straightConnector1">
                      <a:avLst/>
                    </a:prstGeom>
                    <a:ln w="47625">
                      <a:solidFill>
                        <a:schemeClr val="accent1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" name="Straight Arrow Connector 41">
                      <a:extLst>
                        <a:ext uri="{FF2B5EF4-FFF2-40B4-BE49-F238E27FC236}">
                          <a16:creationId xmlns:a16="http://schemas.microsoft.com/office/drawing/2014/main" id="{7AFA2AA1-1FAF-172F-C98C-AF87044FB8B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8005305" y="3726744"/>
                      <a:ext cx="2768421" cy="8267"/>
                    </a:xfrm>
                    <a:prstGeom prst="straightConnector1">
                      <a:avLst/>
                    </a:prstGeom>
                    <a:ln w="47625">
                      <a:solidFill>
                        <a:srgbClr val="C00000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" name="Straight Arrow Connector 42">
                      <a:extLst>
                        <a:ext uri="{FF2B5EF4-FFF2-40B4-BE49-F238E27FC236}">
                          <a16:creationId xmlns:a16="http://schemas.microsoft.com/office/drawing/2014/main" id="{EBBF0643-5C9F-2C95-D18A-41D21996700F}"/>
                        </a:ext>
                      </a:extLst>
                    </p:cNvPr>
                    <p:cNvCxnSpPr>
                      <a:cxnSpLocks/>
                      <a:endCxn id="30" idx="0"/>
                    </p:cNvCxnSpPr>
                    <p:nvPr/>
                  </p:nvCxnSpPr>
                  <p:spPr>
                    <a:xfrm>
                      <a:off x="7971453" y="4069138"/>
                      <a:ext cx="1305134" cy="906788"/>
                    </a:xfrm>
                    <a:prstGeom prst="straightConnector1">
                      <a:avLst/>
                    </a:prstGeom>
                    <a:ln w="25400"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" name="Straight Arrow Connector 43">
                      <a:extLst>
                        <a:ext uri="{FF2B5EF4-FFF2-40B4-BE49-F238E27FC236}">
                          <a16:creationId xmlns:a16="http://schemas.microsoft.com/office/drawing/2014/main" id="{DA2B8E14-0E39-783D-934A-2A8E2AC5FD1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9276587" y="4023635"/>
                      <a:ext cx="1510040" cy="936525"/>
                    </a:xfrm>
                    <a:prstGeom prst="straightConnector1">
                      <a:avLst/>
                    </a:prstGeom>
                    <a:ln w="63500"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5" name="TextBox 44">
                      <a:extLst>
                        <a:ext uri="{FF2B5EF4-FFF2-40B4-BE49-F238E27FC236}">
                          <a16:creationId xmlns:a16="http://schemas.microsoft.com/office/drawing/2014/main" id="{8E4245BB-D60C-9AD0-8303-B83FEC87245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09206" y="1652264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0.79</a:t>
                      </a:r>
                    </a:p>
                  </p:txBody>
                </p:sp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F8A52D5A-2E93-4919-95CD-D5D327F8AA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078505" y="1625148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0.08</a:t>
                      </a:r>
                    </a:p>
                  </p:txBody>
                </p:sp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D2531F51-AEB8-5B7D-7D77-CAC6EFB6FD5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946221" y="3117089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0.54</a:t>
                      </a:r>
                    </a:p>
                  </p:txBody>
                </p:sp>
                <p:sp>
                  <p:nvSpPr>
                    <p:cNvPr id="48" name="TextBox 47">
                      <a:extLst>
                        <a:ext uri="{FF2B5EF4-FFF2-40B4-BE49-F238E27FC236}">
                          <a16:creationId xmlns:a16="http://schemas.microsoft.com/office/drawing/2014/main" id="{DD667EB4-3846-D23F-8290-9214AFB8EC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03795" y="5291135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0.28</a:t>
                      </a:r>
                    </a:p>
                  </p:txBody>
                </p:sp>
                <p:sp>
                  <p:nvSpPr>
                    <p:cNvPr id="49" name="TextBox 48">
                      <a:extLst>
                        <a:ext uri="{FF2B5EF4-FFF2-40B4-BE49-F238E27FC236}">
                          <a16:creationId xmlns:a16="http://schemas.microsoft.com/office/drawing/2014/main" id="{DFF628C9-D539-C80E-A808-2BD8D990A54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186761" y="1404522"/>
                      <a:ext cx="72423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-0.19***</a:t>
                      </a:r>
                    </a:p>
                  </p:txBody>
                </p:sp>
                <p:sp>
                  <p:nvSpPr>
                    <p:cNvPr id="50" name="TextBox 49">
                      <a:extLst>
                        <a:ext uri="{FF2B5EF4-FFF2-40B4-BE49-F238E27FC236}">
                          <a16:creationId xmlns:a16="http://schemas.microsoft.com/office/drawing/2014/main" id="{4C049834-DFB0-F190-D762-E5A79442564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82798" y="1934426"/>
                      <a:ext cx="75012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-0.88***</a:t>
                      </a:r>
                    </a:p>
                  </p:txBody>
                </p:sp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94014279-AEEB-37C2-18B3-236434E5ACD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147308" y="1961239"/>
                      <a:ext cx="73080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-0.25***</a:t>
                      </a:r>
                    </a:p>
                  </p:txBody>
                </p:sp>
                <p:sp>
                  <p:nvSpPr>
                    <p:cNvPr id="52" name="TextBox 51">
                      <a:extLst>
                        <a:ext uri="{FF2B5EF4-FFF2-40B4-BE49-F238E27FC236}">
                          <a16:creationId xmlns:a16="http://schemas.microsoft.com/office/drawing/2014/main" id="{B4B0C824-65C5-BFBC-C94C-0AC8038C31DE}"/>
                        </a:ext>
                      </a:extLst>
                    </p:cNvPr>
                    <p:cNvSpPr txBox="1"/>
                    <p:nvPr/>
                  </p:nvSpPr>
                  <p:spPr>
                    <a:xfrm rot="2397490">
                      <a:off x="10379596" y="1444442"/>
                      <a:ext cx="89663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0.13</a:t>
                      </a:r>
                    </a:p>
                  </p:txBody>
                </p:sp>
                <p:sp>
                  <p:nvSpPr>
                    <p:cNvPr id="53" name="TextBox 52">
                      <a:extLst>
                        <a:ext uri="{FF2B5EF4-FFF2-40B4-BE49-F238E27FC236}">
                          <a16:creationId xmlns:a16="http://schemas.microsoft.com/office/drawing/2014/main" id="{7E19C278-AED3-7732-287D-768AEAB6B02E}"/>
                        </a:ext>
                      </a:extLst>
                    </p:cNvPr>
                    <p:cNvSpPr txBox="1"/>
                    <p:nvPr/>
                  </p:nvSpPr>
                  <p:spPr>
                    <a:xfrm rot="18473950">
                      <a:off x="8033734" y="2805901"/>
                      <a:ext cx="70601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-0.32</a:t>
                      </a:r>
                    </a:p>
                  </p:txBody>
                </p:sp>
                <p:sp>
                  <p:nvSpPr>
                    <p:cNvPr id="54" name="TextBox 53">
                      <a:extLst>
                        <a:ext uri="{FF2B5EF4-FFF2-40B4-BE49-F238E27FC236}">
                          <a16:creationId xmlns:a16="http://schemas.microsoft.com/office/drawing/2014/main" id="{60127035-E76C-FA01-0C8C-C121092EF44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82123" y="2781641"/>
                      <a:ext cx="79834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0.59***</a:t>
                      </a:r>
                    </a:p>
                  </p:txBody>
                </p:sp>
                <p:sp>
                  <p:nvSpPr>
                    <p:cNvPr id="55" name="TextBox 54">
                      <a:extLst>
                        <a:ext uri="{FF2B5EF4-FFF2-40B4-BE49-F238E27FC236}">
                          <a16:creationId xmlns:a16="http://schemas.microsoft.com/office/drawing/2014/main" id="{3B4F6C86-16CA-1DC8-A48B-934D3380033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08288" y="3447998"/>
                      <a:ext cx="77473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0.46***</a:t>
                      </a:r>
                    </a:p>
                  </p:txBody>
                </p:sp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132F45D2-1BB7-D7B3-119A-EBF5B457E3BA}"/>
                        </a:ext>
                      </a:extLst>
                    </p:cNvPr>
                    <p:cNvSpPr txBox="1"/>
                    <p:nvPr/>
                  </p:nvSpPr>
                  <p:spPr>
                    <a:xfrm rot="1920645">
                      <a:off x="8196585" y="4168710"/>
                      <a:ext cx="74912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-0.08</a:t>
                      </a:r>
                    </a:p>
                  </p:txBody>
                </p:sp>
                <p:sp>
                  <p:nvSpPr>
                    <p:cNvPr id="112" name="TextBox 111">
                      <a:extLst>
                        <a:ext uri="{FF2B5EF4-FFF2-40B4-BE49-F238E27FC236}">
                          <a16:creationId xmlns:a16="http://schemas.microsoft.com/office/drawing/2014/main" id="{3E4C9F1F-082A-D26C-18B9-E8FA346C57E6}"/>
                        </a:ext>
                      </a:extLst>
                    </p:cNvPr>
                    <p:cNvSpPr txBox="1"/>
                    <p:nvPr/>
                  </p:nvSpPr>
                  <p:spPr>
                    <a:xfrm rot="19814511">
                      <a:off x="9883872" y="4036085"/>
                      <a:ext cx="76686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-0.51***</a:t>
                      </a:r>
                    </a:p>
                  </p:txBody>
                </p:sp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8D5C8BD1-7A8E-60DE-88C2-FD5B2481E61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280293" y="2715773"/>
                      <a:ext cx="75513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0.29***</a:t>
                      </a:r>
                    </a:p>
                  </p:txBody>
                </p:sp>
                <p:sp>
                  <p:nvSpPr>
                    <p:cNvPr id="115" name="TextBox 114">
                      <a:extLst>
                        <a:ext uri="{FF2B5EF4-FFF2-40B4-BE49-F238E27FC236}">
                          <a16:creationId xmlns:a16="http://schemas.microsoft.com/office/drawing/2014/main" id="{25E3D756-E495-1AB8-A117-12BA3DC13589}"/>
                        </a:ext>
                      </a:extLst>
                    </p:cNvPr>
                    <p:cNvSpPr txBox="1"/>
                    <p:nvPr/>
                  </p:nvSpPr>
                  <p:spPr>
                    <a:xfrm rot="2570689">
                      <a:off x="10164084" y="2785563"/>
                      <a:ext cx="74383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-0.64***</a:t>
                      </a:r>
                    </a:p>
                  </p:txBody>
                </p:sp>
                <p:sp>
                  <p:nvSpPr>
                    <p:cNvPr id="116" name="TextBox 115">
                      <a:extLst>
                        <a:ext uri="{FF2B5EF4-FFF2-40B4-BE49-F238E27FC236}">
                          <a16:creationId xmlns:a16="http://schemas.microsoft.com/office/drawing/2014/main" id="{3CC1629B-172C-A34E-0474-109F40D03B9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732538" y="4893775"/>
                      <a:ext cx="131478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GOF = 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0.50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2BB43025-952B-2DC0-47C3-F407909A33DA}"/>
                      </a:ext>
                    </a:extLst>
                  </p:cNvPr>
                  <p:cNvSpPr txBox="1"/>
                  <p:nvPr/>
                </p:nvSpPr>
                <p:spPr>
                  <a:xfrm>
                    <a:off x="40636" y="-101730"/>
                    <a:ext cx="135485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</a:t>
                    </a:r>
                    <a:r>
                      <a: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 Subsoil</a:t>
                    </a:r>
                    <a:endParaRPr lang="en-US" sz="16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319" name="Group 318">
                  <a:extLst>
                    <a:ext uri="{FF2B5EF4-FFF2-40B4-BE49-F238E27FC236}">
                      <a16:creationId xmlns:a16="http://schemas.microsoft.com/office/drawing/2014/main" id="{E0200E7B-C0EC-BFAC-B47F-3D317D4DBFCD}"/>
                    </a:ext>
                  </a:extLst>
                </p:cNvPr>
                <p:cNvGrpSpPr/>
                <p:nvPr/>
              </p:nvGrpSpPr>
              <p:grpSpPr>
                <a:xfrm>
                  <a:off x="6044300" y="-54186"/>
                  <a:ext cx="5739513" cy="5771829"/>
                  <a:chOff x="6470958" y="-67916"/>
                  <a:chExt cx="5739513" cy="5771829"/>
                </a:xfrm>
              </p:grpSpPr>
              <p:sp>
                <p:nvSpPr>
                  <p:cNvPr id="299" name="TextBox 298">
                    <a:extLst>
                      <a:ext uri="{FF2B5EF4-FFF2-40B4-BE49-F238E27FC236}">
                        <a16:creationId xmlns:a16="http://schemas.microsoft.com/office/drawing/2014/main" id="{AD94E949-0B2A-00D1-4719-8A1512084E9C}"/>
                      </a:ext>
                    </a:extLst>
                  </p:cNvPr>
                  <p:cNvSpPr txBox="1"/>
                  <p:nvPr/>
                </p:nvSpPr>
                <p:spPr>
                  <a:xfrm>
                    <a:off x="6470958" y="-67916"/>
                    <a:ext cx="1289777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r>
                      <a: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 Topsoil</a:t>
                    </a:r>
                    <a:endParaRPr lang="en-US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314" name="Group 313">
                    <a:extLst>
                      <a:ext uri="{FF2B5EF4-FFF2-40B4-BE49-F238E27FC236}">
                        <a16:creationId xmlns:a16="http://schemas.microsoft.com/office/drawing/2014/main" id="{75A30B01-AD91-B22A-6FA9-D8A118DFAC66}"/>
                      </a:ext>
                    </a:extLst>
                  </p:cNvPr>
                  <p:cNvGrpSpPr/>
                  <p:nvPr/>
                </p:nvGrpSpPr>
                <p:grpSpPr>
                  <a:xfrm>
                    <a:off x="6786450" y="556288"/>
                    <a:ext cx="5424021" cy="5147625"/>
                    <a:chOff x="6593730" y="6245631"/>
                    <a:chExt cx="5424021" cy="5147625"/>
                  </a:xfrm>
                </p:grpSpPr>
                <p:sp>
                  <p:nvSpPr>
                    <p:cNvPr id="300" name="TextBox 299">
                      <a:extLst>
                        <a:ext uri="{FF2B5EF4-FFF2-40B4-BE49-F238E27FC236}">
                          <a16:creationId xmlns:a16="http://schemas.microsoft.com/office/drawing/2014/main" id="{E17FAF3A-C643-A91C-5E9E-E21F3BB84171}"/>
                        </a:ext>
                      </a:extLst>
                    </p:cNvPr>
                    <p:cNvSpPr txBox="1"/>
                    <p:nvPr/>
                  </p:nvSpPr>
                  <p:spPr>
                    <a:xfrm rot="18746364">
                      <a:off x="7275075" y="10596403"/>
                      <a:ext cx="1255152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Topography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01" name="TextBox 300">
                      <a:extLst>
                        <a:ext uri="{FF2B5EF4-FFF2-40B4-BE49-F238E27FC236}">
                          <a16:creationId xmlns:a16="http://schemas.microsoft.com/office/drawing/2014/main" id="{7E33B12A-6066-8E9C-9EF0-775CB8AEC8F6}"/>
                        </a:ext>
                      </a:extLst>
                    </p:cNvPr>
                    <p:cNvSpPr txBox="1"/>
                    <p:nvPr/>
                  </p:nvSpPr>
                  <p:spPr>
                    <a:xfrm rot="18746364">
                      <a:off x="8369701" y="10497818"/>
                      <a:ext cx="87876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Climate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02" name="TextBox 301">
                      <a:extLst>
                        <a:ext uri="{FF2B5EF4-FFF2-40B4-BE49-F238E27FC236}">
                          <a16:creationId xmlns:a16="http://schemas.microsoft.com/office/drawing/2014/main" id="{92F76917-C0F9-2D9B-3A71-684A603854D1}"/>
                        </a:ext>
                      </a:extLst>
                    </p:cNvPr>
                    <p:cNvSpPr txBox="1"/>
                    <p:nvPr/>
                  </p:nvSpPr>
                  <p:spPr>
                    <a:xfrm rot="18746364">
                      <a:off x="8918883" y="10550667"/>
                      <a:ext cx="1242648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Seasonality</a:t>
                      </a:r>
                    </a:p>
                  </p:txBody>
                </p:sp>
                <p:sp>
                  <p:nvSpPr>
                    <p:cNvPr id="303" name="TextBox 302">
                      <a:extLst>
                        <a:ext uri="{FF2B5EF4-FFF2-40B4-BE49-F238E27FC236}">
                          <a16:creationId xmlns:a16="http://schemas.microsoft.com/office/drawing/2014/main" id="{26F63A32-81AD-B566-AB21-986F254EA906}"/>
                        </a:ext>
                      </a:extLst>
                    </p:cNvPr>
                    <p:cNvSpPr txBox="1"/>
                    <p:nvPr/>
                  </p:nvSpPr>
                  <p:spPr>
                    <a:xfrm rot="18746364">
                      <a:off x="10235115" y="10363717"/>
                      <a:ext cx="593432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Clay</a:t>
                      </a:r>
                    </a:p>
                  </p:txBody>
                </p:sp>
                <p:sp>
                  <p:nvSpPr>
                    <p:cNvPr id="304" name="TextBox 303">
                      <a:extLst>
                        <a:ext uri="{FF2B5EF4-FFF2-40B4-BE49-F238E27FC236}">
                          <a16:creationId xmlns:a16="http://schemas.microsoft.com/office/drawing/2014/main" id="{43F2BB14-2A89-1320-6B8E-C9FD90D4521E}"/>
                        </a:ext>
                      </a:extLst>
                    </p:cNvPr>
                    <p:cNvSpPr txBox="1"/>
                    <p:nvPr/>
                  </p:nvSpPr>
                  <p:spPr>
                    <a:xfrm rot="18746364">
                      <a:off x="11006651" y="10363856"/>
                      <a:ext cx="582211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Soil </a:t>
                      </a:r>
                    </a:p>
                  </p:txBody>
                </p:sp>
                <p:sp>
                  <p:nvSpPr>
                    <p:cNvPr id="305" name="TextBox 304">
                      <a:extLst>
                        <a:ext uri="{FF2B5EF4-FFF2-40B4-BE49-F238E27FC236}">
                          <a16:creationId xmlns:a16="http://schemas.microsoft.com/office/drawing/2014/main" id="{D0E4F586-704F-A0A1-A89C-76BF4876497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64891" y="10204071"/>
                      <a:ext cx="652743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-0.50</a:t>
                      </a:r>
                    </a:p>
                  </p:txBody>
                </p:sp>
                <p:sp>
                  <p:nvSpPr>
                    <p:cNvPr id="306" name="TextBox 305">
                      <a:extLst>
                        <a:ext uri="{FF2B5EF4-FFF2-40B4-BE49-F238E27FC236}">
                          <a16:creationId xmlns:a16="http://schemas.microsoft.com/office/drawing/2014/main" id="{180FDF7B-3470-6CB2-A384-1CEA1B3010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65258" y="9208237"/>
                      <a:ext cx="652743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-0.25</a:t>
                      </a:r>
                    </a:p>
                  </p:txBody>
                </p:sp>
                <p:sp>
                  <p:nvSpPr>
                    <p:cNvPr id="307" name="TextBox 306">
                      <a:extLst>
                        <a:ext uri="{FF2B5EF4-FFF2-40B4-BE49-F238E27FC236}">
                          <a16:creationId xmlns:a16="http://schemas.microsoft.com/office/drawing/2014/main" id="{8AF532AB-0A93-3DCE-F212-3E30A70660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42350" y="8216968"/>
                      <a:ext cx="58381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</p:txBody>
                </p:sp>
                <p:sp>
                  <p:nvSpPr>
                    <p:cNvPr id="308" name="TextBox 307">
                      <a:extLst>
                        <a:ext uri="{FF2B5EF4-FFF2-40B4-BE49-F238E27FC236}">
                          <a16:creationId xmlns:a16="http://schemas.microsoft.com/office/drawing/2014/main" id="{3361072D-4F36-4291-8479-77817562F89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34425" y="7207453"/>
                      <a:ext cx="58381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</a:t>
                      </a:r>
                    </a:p>
                  </p:txBody>
                </p:sp>
                <p:sp>
                  <p:nvSpPr>
                    <p:cNvPr id="309" name="TextBox 308">
                      <a:extLst>
                        <a:ext uri="{FF2B5EF4-FFF2-40B4-BE49-F238E27FC236}">
                          <a16:creationId xmlns:a16="http://schemas.microsoft.com/office/drawing/2014/main" id="{E50EC599-315F-E8E7-80DF-DA55F6144F7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37616" y="6245631"/>
                      <a:ext cx="58381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0.50</a:t>
                      </a:r>
                    </a:p>
                  </p:txBody>
                </p:sp>
                <p:sp>
                  <p:nvSpPr>
                    <p:cNvPr id="310" name="TextBox 309">
                      <a:extLst>
                        <a:ext uri="{FF2B5EF4-FFF2-40B4-BE49-F238E27FC236}">
                          <a16:creationId xmlns:a16="http://schemas.microsoft.com/office/drawing/2014/main" id="{28C0365F-4BCD-F802-B48A-EC25D97E826C}"/>
                        </a:ext>
                      </a:extLst>
                    </p:cNvPr>
                    <p:cNvSpPr txBox="1"/>
                    <p:nvPr/>
                  </p:nvSpPr>
                  <p:spPr>
                    <a:xfrm rot="16200000">
                      <a:off x="5237188" y="8150973"/>
                      <a:ext cx="3113194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Standardized total effects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11" name="TextBox 310">
                      <a:extLst>
                        <a:ext uri="{FF2B5EF4-FFF2-40B4-BE49-F238E27FC236}">
                          <a16:creationId xmlns:a16="http://schemas.microsoft.com/office/drawing/2014/main" id="{875BC89C-6C34-3BFC-41A0-A7A31BC2BA18}"/>
                        </a:ext>
                      </a:extLst>
                    </p:cNvPr>
                    <p:cNvSpPr txBox="1"/>
                    <p:nvPr/>
                  </p:nvSpPr>
                  <p:spPr>
                    <a:xfrm rot="18746364">
                      <a:off x="11272098" y="10565042"/>
                      <a:ext cx="1152751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Vegetation</a:t>
                      </a:r>
                    </a:p>
                  </p:txBody>
                </p:sp>
              </p:grpSp>
            </p:grpSp>
          </p:grp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DEADEBAC-FA8C-FC73-5A4B-44C7F7419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79060" y="589749"/>
                <a:ext cx="5184000" cy="43200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21097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C1EECC09-9047-DDF0-94FC-EC3D2D8BD9FF}"/>
              </a:ext>
            </a:extLst>
          </p:cNvPr>
          <p:cNvGrpSpPr/>
          <p:nvPr/>
        </p:nvGrpSpPr>
        <p:grpSpPr>
          <a:xfrm>
            <a:off x="-148281" y="0"/>
            <a:ext cx="12881663" cy="11014274"/>
            <a:chOff x="0" y="53531"/>
            <a:chExt cx="12881663" cy="1101427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56547AC-AFB9-D3BC-831B-EED2F5C46419}"/>
                </a:ext>
              </a:extLst>
            </p:cNvPr>
            <p:cNvSpPr/>
            <p:nvPr/>
          </p:nvSpPr>
          <p:spPr>
            <a:xfrm>
              <a:off x="5520174" y="3736491"/>
              <a:ext cx="881875" cy="315167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Moisture</a:t>
              </a: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053740D6-531C-4E42-28A7-CE518625DCDE}"/>
                </a:ext>
              </a:extLst>
            </p:cNvPr>
            <p:cNvCxnSpPr>
              <a:cxnSpLocks/>
              <a:endCxn id="65" idx="0"/>
            </p:cNvCxnSpPr>
            <p:nvPr/>
          </p:nvCxnSpPr>
          <p:spPr>
            <a:xfrm>
              <a:off x="3197278" y="2530099"/>
              <a:ext cx="0" cy="2434628"/>
            </a:xfrm>
            <a:prstGeom prst="straightConnector1">
              <a:avLst/>
            </a:prstGeom>
            <a:ln w="25400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1969026D-4631-63F3-AE5C-A761E3C4D6F6}"/>
                </a:ext>
              </a:extLst>
            </p:cNvPr>
            <p:cNvSpPr txBox="1"/>
            <p:nvPr/>
          </p:nvSpPr>
          <p:spPr>
            <a:xfrm>
              <a:off x="3207280" y="2779186"/>
              <a:ext cx="7747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0.23**</a:t>
              </a:r>
            </a:p>
          </p:txBody>
        </p: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1DBD593E-BCB0-F552-A30D-AA1D889DE718}"/>
                </a:ext>
              </a:extLst>
            </p:cNvPr>
            <p:cNvGrpSpPr/>
            <p:nvPr/>
          </p:nvGrpSpPr>
          <p:grpSpPr>
            <a:xfrm>
              <a:off x="104044" y="55019"/>
              <a:ext cx="6475008" cy="5501917"/>
              <a:chOff x="310372" y="5987"/>
              <a:chExt cx="6475008" cy="5501917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055437F-258C-572E-B20B-B0EC16B44557}"/>
                  </a:ext>
                </a:extLst>
              </p:cNvPr>
              <p:cNvSpPr/>
              <p:nvPr/>
            </p:nvSpPr>
            <p:spPr>
              <a:xfrm>
                <a:off x="5145539" y="2162480"/>
                <a:ext cx="730800" cy="324000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50000"/>
                    <a:alpha val="3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Clay 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15A802C-9BC4-A151-C5E6-FFA7D0F7A98B}"/>
                  </a:ext>
                </a:extLst>
              </p:cNvPr>
              <p:cNvSpPr/>
              <p:nvPr/>
            </p:nvSpPr>
            <p:spPr>
              <a:xfrm>
                <a:off x="5871914" y="2164793"/>
                <a:ext cx="730800" cy="324000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50000"/>
                    <a:alpha val="3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Sand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1667468D-85B0-F1D0-9FE0-BD21C89D9D3F}"/>
                  </a:ext>
                </a:extLst>
              </p:cNvPr>
              <p:cNvGrpSpPr/>
              <p:nvPr/>
            </p:nvGrpSpPr>
            <p:grpSpPr>
              <a:xfrm>
                <a:off x="310372" y="5987"/>
                <a:ext cx="6475008" cy="5501917"/>
                <a:chOff x="310372" y="5987"/>
                <a:chExt cx="6475008" cy="5501917"/>
              </a:xfrm>
            </p:grpSpPr>
            <p:grpSp>
              <p:nvGrpSpPr>
                <p:cNvPr id="320" name="Group 319">
                  <a:extLst>
                    <a:ext uri="{FF2B5EF4-FFF2-40B4-BE49-F238E27FC236}">
                      <a16:creationId xmlns:a16="http://schemas.microsoft.com/office/drawing/2014/main" id="{4E5289E7-AB5A-FA03-FD68-692C28C49F09}"/>
                    </a:ext>
                  </a:extLst>
                </p:cNvPr>
                <p:cNvGrpSpPr/>
                <p:nvPr/>
              </p:nvGrpSpPr>
              <p:grpSpPr>
                <a:xfrm>
                  <a:off x="469199" y="5987"/>
                  <a:ext cx="6237962" cy="5501917"/>
                  <a:chOff x="40636" y="-101730"/>
                  <a:chExt cx="6237962" cy="5501917"/>
                </a:xfrm>
              </p:grpSpPr>
              <p:grpSp>
                <p:nvGrpSpPr>
                  <p:cNvPr id="57" name="Group 56">
                    <a:extLst>
                      <a:ext uri="{FF2B5EF4-FFF2-40B4-BE49-F238E27FC236}">
                        <a16:creationId xmlns:a16="http://schemas.microsoft.com/office/drawing/2014/main" id="{C0C59B3F-A599-210B-F310-B5452AE689CB}"/>
                      </a:ext>
                    </a:extLst>
                  </p:cNvPr>
                  <p:cNvGrpSpPr/>
                  <p:nvPr/>
                </p:nvGrpSpPr>
                <p:grpSpPr>
                  <a:xfrm>
                    <a:off x="47209" y="421671"/>
                    <a:ext cx="6231389" cy="4978516"/>
                    <a:chOff x="6265288" y="589620"/>
                    <a:chExt cx="6231389" cy="4978514"/>
                  </a:xfrm>
                </p:grpSpPr>
                <p:sp>
                  <p:nvSpPr>
                    <p:cNvPr id="58" name="TextBox 57">
                      <a:extLst>
                        <a:ext uri="{FF2B5EF4-FFF2-40B4-BE49-F238E27FC236}">
                          <a16:creationId xmlns:a16="http://schemas.microsoft.com/office/drawing/2014/main" id="{5ED78C62-2C72-5E0B-7DB9-09ACE28A23A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669206" y="3181120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0.23</a:t>
                      </a:r>
                    </a:p>
                  </p:txBody>
                </p:sp>
                <p:grpSp>
                  <p:nvGrpSpPr>
                    <p:cNvPr id="59" name="Group 58">
                      <a:extLst>
                        <a:ext uri="{FF2B5EF4-FFF2-40B4-BE49-F238E27FC236}">
                          <a16:creationId xmlns:a16="http://schemas.microsoft.com/office/drawing/2014/main" id="{9F0638F4-A6EB-3A06-A8B2-B7B18EFCE1E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06319" y="589620"/>
                      <a:ext cx="2005527" cy="653724"/>
                      <a:chOff x="6875812" y="1043464"/>
                      <a:chExt cx="2005527" cy="653724"/>
                    </a:xfrm>
                    <a:solidFill>
                      <a:schemeClr val="accent2">
                        <a:lumMod val="60000"/>
                        <a:lumOff val="40000"/>
                      </a:schemeClr>
                    </a:solidFill>
                  </p:grpSpPr>
                  <p:sp>
                    <p:nvSpPr>
                      <p:cNvPr id="109" name="Rectangle 108">
                        <a:extLst>
                          <a:ext uri="{FF2B5EF4-FFF2-40B4-BE49-F238E27FC236}">
                            <a16:creationId xmlns:a16="http://schemas.microsoft.com/office/drawing/2014/main" id="{9138B27A-CA55-DCD5-E26B-00273520C7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75812" y="1043464"/>
                        <a:ext cx="2005527" cy="324000"/>
                      </a:xfrm>
                      <a:prstGeom prst="rect">
                        <a:avLst/>
                      </a:prstGeom>
                      <a:solidFill>
                        <a:schemeClr val="accent2">
                          <a:alpha val="30000"/>
                        </a:schemeClr>
                      </a:solidFill>
                      <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Topography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10" name="Rectangle 109">
                        <a:extLst>
                          <a:ext uri="{FF2B5EF4-FFF2-40B4-BE49-F238E27FC236}">
                            <a16:creationId xmlns:a16="http://schemas.microsoft.com/office/drawing/2014/main" id="{E304E46E-C01C-6AF3-FB42-1BFED2C814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75812" y="1373188"/>
                        <a:ext cx="10080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Elevation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11" name="Rectangle 110">
                        <a:extLst>
                          <a:ext uri="{FF2B5EF4-FFF2-40B4-BE49-F238E27FC236}">
                            <a16:creationId xmlns:a16="http://schemas.microsoft.com/office/drawing/2014/main" id="{E0FC1ABF-4CA0-F61E-67DA-AA5473470D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73339" y="1373188"/>
                        <a:ext cx="10080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Slope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60" name="Rectangle 59">
                      <a:extLst>
                        <a:ext uri="{FF2B5EF4-FFF2-40B4-BE49-F238E27FC236}">
                          <a16:creationId xmlns:a16="http://schemas.microsoft.com/office/drawing/2014/main" id="{F82B07A6-4FB3-FC14-ECFE-09CBF18E03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36004" y="1860187"/>
                      <a:ext cx="1459039" cy="361577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Soil texture</a:t>
                      </a:r>
                    </a:p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61" name="Group 60">
                      <a:extLst>
                        <a:ext uri="{FF2B5EF4-FFF2-40B4-BE49-F238E27FC236}">
                          <a16:creationId xmlns:a16="http://schemas.microsoft.com/office/drawing/2014/main" id="{D8B5F35E-495F-EC41-B3F7-2837570C1BA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267468" y="1880400"/>
                      <a:ext cx="1224000" cy="653724"/>
                      <a:chOff x="6936819" y="1587909"/>
                      <a:chExt cx="1224000" cy="653724"/>
                    </a:xfrm>
                  </p:grpSpPr>
                  <p:sp>
                    <p:nvSpPr>
                      <p:cNvPr id="106" name="Rectangle 105">
                        <a:extLst>
                          <a:ext uri="{FF2B5EF4-FFF2-40B4-BE49-F238E27FC236}">
                            <a16:creationId xmlns:a16="http://schemas.microsoft.com/office/drawing/2014/main" id="{57FF5809-DC3B-12A7-4335-470A570B21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36819" y="1587909"/>
                        <a:ext cx="1224000" cy="324000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  <a:alpha val="30000"/>
                        </a:schemeClr>
                      </a:solidFill>
                      <a:ln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Climate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07" name="Rectangle 106">
                        <a:extLst>
                          <a:ext uri="{FF2B5EF4-FFF2-40B4-BE49-F238E27FC236}">
                            <a16:creationId xmlns:a16="http://schemas.microsoft.com/office/drawing/2014/main" id="{9823F29B-6054-27A0-0A1E-CDBDDD4D3D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36819" y="1917633"/>
                        <a:ext cx="6120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MAT</a:t>
                        </a:r>
                      </a:p>
                      <a:p>
                        <a:pPr algn="ctr"/>
                        <a:endParaRPr lang="en-US" sz="140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08" name="Rectangle 107">
                        <a:extLst>
                          <a:ext uri="{FF2B5EF4-FFF2-40B4-BE49-F238E27FC236}">
                            <a16:creationId xmlns:a16="http://schemas.microsoft.com/office/drawing/2014/main" id="{5865A653-027D-1EAA-30CF-C5EA2B209B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45954" y="1917633"/>
                        <a:ext cx="6120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MAP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62" name="Group 61">
                      <a:extLst>
                        <a:ext uri="{FF2B5EF4-FFF2-40B4-BE49-F238E27FC236}">
                          <a16:creationId xmlns:a16="http://schemas.microsoft.com/office/drawing/2014/main" id="{11E3C994-8E9B-7887-012E-34A0A709C51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473264" y="1898424"/>
                      <a:ext cx="1459599" cy="642874"/>
                      <a:chOff x="6857989" y="1601172"/>
                      <a:chExt cx="1459599" cy="642874"/>
                    </a:xfrm>
                  </p:grpSpPr>
                  <p:sp>
                    <p:nvSpPr>
                      <p:cNvPr id="103" name="Rectangle 102">
                        <a:extLst>
                          <a:ext uri="{FF2B5EF4-FFF2-40B4-BE49-F238E27FC236}">
                            <a16:creationId xmlns:a16="http://schemas.microsoft.com/office/drawing/2014/main" id="{A4A1A56D-C6EE-514B-745F-AA2620864A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7989" y="1601172"/>
                        <a:ext cx="1459599" cy="314101"/>
                      </a:xfrm>
                      <a:prstGeom prst="rect">
                        <a:avLst/>
                      </a:prstGeom>
                      <a:solidFill>
                        <a:srgbClr val="7030A0">
                          <a:alpha val="20000"/>
                        </a:srgbClr>
                      </a:solidFill>
                      <a:ln>
                        <a:solidFill>
                          <a:srgbClr val="7030A0">
                            <a:alpha val="30000"/>
                          </a:srgb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Seasonality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04" name="Rectangle 103">
                        <a:extLst>
                          <a:ext uri="{FF2B5EF4-FFF2-40B4-BE49-F238E27FC236}">
                            <a16:creationId xmlns:a16="http://schemas.microsoft.com/office/drawing/2014/main" id="{37FBBA4E-4190-9243-EC6B-AA7C50CB0C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7989" y="1920046"/>
                        <a:ext cx="7308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7030A0">
                            <a:alpha val="30000"/>
                          </a:srgb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TS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05" name="Rectangle 104">
                        <a:extLst>
                          <a:ext uri="{FF2B5EF4-FFF2-40B4-BE49-F238E27FC236}">
                            <a16:creationId xmlns:a16="http://schemas.microsoft.com/office/drawing/2014/main" id="{871D3070-CA3C-A151-D4D5-E72B34A0ED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84364" y="1920046"/>
                        <a:ext cx="7308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7030A0">
                            <a:alpha val="30000"/>
                          </a:srgb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PS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63" name="Group 62">
                      <a:extLst>
                        <a:ext uri="{FF2B5EF4-FFF2-40B4-BE49-F238E27FC236}">
                          <a16:creationId xmlns:a16="http://schemas.microsoft.com/office/drawing/2014/main" id="{5FB0C4BD-4334-688D-A54C-0C28C76A457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605648" y="3413882"/>
                      <a:ext cx="1786899" cy="649747"/>
                      <a:chOff x="6814560" y="1661585"/>
                      <a:chExt cx="1786899" cy="649747"/>
                    </a:xfrm>
                  </p:grpSpPr>
                  <p:sp>
                    <p:nvSpPr>
                      <p:cNvPr id="100" name="Rectangle 99">
                        <a:extLst>
                          <a:ext uri="{FF2B5EF4-FFF2-40B4-BE49-F238E27FC236}">
                            <a16:creationId xmlns:a16="http://schemas.microsoft.com/office/drawing/2014/main" id="{A9F3F069-B0FE-3795-77D9-C0A14ABF21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14560" y="1661585"/>
                        <a:ext cx="1786899" cy="32400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60000"/>
                          <a:lumOff val="40000"/>
                          <a:alpha val="50000"/>
                        </a:schemeClr>
                      </a:solidFill>
                      <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Soil properties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01" name="Rectangle 100">
                        <a:extLst>
                          <a:ext uri="{FF2B5EF4-FFF2-40B4-BE49-F238E27FC236}">
                            <a16:creationId xmlns:a16="http://schemas.microsoft.com/office/drawing/2014/main" id="{31647B19-78CF-397B-1D2F-EDEA66F2A8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14560" y="1987332"/>
                        <a:ext cx="480781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pH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02" name="Rectangle 101">
                        <a:extLst>
                          <a:ext uri="{FF2B5EF4-FFF2-40B4-BE49-F238E27FC236}">
                            <a16:creationId xmlns:a16="http://schemas.microsoft.com/office/drawing/2014/main" id="{B76FE37C-0DB8-A209-875D-72DC1CF073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00296" y="1996165"/>
                        <a:ext cx="430688" cy="31516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BD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64" name="Group 63">
                      <a:extLst>
                        <a:ext uri="{FF2B5EF4-FFF2-40B4-BE49-F238E27FC236}">
                          <a16:creationId xmlns:a16="http://schemas.microsoft.com/office/drawing/2014/main" id="{391A9DEA-4B85-77F6-7DF0-031534EFD7F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265288" y="3372665"/>
                      <a:ext cx="2454377" cy="682724"/>
                      <a:chOff x="6514081" y="3402832"/>
                      <a:chExt cx="2454377" cy="682724"/>
                    </a:xfrm>
                  </p:grpSpPr>
                  <p:sp>
                    <p:nvSpPr>
                      <p:cNvPr id="96" name="Rectangle 95">
                        <a:extLst>
                          <a:ext uri="{FF2B5EF4-FFF2-40B4-BE49-F238E27FC236}">
                            <a16:creationId xmlns:a16="http://schemas.microsoft.com/office/drawing/2014/main" id="{4B2ECF82-25C2-67A6-FD29-BDCEC7A9C6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14081" y="3402832"/>
                        <a:ext cx="2454377" cy="354541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  <a:alpha val="50000"/>
                        </a:schemeClr>
                      </a:solidFill>
                      <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Vegetation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97" name="Rectangle 96">
                        <a:extLst>
                          <a:ext uri="{FF2B5EF4-FFF2-40B4-BE49-F238E27FC236}">
                            <a16:creationId xmlns:a16="http://schemas.microsoft.com/office/drawing/2014/main" id="{D2527C76-0D6D-568F-F229-E956DBB1BB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14746" y="3761556"/>
                        <a:ext cx="56127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GPP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98" name="Rectangle 97">
                        <a:extLst>
                          <a:ext uri="{FF2B5EF4-FFF2-40B4-BE49-F238E27FC236}">
                            <a16:creationId xmlns:a16="http://schemas.microsoft.com/office/drawing/2014/main" id="{CCF157A2-93D3-3004-5685-8DC82136D0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93883" y="3764617"/>
                        <a:ext cx="574575" cy="31787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BGB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99" name="Rectangle 98">
                        <a:extLst>
                          <a:ext uri="{FF2B5EF4-FFF2-40B4-BE49-F238E27FC236}">
                            <a16:creationId xmlns:a16="http://schemas.microsoft.com/office/drawing/2014/main" id="{C8F8CFAB-2288-1529-665C-42839837A5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72639" y="3761371"/>
                        <a:ext cx="1314784" cy="321481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 err="1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Shannon_EVI</a:t>
                        </a:r>
                        <a:endParaRPr lang="en-US" sz="140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65" name="Rectangle 64">
                      <a:extLst>
                        <a:ext uri="{FF2B5EF4-FFF2-40B4-BE49-F238E27FC236}">
                          <a16:creationId xmlns:a16="http://schemas.microsoft.com/office/drawing/2014/main" id="{408BACE5-7C29-7BBE-32F8-EC83627990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5062" y="4975925"/>
                      <a:ext cx="1440000" cy="313833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  <a:alpha val="50000"/>
                      </a:schemeClr>
                    </a:solidFill>
                    <a:ln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CUE</a:t>
                      </a:r>
                    </a:p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66" name="Straight Arrow Connector 65">
                      <a:extLst>
                        <a:ext uri="{FF2B5EF4-FFF2-40B4-BE49-F238E27FC236}">
                          <a16:creationId xmlns:a16="http://schemas.microsoft.com/office/drawing/2014/main" id="{279A8165-8969-74DD-7E93-6247FABC608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468224" y="1243344"/>
                      <a:ext cx="743370" cy="631332"/>
                    </a:xfrm>
                    <a:prstGeom prst="straightConnector1">
                      <a:avLst/>
                    </a:prstGeom>
                    <a:ln w="47625"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218413E9-1840-32DE-ED37-FD2F2E74703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53188" y="1640389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0.22</a:t>
                      </a:r>
                    </a:p>
                  </p:txBody>
                </p:sp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A3949209-F2A8-CD73-4639-5C829B0D3017}"/>
                        </a:ext>
                      </a:extLst>
                    </p:cNvPr>
                    <p:cNvSpPr txBox="1"/>
                    <p:nvPr/>
                  </p:nvSpPr>
                  <p:spPr>
                    <a:xfrm rot="19376878">
                      <a:off x="7350995" y="1290885"/>
                      <a:ext cx="80461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-0.47***</a:t>
                      </a:r>
                    </a:p>
                  </p:txBody>
                </p:sp>
                <p:cxnSp>
                  <p:nvCxnSpPr>
                    <p:cNvPr id="69" name="Straight Arrow Connector 68">
                      <a:extLst>
                        <a:ext uri="{FF2B5EF4-FFF2-40B4-BE49-F238E27FC236}">
                          <a16:creationId xmlns:a16="http://schemas.microsoft.com/office/drawing/2014/main" id="{C5AA62EE-2574-EE05-76D6-79DDDAF414C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845127" y="2546941"/>
                      <a:ext cx="673108" cy="825724"/>
                    </a:xfrm>
                    <a:prstGeom prst="straightConnector1">
                      <a:avLst/>
                    </a:prstGeom>
                    <a:ln w="66675">
                      <a:solidFill>
                        <a:srgbClr val="C00000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" name="Straight Arrow Connector 69">
                      <a:extLst>
                        <a:ext uri="{FF2B5EF4-FFF2-40B4-BE49-F238E27FC236}">
                          <a16:creationId xmlns:a16="http://schemas.microsoft.com/office/drawing/2014/main" id="{D49AC120-92B0-A0DF-8B3C-3E6B3A111E9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204807" y="1252401"/>
                      <a:ext cx="0" cy="644635"/>
                    </a:xfrm>
                    <a:prstGeom prst="straightConnector1">
                      <a:avLst/>
                    </a:prstGeom>
                    <a:ln w="38100">
                      <a:solidFill>
                        <a:schemeClr val="accent1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1" name="Straight Arrow Connector 70">
                      <a:extLst>
                        <a:ext uri="{FF2B5EF4-FFF2-40B4-BE49-F238E27FC236}">
                          <a16:creationId xmlns:a16="http://schemas.microsoft.com/office/drawing/2014/main" id="{C986E057-DC5E-C9A2-7327-9CD4687592A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11846" y="1250776"/>
                      <a:ext cx="720000" cy="629425"/>
                    </a:xfrm>
                    <a:prstGeom prst="straightConnector1">
                      <a:avLst/>
                    </a:prstGeom>
                    <a:ln w="38100">
                      <a:solidFill>
                        <a:srgbClr val="C00000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Straight Arrow Connector 71">
                      <a:extLst>
                        <a:ext uri="{FF2B5EF4-FFF2-40B4-BE49-F238E27FC236}">
                          <a16:creationId xmlns:a16="http://schemas.microsoft.com/office/drawing/2014/main" id="{55B08540-5541-1EA3-D4BC-8A3630E2BB6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15724" y="2204400"/>
                      <a:ext cx="935600" cy="7669"/>
                    </a:xfrm>
                    <a:prstGeom prst="straightConnector1">
                      <a:avLst/>
                    </a:prstGeom>
                    <a:ln w="76200"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" name="Straight Arrow Connector 72">
                      <a:extLst>
                        <a:ext uri="{FF2B5EF4-FFF2-40B4-BE49-F238E27FC236}">
                          <a16:creationId xmlns:a16="http://schemas.microsoft.com/office/drawing/2014/main" id="{53CFCF59-F0E8-4921-5186-445DD30E6BC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0037477" y="2212069"/>
                      <a:ext cx="894369" cy="456"/>
                    </a:xfrm>
                    <a:prstGeom prst="straightConnector1">
                      <a:avLst/>
                    </a:prstGeom>
                    <a:ln w="60325">
                      <a:solidFill>
                        <a:srgbClr val="C00000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" name="Straight Arrow Connector 73">
                      <a:extLst>
                        <a:ext uri="{FF2B5EF4-FFF2-40B4-BE49-F238E27FC236}">
                          <a16:creationId xmlns:a16="http://schemas.microsoft.com/office/drawing/2014/main" id="{8A21EC9E-9468-0E91-9FC8-7CE18030C32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944976" y="2561641"/>
                      <a:ext cx="664027" cy="832357"/>
                    </a:xfrm>
                    <a:prstGeom prst="straightConnector1">
                      <a:avLst/>
                    </a:prstGeom>
                    <a:ln w="25400">
                      <a:solidFill>
                        <a:schemeClr val="accent1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" name="Straight Arrow Connector 74">
                      <a:extLst>
                        <a:ext uri="{FF2B5EF4-FFF2-40B4-BE49-F238E27FC236}">
                          <a16:creationId xmlns:a16="http://schemas.microsoft.com/office/drawing/2014/main" id="{059F262D-5F57-07C3-E466-22604A5708B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657860" y="2561466"/>
                      <a:ext cx="25469" cy="830667"/>
                    </a:xfrm>
                    <a:prstGeom prst="straightConnector1">
                      <a:avLst/>
                    </a:prstGeom>
                    <a:ln w="38100">
                      <a:solidFill>
                        <a:schemeClr val="accent1"/>
                      </a:solidFill>
                      <a:prstDash val="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6" name="Straight Arrow Connector 75">
                      <a:extLst>
                        <a:ext uri="{FF2B5EF4-FFF2-40B4-BE49-F238E27FC236}">
                          <a16:creationId xmlns:a16="http://schemas.microsoft.com/office/drawing/2014/main" id="{E92D78CD-04F7-68E3-04B9-FB775FE4BA5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556443" y="2554671"/>
                      <a:ext cx="924754" cy="806759"/>
                    </a:xfrm>
                    <a:prstGeom prst="straightConnector1">
                      <a:avLst/>
                    </a:prstGeom>
                    <a:ln w="34925"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Straight Arrow Connector 76">
                      <a:extLst>
                        <a:ext uri="{FF2B5EF4-FFF2-40B4-BE49-F238E27FC236}">
                          <a16:creationId xmlns:a16="http://schemas.microsoft.com/office/drawing/2014/main" id="{E2FE34BD-47D7-3C9B-0EF8-40DAE576511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719665" y="3749654"/>
                      <a:ext cx="1881278" cy="0"/>
                    </a:xfrm>
                    <a:prstGeom prst="straightConnector1">
                      <a:avLst/>
                    </a:prstGeom>
                    <a:ln w="28575">
                      <a:solidFill>
                        <a:srgbClr val="C00000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Straight Arrow Connector 77">
                      <a:extLst>
                        <a:ext uri="{FF2B5EF4-FFF2-40B4-BE49-F238E27FC236}">
                          <a16:creationId xmlns:a16="http://schemas.microsoft.com/office/drawing/2014/main" id="{5075B66A-F291-CC91-267E-A20BAF8DFBF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145090" y="4074776"/>
                      <a:ext cx="937629" cy="907271"/>
                    </a:xfrm>
                    <a:prstGeom prst="straightConnector1">
                      <a:avLst/>
                    </a:prstGeom>
                    <a:ln w="47625">
                      <a:solidFill>
                        <a:srgbClr val="C00000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" name="Straight Arrow Connector 78">
                      <a:extLst>
                        <a:ext uri="{FF2B5EF4-FFF2-40B4-BE49-F238E27FC236}">
                          <a16:creationId xmlns:a16="http://schemas.microsoft.com/office/drawing/2014/main" id="{FD8012BC-A819-418C-C663-E0028B7D8EE7}"/>
                        </a:ext>
                      </a:extLst>
                    </p:cNvPr>
                    <p:cNvCxnSpPr>
                      <a:cxnSpLocks/>
                      <a:endCxn id="65" idx="0"/>
                    </p:cNvCxnSpPr>
                    <p:nvPr/>
                  </p:nvCxnSpPr>
                  <p:spPr>
                    <a:xfrm flipH="1">
                      <a:off x="9215062" y="4089096"/>
                      <a:ext cx="1385881" cy="886830"/>
                    </a:xfrm>
                    <a:prstGeom prst="straightConnector1">
                      <a:avLst/>
                    </a:prstGeom>
                    <a:ln w="38100">
                      <a:solidFill>
                        <a:schemeClr val="accent1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0" name="TextBox 79">
                      <a:extLst>
                        <a:ext uri="{FF2B5EF4-FFF2-40B4-BE49-F238E27FC236}">
                          <a16:creationId xmlns:a16="http://schemas.microsoft.com/office/drawing/2014/main" id="{FB575D3C-CC7A-25F6-1D78-2F4E5017BD0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09206" y="1652264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0.81</a:t>
                      </a:r>
                    </a:p>
                  </p:txBody>
                </p:sp>
                <p:sp>
                  <p:nvSpPr>
                    <p:cNvPr id="81" name="TextBox 80">
                      <a:extLst>
                        <a:ext uri="{FF2B5EF4-FFF2-40B4-BE49-F238E27FC236}">
                          <a16:creationId xmlns:a16="http://schemas.microsoft.com/office/drawing/2014/main" id="{527FFF84-F005-CBB1-14E3-76DE69400A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078505" y="1625148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0.38</a:t>
                      </a:r>
                    </a:p>
                  </p:txBody>
                </p:sp>
                <p:sp>
                  <p:nvSpPr>
                    <p:cNvPr id="82" name="TextBox 81">
                      <a:extLst>
                        <a:ext uri="{FF2B5EF4-FFF2-40B4-BE49-F238E27FC236}">
                          <a16:creationId xmlns:a16="http://schemas.microsoft.com/office/drawing/2014/main" id="{890128B7-B112-A36A-BD14-1F9D49D526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69043" y="3140405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0.55</a:t>
                      </a:r>
                    </a:p>
                  </p:txBody>
                </p:sp>
                <p:sp>
                  <p:nvSpPr>
                    <p:cNvPr id="83" name="TextBox 82">
                      <a:extLst>
                        <a:ext uri="{FF2B5EF4-FFF2-40B4-BE49-F238E27FC236}">
                          <a16:creationId xmlns:a16="http://schemas.microsoft.com/office/drawing/2014/main" id="{48951E93-0B1A-62FC-0D26-1FE21255319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03795" y="5291135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0.22</a:t>
                      </a:r>
                    </a:p>
                  </p:txBody>
                </p:sp>
                <p:sp>
                  <p:nvSpPr>
                    <p:cNvPr id="84" name="TextBox 83">
                      <a:extLst>
                        <a:ext uri="{FF2B5EF4-FFF2-40B4-BE49-F238E27FC236}">
                          <a16:creationId xmlns:a16="http://schemas.microsoft.com/office/drawing/2014/main" id="{32AA7F13-9F83-F289-E94B-F75497B5FD9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186763" y="1392229"/>
                      <a:ext cx="72423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-0.34***</a:t>
                      </a:r>
                    </a:p>
                  </p:txBody>
                </p:sp>
                <p:sp>
                  <p:nvSpPr>
                    <p:cNvPr id="85" name="TextBox 84">
                      <a:extLst>
                        <a:ext uri="{FF2B5EF4-FFF2-40B4-BE49-F238E27FC236}">
                          <a16:creationId xmlns:a16="http://schemas.microsoft.com/office/drawing/2014/main" id="{1DD2A128-875E-F27B-0ED9-B4F1CE85B64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67629" y="1919807"/>
                      <a:ext cx="75012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-1.01***</a:t>
                      </a:r>
                    </a:p>
                  </p:txBody>
                </p:sp>
                <p:sp>
                  <p:nvSpPr>
                    <p:cNvPr id="86" name="TextBox 85">
                      <a:extLst>
                        <a:ext uri="{FF2B5EF4-FFF2-40B4-BE49-F238E27FC236}">
                          <a16:creationId xmlns:a16="http://schemas.microsoft.com/office/drawing/2014/main" id="{09CB82E4-A2CB-6521-B695-336A27D251E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083427" y="1935070"/>
                      <a:ext cx="81785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0.54***</a:t>
                      </a:r>
                    </a:p>
                  </p:txBody>
                </p:sp>
                <p:sp>
                  <p:nvSpPr>
                    <p:cNvPr id="87" name="TextBox 86">
                      <a:extLst>
                        <a:ext uri="{FF2B5EF4-FFF2-40B4-BE49-F238E27FC236}">
                          <a16:creationId xmlns:a16="http://schemas.microsoft.com/office/drawing/2014/main" id="{91720FFF-3211-5BAD-47BD-EAC0BBF96A3D}"/>
                        </a:ext>
                      </a:extLst>
                    </p:cNvPr>
                    <p:cNvSpPr txBox="1"/>
                    <p:nvPr/>
                  </p:nvSpPr>
                  <p:spPr>
                    <a:xfrm rot="2397490">
                      <a:off x="10354120" y="1446431"/>
                      <a:ext cx="89663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0.24***</a:t>
                      </a:r>
                    </a:p>
                  </p:txBody>
                </p:sp>
                <p:sp>
                  <p:nvSpPr>
                    <p:cNvPr id="88" name="TextBox 87">
                      <a:extLst>
                        <a:ext uri="{FF2B5EF4-FFF2-40B4-BE49-F238E27FC236}">
                          <a16:creationId xmlns:a16="http://schemas.microsoft.com/office/drawing/2014/main" id="{CB0CB22E-C832-1B94-EE15-26AB429645F0}"/>
                        </a:ext>
                      </a:extLst>
                    </p:cNvPr>
                    <p:cNvSpPr txBox="1"/>
                    <p:nvPr/>
                  </p:nvSpPr>
                  <p:spPr>
                    <a:xfrm rot="19185719">
                      <a:off x="7681479" y="2646198"/>
                      <a:ext cx="71443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-0.28***</a:t>
                      </a:r>
                    </a:p>
                  </p:txBody>
                </p:sp>
                <p:sp>
                  <p:nvSpPr>
                    <p:cNvPr id="89" name="TextBox 88">
                      <a:extLst>
                        <a:ext uri="{FF2B5EF4-FFF2-40B4-BE49-F238E27FC236}">
                          <a16:creationId xmlns:a16="http://schemas.microsoft.com/office/drawing/2014/main" id="{BAEC5D4B-3D4B-75EA-D352-A99199C6A133}"/>
                        </a:ext>
                      </a:extLst>
                    </p:cNvPr>
                    <p:cNvSpPr txBox="1"/>
                    <p:nvPr/>
                  </p:nvSpPr>
                  <p:spPr>
                    <a:xfrm rot="2905314">
                      <a:off x="6941212" y="2768610"/>
                      <a:ext cx="79834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0.52***</a:t>
                      </a:r>
                    </a:p>
                  </p:txBody>
                </p:sp>
                <p:sp>
                  <p:nvSpPr>
                    <p:cNvPr id="90" name="TextBox 89">
                      <a:extLst>
                        <a:ext uri="{FF2B5EF4-FFF2-40B4-BE49-F238E27FC236}">
                          <a16:creationId xmlns:a16="http://schemas.microsoft.com/office/drawing/2014/main" id="{1E8869E5-AF3B-200D-0BE5-95852865477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416542" y="3498452"/>
                      <a:ext cx="77473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0.19***</a:t>
                      </a:r>
                    </a:p>
                  </p:txBody>
                </p:sp>
                <p:sp>
                  <p:nvSpPr>
                    <p:cNvPr id="91" name="TextBox 90">
                      <a:extLst>
                        <a:ext uri="{FF2B5EF4-FFF2-40B4-BE49-F238E27FC236}">
                          <a16:creationId xmlns:a16="http://schemas.microsoft.com/office/drawing/2014/main" id="{2CA180E2-EEFB-8BF6-6FE3-9F1604186FE9}"/>
                        </a:ext>
                      </a:extLst>
                    </p:cNvPr>
                    <p:cNvSpPr txBox="1"/>
                    <p:nvPr/>
                  </p:nvSpPr>
                  <p:spPr>
                    <a:xfrm rot="2450802">
                      <a:off x="8308588" y="4265174"/>
                      <a:ext cx="74912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0.44***</a:t>
                      </a:r>
                    </a:p>
                  </p:txBody>
                </p:sp>
                <p:sp>
                  <p:nvSpPr>
                    <p:cNvPr id="92" name="TextBox 91">
                      <a:extLst>
                        <a:ext uri="{FF2B5EF4-FFF2-40B4-BE49-F238E27FC236}">
                          <a16:creationId xmlns:a16="http://schemas.microsoft.com/office/drawing/2014/main" id="{9375A98B-22C0-4595-7D60-E1AADA2F1570}"/>
                        </a:ext>
                      </a:extLst>
                    </p:cNvPr>
                    <p:cNvSpPr txBox="1"/>
                    <p:nvPr/>
                  </p:nvSpPr>
                  <p:spPr>
                    <a:xfrm rot="19814511">
                      <a:off x="9724304" y="4146978"/>
                      <a:ext cx="76686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-0.31***</a:t>
                      </a:r>
                    </a:p>
                  </p:txBody>
                </p:sp>
                <p:sp>
                  <p:nvSpPr>
                    <p:cNvPr id="93" name="TextBox 92">
                      <a:extLst>
                        <a:ext uri="{FF2B5EF4-FFF2-40B4-BE49-F238E27FC236}">
                          <a16:creationId xmlns:a16="http://schemas.microsoft.com/office/drawing/2014/main" id="{EBDAF471-6F55-D84B-A8D4-CF98C014E0A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631649" y="2894313"/>
                      <a:ext cx="75513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-0.26***</a:t>
                      </a:r>
                    </a:p>
                  </p:txBody>
                </p:sp>
                <p:sp>
                  <p:nvSpPr>
                    <p:cNvPr id="94" name="TextBox 93">
                      <a:extLst>
                        <a:ext uri="{FF2B5EF4-FFF2-40B4-BE49-F238E27FC236}">
                          <a16:creationId xmlns:a16="http://schemas.microsoft.com/office/drawing/2014/main" id="{FAC6E085-9B1B-3271-1EA3-4DB076BF881C}"/>
                        </a:ext>
                      </a:extLst>
                    </p:cNvPr>
                    <p:cNvSpPr txBox="1"/>
                    <p:nvPr/>
                  </p:nvSpPr>
                  <p:spPr>
                    <a:xfrm rot="3017882">
                      <a:off x="10022555" y="2760062"/>
                      <a:ext cx="74383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-0.09*</a:t>
                      </a:r>
                    </a:p>
                  </p:txBody>
                </p:sp>
                <p:sp>
                  <p:nvSpPr>
                    <p:cNvPr id="95" name="TextBox 94">
                      <a:extLst>
                        <a:ext uri="{FF2B5EF4-FFF2-40B4-BE49-F238E27FC236}">
                          <a16:creationId xmlns:a16="http://schemas.microsoft.com/office/drawing/2014/main" id="{C7BE158C-BCB1-92D7-9072-894CF5643B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34614" y="4985003"/>
                      <a:ext cx="131478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GOF = 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0.51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13" name="TextBox 112">
                    <a:extLst>
                      <a:ext uri="{FF2B5EF4-FFF2-40B4-BE49-F238E27FC236}">
                        <a16:creationId xmlns:a16="http://schemas.microsoft.com/office/drawing/2014/main" id="{738B7517-20F1-4288-054F-E002D3ED8933}"/>
                      </a:ext>
                    </a:extLst>
                  </p:cNvPr>
                  <p:cNvSpPr txBox="1"/>
                  <p:nvPr/>
                </p:nvSpPr>
                <p:spPr>
                  <a:xfrm>
                    <a:off x="40636" y="-101730"/>
                    <a:ext cx="1289777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</a:t>
                    </a:r>
                    <a:r>
                      <a: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 Topsoil</a:t>
                    </a:r>
                    <a:endParaRPr lang="en-US" sz="16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68" name="Arc 167">
                  <a:extLst>
                    <a:ext uri="{FF2B5EF4-FFF2-40B4-BE49-F238E27FC236}">
                      <a16:creationId xmlns:a16="http://schemas.microsoft.com/office/drawing/2014/main" id="{F172C26F-BB3E-BF75-2C0B-2A2D745FED1B}"/>
                    </a:ext>
                  </a:extLst>
                </p:cNvPr>
                <p:cNvSpPr/>
                <p:nvPr/>
              </p:nvSpPr>
              <p:spPr>
                <a:xfrm>
                  <a:off x="549206" y="2028582"/>
                  <a:ext cx="6236174" cy="3013665"/>
                </a:xfrm>
                <a:prstGeom prst="arc">
                  <a:avLst>
                    <a:gd name="adj1" fmla="val 20147048"/>
                    <a:gd name="adj2" fmla="val 4324620"/>
                  </a:avLst>
                </a:prstGeom>
                <a:ln w="25400"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69" name="Arc 168">
                  <a:extLst>
                    <a:ext uri="{FF2B5EF4-FFF2-40B4-BE49-F238E27FC236}">
                      <a16:creationId xmlns:a16="http://schemas.microsoft.com/office/drawing/2014/main" id="{C88EFF09-45D9-67EB-4115-AC019D035C32}"/>
                    </a:ext>
                  </a:extLst>
                </p:cNvPr>
                <p:cNvSpPr/>
                <p:nvPr/>
              </p:nvSpPr>
              <p:spPr>
                <a:xfrm flipH="1">
                  <a:off x="310372" y="1918506"/>
                  <a:ext cx="6086590" cy="3150979"/>
                </a:xfrm>
                <a:prstGeom prst="arc">
                  <a:avLst>
                    <a:gd name="adj1" fmla="val 20178728"/>
                    <a:gd name="adj2" fmla="val 4015228"/>
                  </a:avLst>
                </a:prstGeom>
                <a:ln w="12700"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71" name="TextBox 170">
                  <a:extLst>
                    <a:ext uri="{FF2B5EF4-FFF2-40B4-BE49-F238E27FC236}">
                      <a16:creationId xmlns:a16="http://schemas.microsoft.com/office/drawing/2014/main" id="{D4DDC7C1-41AF-5456-F2C9-21B69E5FA3E6}"/>
                    </a:ext>
                  </a:extLst>
                </p:cNvPr>
                <p:cNvSpPr txBox="1"/>
                <p:nvPr/>
              </p:nvSpPr>
              <p:spPr>
                <a:xfrm rot="982405">
                  <a:off x="1233900" y="4509765"/>
                  <a:ext cx="79834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-0.02***</a:t>
                  </a:r>
                </a:p>
              </p:txBody>
            </p:sp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997AA47D-978D-8EE2-963E-8DA52D947607}"/>
                    </a:ext>
                  </a:extLst>
                </p:cNvPr>
                <p:cNvSpPr txBox="1"/>
                <p:nvPr/>
              </p:nvSpPr>
              <p:spPr>
                <a:xfrm rot="20593762">
                  <a:off x="4873985" y="4548289"/>
                  <a:ext cx="76686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-0.28***</a:t>
                  </a:r>
                </a:p>
              </p:txBody>
            </p:sp>
          </p:grpSp>
        </p:grp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680A1B13-C580-2FB0-94E9-6545B7B03F8D}"/>
                </a:ext>
              </a:extLst>
            </p:cNvPr>
            <p:cNvSpPr/>
            <p:nvPr/>
          </p:nvSpPr>
          <p:spPr>
            <a:xfrm>
              <a:off x="5416130" y="9247360"/>
              <a:ext cx="881875" cy="315167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1401" dirty="0">
                  <a:latin typeface="Arial" panose="020B0604020202020204" pitchFamily="34" charset="0"/>
                  <a:cs typeface="Arial" panose="020B0604020202020204" pitchFamily="34" charset="0"/>
                </a:rPr>
                <a:t>Moisture</a:t>
              </a:r>
            </a:p>
            <a:p>
              <a:pPr algn="ctr"/>
              <a:endParaRPr lang="en-US" sz="135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6" name="Straight Arrow Connector 185">
              <a:extLst>
                <a:ext uri="{FF2B5EF4-FFF2-40B4-BE49-F238E27FC236}">
                  <a16:creationId xmlns:a16="http://schemas.microsoft.com/office/drawing/2014/main" id="{D2FAFEAB-F009-3EF5-6EAC-1E17A0CA15E0}"/>
                </a:ext>
              </a:extLst>
            </p:cNvPr>
            <p:cNvCxnSpPr>
              <a:cxnSpLocks/>
            </p:cNvCxnSpPr>
            <p:nvPr/>
          </p:nvCxnSpPr>
          <p:spPr>
            <a:xfrm>
              <a:off x="3103244" y="8053740"/>
              <a:ext cx="0" cy="2421856"/>
            </a:xfrm>
            <a:prstGeom prst="straightConnector1">
              <a:avLst/>
            </a:prstGeom>
            <a:ln w="25400">
              <a:solidFill>
                <a:schemeClr val="accent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9F8D4CAC-6B63-6E10-9777-9A092F720ADB}"/>
                </a:ext>
              </a:extLst>
            </p:cNvPr>
            <p:cNvSpPr txBox="1"/>
            <p:nvPr/>
          </p:nvSpPr>
          <p:spPr>
            <a:xfrm>
              <a:off x="3103236" y="8290055"/>
              <a:ext cx="7747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-0.19*</a:t>
              </a:r>
            </a:p>
          </p:txBody>
        </p: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09652CD0-72CF-FAD4-2F6C-C6244A67932D}"/>
                </a:ext>
              </a:extLst>
            </p:cNvPr>
            <p:cNvGrpSpPr/>
            <p:nvPr/>
          </p:nvGrpSpPr>
          <p:grpSpPr>
            <a:xfrm>
              <a:off x="0" y="5677101"/>
              <a:ext cx="6475008" cy="5390704"/>
              <a:chOff x="310372" y="117200"/>
              <a:chExt cx="6475008" cy="5390704"/>
            </a:xfrm>
          </p:grpSpPr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201B0E6B-F828-0C40-F839-A2023A2F7E36}"/>
                  </a:ext>
                </a:extLst>
              </p:cNvPr>
              <p:cNvSpPr/>
              <p:nvPr/>
            </p:nvSpPr>
            <p:spPr>
              <a:xfrm>
                <a:off x="5145539" y="2162480"/>
                <a:ext cx="730800" cy="324000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50000"/>
                    <a:alpha val="3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Clay 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484F6350-CFBC-4200-A9AA-5B8828A6A194}"/>
                  </a:ext>
                </a:extLst>
              </p:cNvPr>
              <p:cNvSpPr/>
              <p:nvPr/>
            </p:nvSpPr>
            <p:spPr>
              <a:xfrm>
                <a:off x="5871914" y="2164793"/>
                <a:ext cx="730800" cy="324000"/>
              </a:xfrm>
              <a:prstGeom prst="rect">
                <a:avLst/>
              </a:prstGeom>
              <a:noFill/>
              <a:ln>
                <a:solidFill>
                  <a:schemeClr val="accent1">
                    <a:lumMod val="50000"/>
                    <a:alpha val="30000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1" dirty="0">
                    <a:latin typeface="Arial" panose="020B0604020202020204" pitchFamily="34" charset="0"/>
                    <a:cs typeface="Arial" panose="020B0604020202020204" pitchFamily="34" charset="0"/>
                  </a:rPr>
                  <a:t>Sand</a:t>
                </a:r>
              </a:p>
              <a:p>
                <a:pPr algn="ctr"/>
                <a:endParaRPr lang="en-US" sz="135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91" name="Group 190">
                <a:extLst>
                  <a:ext uri="{FF2B5EF4-FFF2-40B4-BE49-F238E27FC236}">
                    <a16:creationId xmlns:a16="http://schemas.microsoft.com/office/drawing/2014/main" id="{3B615112-5A33-9C8C-AAB4-4B7857877280}"/>
                  </a:ext>
                </a:extLst>
              </p:cNvPr>
              <p:cNvGrpSpPr/>
              <p:nvPr/>
            </p:nvGrpSpPr>
            <p:grpSpPr>
              <a:xfrm>
                <a:off x="310372" y="117200"/>
                <a:ext cx="6475008" cy="5390704"/>
                <a:chOff x="310372" y="117200"/>
                <a:chExt cx="6475008" cy="5390704"/>
              </a:xfrm>
            </p:grpSpPr>
            <p:grpSp>
              <p:nvGrpSpPr>
                <p:cNvPr id="192" name="Group 191">
                  <a:extLst>
                    <a:ext uri="{FF2B5EF4-FFF2-40B4-BE49-F238E27FC236}">
                      <a16:creationId xmlns:a16="http://schemas.microsoft.com/office/drawing/2014/main" id="{EAE58966-00A7-8548-3563-BC02715A11B3}"/>
                    </a:ext>
                  </a:extLst>
                </p:cNvPr>
                <p:cNvGrpSpPr/>
                <p:nvPr/>
              </p:nvGrpSpPr>
              <p:grpSpPr>
                <a:xfrm>
                  <a:off x="469199" y="117200"/>
                  <a:ext cx="6262185" cy="5390704"/>
                  <a:chOff x="40636" y="9483"/>
                  <a:chExt cx="6262185" cy="5390704"/>
                </a:xfrm>
              </p:grpSpPr>
              <p:grpSp>
                <p:nvGrpSpPr>
                  <p:cNvPr id="197" name="Group 196">
                    <a:extLst>
                      <a:ext uri="{FF2B5EF4-FFF2-40B4-BE49-F238E27FC236}">
                        <a16:creationId xmlns:a16="http://schemas.microsoft.com/office/drawing/2014/main" id="{4FDB39FE-6E36-0ECC-57B8-77AE3D441F29}"/>
                      </a:ext>
                    </a:extLst>
                  </p:cNvPr>
                  <p:cNvGrpSpPr/>
                  <p:nvPr/>
                </p:nvGrpSpPr>
                <p:grpSpPr>
                  <a:xfrm>
                    <a:off x="47209" y="421671"/>
                    <a:ext cx="6255612" cy="4978516"/>
                    <a:chOff x="6265288" y="589620"/>
                    <a:chExt cx="6255612" cy="4978514"/>
                  </a:xfrm>
                </p:grpSpPr>
                <p:sp>
                  <p:nvSpPr>
                    <p:cNvPr id="199" name="TextBox 198">
                      <a:extLst>
                        <a:ext uri="{FF2B5EF4-FFF2-40B4-BE49-F238E27FC236}">
                          <a16:creationId xmlns:a16="http://schemas.microsoft.com/office/drawing/2014/main" id="{AB357A56-EE07-E99F-6823-FE579B6D5CD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693429" y="3143243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0.60</a:t>
                      </a:r>
                    </a:p>
                  </p:txBody>
                </p:sp>
                <p:grpSp>
                  <p:nvGrpSpPr>
                    <p:cNvPr id="200" name="Group 199">
                      <a:extLst>
                        <a:ext uri="{FF2B5EF4-FFF2-40B4-BE49-F238E27FC236}">
                          <a16:creationId xmlns:a16="http://schemas.microsoft.com/office/drawing/2014/main" id="{C9F33608-42A4-5719-9694-0BCA16E4FA5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06319" y="589620"/>
                      <a:ext cx="2005527" cy="653724"/>
                      <a:chOff x="6875812" y="1043464"/>
                      <a:chExt cx="2005527" cy="653724"/>
                    </a:xfrm>
                    <a:solidFill>
                      <a:schemeClr val="accent2">
                        <a:lumMod val="60000"/>
                        <a:lumOff val="40000"/>
                      </a:schemeClr>
                    </a:solidFill>
                  </p:grpSpPr>
                  <p:sp>
                    <p:nvSpPr>
                      <p:cNvPr id="254" name="Rectangle 253">
                        <a:extLst>
                          <a:ext uri="{FF2B5EF4-FFF2-40B4-BE49-F238E27FC236}">
                            <a16:creationId xmlns:a16="http://schemas.microsoft.com/office/drawing/2014/main" id="{521B8897-8176-92B4-838E-5C9E612BDD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75812" y="1043464"/>
                        <a:ext cx="2005527" cy="324000"/>
                      </a:xfrm>
                      <a:prstGeom prst="rect">
                        <a:avLst/>
                      </a:prstGeom>
                      <a:solidFill>
                        <a:schemeClr val="accent2">
                          <a:alpha val="30000"/>
                        </a:schemeClr>
                      </a:solidFill>
                      <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Topography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55" name="Rectangle 254">
                        <a:extLst>
                          <a:ext uri="{FF2B5EF4-FFF2-40B4-BE49-F238E27FC236}">
                            <a16:creationId xmlns:a16="http://schemas.microsoft.com/office/drawing/2014/main" id="{D46B8B1F-6570-7E20-C858-18AF3918AF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75812" y="1373188"/>
                        <a:ext cx="10080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Elevation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56" name="Rectangle 255">
                        <a:extLst>
                          <a:ext uri="{FF2B5EF4-FFF2-40B4-BE49-F238E27FC236}">
                            <a16:creationId xmlns:a16="http://schemas.microsoft.com/office/drawing/2014/main" id="{B77F9D6E-1F02-551A-F3F9-732A331E6F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73339" y="1373188"/>
                        <a:ext cx="10080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Slope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201" name="Rectangle 200">
                      <a:extLst>
                        <a:ext uri="{FF2B5EF4-FFF2-40B4-BE49-F238E27FC236}">
                          <a16:creationId xmlns:a16="http://schemas.microsoft.com/office/drawing/2014/main" id="{9A49BEE4-E132-FD3C-620A-E4E770D619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36004" y="1860187"/>
                      <a:ext cx="1459039" cy="361577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  <a:alpha val="50000"/>
                      </a:schemeClr>
                    </a:solidFill>
                    <a:ln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Soil texture</a:t>
                      </a:r>
                    </a:p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202" name="Group 201">
                      <a:extLst>
                        <a:ext uri="{FF2B5EF4-FFF2-40B4-BE49-F238E27FC236}">
                          <a16:creationId xmlns:a16="http://schemas.microsoft.com/office/drawing/2014/main" id="{7A0BB8BD-11F0-0131-1B1B-C40C657436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267468" y="1880400"/>
                      <a:ext cx="1224000" cy="653724"/>
                      <a:chOff x="6936819" y="1587909"/>
                      <a:chExt cx="1224000" cy="653724"/>
                    </a:xfrm>
                  </p:grpSpPr>
                  <p:sp>
                    <p:nvSpPr>
                      <p:cNvPr id="251" name="Rectangle 250">
                        <a:extLst>
                          <a:ext uri="{FF2B5EF4-FFF2-40B4-BE49-F238E27FC236}">
                            <a16:creationId xmlns:a16="http://schemas.microsoft.com/office/drawing/2014/main" id="{A298630C-986B-755C-DF9D-6CC5931388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36819" y="1587909"/>
                        <a:ext cx="1224000" cy="324000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  <a:alpha val="30000"/>
                        </a:schemeClr>
                      </a:solidFill>
                      <a:ln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Climate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52" name="Rectangle 251">
                        <a:extLst>
                          <a:ext uri="{FF2B5EF4-FFF2-40B4-BE49-F238E27FC236}">
                            <a16:creationId xmlns:a16="http://schemas.microsoft.com/office/drawing/2014/main" id="{263B25AA-5E77-1D24-86B0-6BBA9A726B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36819" y="1917633"/>
                        <a:ext cx="6120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40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MAT</a:t>
                        </a:r>
                      </a:p>
                      <a:p>
                        <a:pPr algn="ctr"/>
                        <a:endParaRPr lang="en-US" sz="140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53" name="Rectangle 252">
                        <a:extLst>
                          <a:ext uri="{FF2B5EF4-FFF2-40B4-BE49-F238E27FC236}">
                            <a16:creationId xmlns:a16="http://schemas.microsoft.com/office/drawing/2014/main" id="{0A2F68EF-A203-265A-3E92-535593A9C4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45954" y="1917633"/>
                        <a:ext cx="6120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MAP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203" name="Group 202">
                      <a:extLst>
                        <a:ext uri="{FF2B5EF4-FFF2-40B4-BE49-F238E27FC236}">
                          <a16:creationId xmlns:a16="http://schemas.microsoft.com/office/drawing/2014/main" id="{63966EAC-F406-2112-F818-6450FE16B4F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473264" y="1898424"/>
                      <a:ext cx="1459599" cy="642874"/>
                      <a:chOff x="6857989" y="1601172"/>
                      <a:chExt cx="1459599" cy="642874"/>
                    </a:xfrm>
                  </p:grpSpPr>
                  <p:sp>
                    <p:nvSpPr>
                      <p:cNvPr id="248" name="Rectangle 247">
                        <a:extLst>
                          <a:ext uri="{FF2B5EF4-FFF2-40B4-BE49-F238E27FC236}">
                            <a16:creationId xmlns:a16="http://schemas.microsoft.com/office/drawing/2014/main" id="{7768670C-7876-30E9-2067-6386316CAC4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7989" y="1601172"/>
                        <a:ext cx="1459599" cy="314101"/>
                      </a:xfrm>
                      <a:prstGeom prst="rect">
                        <a:avLst/>
                      </a:prstGeom>
                      <a:solidFill>
                        <a:srgbClr val="7030A0">
                          <a:alpha val="20000"/>
                        </a:srgbClr>
                      </a:solidFill>
                      <a:ln>
                        <a:solidFill>
                          <a:srgbClr val="7030A0">
                            <a:alpha val="30000"/>
                          </a:srgb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Seasonality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49" name="Rectangle 248">
                        <a:extLst>
                          <a:ext uri="{FF2B5EF4-FFF2-40B4-BE49-F238E27FC236}">
                            <a16:creationId xmlns:a16="http://schemas.microsoft.com/office/drawing/2014/main" id="{9282DCDC-98C9-1F50-4788-17628137BD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57989" y="1920046"/>
                        <a:ext cx="7308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7030A0">
                            <a:alpha val="30000"/>
                          </a:srgb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TS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50" name="Rectangle 249">
                        <a:extLst>
                          <a:ext uri="{FF2B5EF4-FFF2-40B4-BE49-F238E27FC236}">
                            <a16:creationId xmlns:a16="http://schemas.microsoft.com/office/drawing/2014/main" id="{573D911B-7C32-17D4-6B44-44F9877C0A7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84364" y="1920046"/>
                        <a:ext cx="73080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7030A0">
                            <a:alpha val="30000"/>
                          </a:srgb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PS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204" name="Group 203">
                      <a:extLst>
                        <a:ext uri="{FF2B5EF4-FFF2-40B4-BE49-F238E27FC236}">
                          <a16:creationId xmlns:a16="http://schemas.microsoft.com/office/drawing/2014/main" id="{5B90696F-A9F4-B113-B7E4-5657CD76E52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605648" y="3413882"/>
                      <a:ext cx="1786899" cy="649747"/>
                      <a:chOff x="6814560" y="1661585"/>
                      <a:chExt cx="1786899" cy="649747"/>
                    </a:xfrm>
                  </p:grpSpPr>
                  <p:sp>
                    <p:nvSpPr>
                      <p:cNvPr id="245" name="Rectangle 244">
                        <a:extLst>
                          <a:ext uri="{FF2B5EF4-FFF2-40B4-BE49-F238E27FC236}">
                            <a16:creationId xmlns:a16="http://schemas.microsoft.com/office/drawing/2014/main" id="{F4210F8D-CEE8-1E52-2024-7D3F606D0E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14560" y="1661585"/>
                        <a:ext cx="1786899" cy="32400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60000"/>
                          <a:lumOff val="40000"/>
                          <a:alpha val="50000"/>
                        </a:schemeClr>
                      </a:solidFill>
                      <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Soil properties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46" name="Rectangle 245">
                        <a:extLst>
                          <a:ext uri="{FF2B5EF4-FFF2-40B4-BE49-F238E27FC236}">
                            <a16:creationId xmlns:a16="http://schemas.microsoft.com/office/drawing/2014/main" id="{691C33B9-B1A1-7B6F-BBD6-31DA673DBE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814560" y="1987332"/>
                        <a:ext cx="480781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pH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47" name="Rectangle 246">
                        <a:extLst>
                          <a:ext uri="{FF2B5EF4-FFF2-40B4-BE49-F238E27FC236}">
                            <a16:creationId xmlns:a16="http://schemas.microsoft.com/office/drawing/2014/main" id="{2A6BFEE2-EB66-6E72-2EE5-C5D82CE4AB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300296" y="1996165"/>
                        <a:ext cx="430688" cy="31516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BD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205" name="Group 204">
                      <a:extLst>
                        <a:ext uri="{FF2B5EF4-FFF2-40B4-BE49-F238E27FC236}">
                          <a16:creationId xmlns:a16="http://schemas.microsoft.com/office/drawing/2014/main" id="{4502C1B5-4A91-9859-0949-5A20DC8BCDE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265288" y="3372665"/>
                      <a:ext cx="2456346" cy="682724"/>
                      <a:chOff x="6514081" y="3402832"/>
                      <a:chExt cx="2456346" cy="682724"/>
                    </a:xfrm>
                  </p:grpSpPr>
                  <p:sp>
                    <p:nvSpPr>
                      <p:cNvPr id="241" name="Rectangle 240">
                        <a:extLst>
                          <a:ext uri="{FF2B5EF4-FFF2-40B4-BE49-F238E27FC236}">
                            <a16:creationId xmlns:a16="http://schemas.microsoft.com/office/drawing/2014/main" id="{95B4B8E7-D87B-3399-F492-8BAF68EDC8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14081" y="3402832"/>
                        <a:ext cx="2454377" cy="354541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  <a:alpha val="50000"/>
                        </a:schemeClr>
                      </a:solidFill>
                      <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Vegetation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42" name="Rectangle 241">
                        <a:extLst>
                          <a:ext uri="{FF2B5EF4-FFF2-40B4-BE49-F238E27FC236}">
                            <a16:creationId xmlns:a16="http://schemas.microsoft.com/office/drawing/2014/main" id="{81B2560F-F024-5BF8-A058-BA22BBA32C2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514746" y="3761556"/>
                        <a:ext cx="561270" cy="324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GPP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43" name="Rectangle 242">
                        <a:extLst>
                          <a:ext uri="{FF2B5EF4-FFF2-40B4-BE49-F238E27FC236}">
                            <a16:creationId xmlns:a16="http://schemas.microsoft.com/office/drawing/2014/main" id="{1723C1EE-305C-F082-8FB1-7342D72761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93883" y="3764617"/>
                        <a:ext cx="576544" cy="317878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BGB</a:t>
                        </a: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44" name="Rectangle 243">
                        <a:extLst>
                          <a:ext uri="{FF2B5EF4-FFF2-40B4-BE49-F238E27FC236}">
                            <a16:creationId xmlns:a16="http://schemas.microsoft.com/office/drawing/2014/main" id="{E4F00FDB-7C5B-116E-958D-F6A0E81423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72639" y="3761371"/>
                        <a:ext cx="1314784" cy="321481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ln>
                    </p:spPr>
                    <p:style>
                      <a:lnRef idx="2">
                        <a:schemeClr val="accent6"/>
                      </a:lnRef>
                      <a:fillRef idx="1">
                        <a:schemeClr val="lt1"/>
                      </a:fillRef>
                      <a:effectRef idx="0">
                        <a:schemeClr val="accent6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r>
                          <a:rPr lang="en-US" sz="1401" dirty="0" err="1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Shannon_EVI</a:t>
                        </a:r>
                        <a:endParaRPr lang="en-US" sz="140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  <a:p>
                        <a:pPr algn="ctr"/>
                        <a:endParaRPr lang="en-US" sz="1351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206" name="Rectangle 205">
                      <a:extLst>
                        <a:ext uri="{FF2B5EF4-FFF2-40B4-BE49-F238E27FC236}">
                          <a16:creationId xmlns:a16="http://schemas.microsoft.com/office/drawing/2014/main" id="{619D63E6-3E9D-D142-CFE6-80644381CC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95062" y="4975925"/>
                      <a:ext cx="1440000" cy="313833"/>
                    </a:xfrm>
                    <a:prstGeom prst="rect">
                      <a:avLst/>
                    </a:prstGeom>
                    <a:solidFill>
                      <a:schemeClr val="bg1">
                        <a:lumMod val="85000"/>
                        <a:alpha val="50000"/>
                      </a:schemeClr>
                    </a:solidFill>
                    <a:ln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CUE</a:t>
                      </a:r>
                    </a:p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207" name="Straight Arrow Connector 206">
                      <a:extLst>
                        <a:ext uri="{FF2B5EF4-FFF2-40B4-BE49-F238E27FC236}">
                          <a16:creationId xmlns:a16="http://schemas.microsoft.com/office/drawing/2014/main" id="{25AA97EB-E359-F236-0A66-91051620153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468224" y="1243344"/>
                      <a:ext cx="743370" cy="631332"/>
                    </a:xfrm>
                    <a:prstGeom prst="straightConnector1">
                      <a:avLst/>
                    </a:prstGeom>
                    <a:ln w="25400"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08" name="TextBox 207">
                      <a:extLst>
                        <a:ext uri="{FF2B5EF4-FFF2-40B4-BE49-F238E27FC236}">
                          <a16:creationId xmlns:a16="http://schemas.microsoft.com/office/drawing/2014/main" id="{2D447EAD-883B-24BF-81EB-6D21E95F542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453188" y="1640389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0.02</a:t>
                      </a:r>
                    </a:p>
                  </p:txBody>
                </p:sp>
                <p:sp>
                  <p:nvSpPr>
                    <p:cNvPr id="209" name="TextBox 208">
                      <a:extLst>
                        <a:ext uri="{FF2B5EF4-FFF2-40B4-BE49-F238E27FC236}">
                          <a16:creationId xmlns:a16="http://schemas.microsoft.com/office/drawing/2014/main" id="{401DB093-8A9B-5707-7BEB-B27DD0006F8C}"/>
                        </a:ext>
                      </a:extLst>
                    </p:cNvPr>
                    <p:cNvSpPr txBox="1"/>
                    <p:nvPr/>
                  </p:nvSpPr>
                  <p:spPr>
                    <a:xfrm rot="19376878">
                      <a:off x="7350995" y="1290885"/>
                      <a:ext cx="80461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-0.13*</a:t>
                      </a:r>
                    </a:p>
                  </p:txBody>
                </p:sp>
                <p:cxnSp>
                  <p:nvCxnSpPr>
                    <p:cNvPr id="210" name="Straight Arrow Connector 209">
                      <a:extLst>
                        <a:ext uri="{FF2B5EF4-FFF2-40B4-BE49-F238E27FC236}">
                          <a16:creationId xmlns:a16="http://schemas.microsoft.com/office/drawing/2014/main" id="{E8A1FC97-B6BC-46CA-F414-FBEE63B0314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845127" y="2546941"/>
                      <a:ext cx="673108" cy="825724"/>
                    </a:xfrm>
                    <a:prstGeom prst="straightConnector1">
                      <a:avLst/>
                    </a:prstGeom>
                    <a:ln w="66675">
                      <a:solidFill>
                        <a:srgbClr val="C00000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1" name="Straight Arrow Connector 210">
                      <a:extLst>
                        <a:ext uri="{FF2B5EF4-FFF2-40B4-BE49-F238E27FC236}">
                          <a16:creationId xmlns:a16="http://schemas.microsoft.com/office/drawing/2014/main" id="{F5AC7FD2-E353-6529-16D4-C3E0BE5327B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204807" y="1252401"/>
                      <a:ext cx="0" cy="644635"/>
                    </a:xfrm>
                    <a:prstGeom prst="straightConnector1">
                      <a:avLst/>
                    </a:prstGeom>
                    <a:ln w="34925">
                      <a:solidFill>
                        <a:schemeClr val="accent1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2" name="Straight Arrow Connector 211">
                      <a:extLst>
                        <a:ext uri="{FF2B5EF4-FFF2-40B4-BE49-F238E27FC236}">
                          <a16:creationId xmlns:a16="http://schemas.microsoft.com/office/drawing/2014/main" id="{39F0A6B1-9C90-2370-5F12-0D214618D7F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0211846" y="1250776"/>
                      <a:ext cx="720000" cy="629425"/>
                    </a:xfrm>
                    <a:prstGeom prst="straightConnector1">
                      <a:avLst/>
                    </a:prstGeom>
                    <a:ln w="19050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3" name="Straight Arrow Connector 212">
                      <a:extLst>
                        <a:ext uri="{FF2B5EF4-FFF2-40B4-BE49-F238E27FC236}">
                          <a16:creationId xmlns:a16="http://schemas.microsoft.com/office/drawing/2014/main" id="{39844EB9-BF39-B074-DECA-3D351D063E5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7515724" y="2204400"/>
                      <a:ext cx="935600" cy="7669"/>
                    </a:xfrm>
                    <a:prstGeom prst="straightConnector1">
                      <a:avLst/>
                    </a:prstGeom>
                    <a:ln w="76200"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4" name="Straight Arrow Connector 213">
                      <a:extLst>
                        <a:ext uri="{FF2B5EF4-FFF2-40B4-BE49-F238E27FC236}">
                          <a16:creationId xmlns:a16="http://schemas.microsoft.com/office/drawing/2014/main" id="{82320F19-C153-02DA-40FC-431F5FF77D5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9930439" y="2212069"/>
                      <a:ext cx="1001407" cy="3441"/>
                    </a:xfrm>
                    <a:prstGeom prst="straightConnector1">
                      <a:avLst/>
                    </a:prstGeom>
                    <a:ln w="34925">
                      <a:solidFill>
                        <a:srgbClr val="C00000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5" name="Straight Arrow Connector 214">
                      <a:extLst>
                        <a:ext uri="{FF2B5EF4-FFF2-40B4-BE49-F238E27FC236}">
                          <a16:creationId xmlns:a16="http://schemas.microsoft.com/office/drawing/2014/main" id="{B5FC7466-1B82-66A3-07B7-2CC4B9E217C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9944976" y="2561641"/>
                      <a:ext cx="664027" cy="832357"/>
                    </a:xfrm>
                    <a:prstGeom prst="straightConnector1">
                      <a:avLst/>
                    </a:prstGeom>
                    <a:ln w="44450">
                      <a:solidFill>
                        <a:schemeClr val="accent1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6" name="Straight Arrow Connector 215">
                      <a:extLst>
                        <a:ext uri="{FF2B5EF4-FFF2-40B4-BE49-F238E27FC236}">
                          <a16:creationId xmlns:a16="http://schemas.microsoft.com/office/drawing/2014/main" id="{76F23037-2510-CB69-38A8-9B01C8CE308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657860" y="2561466"/>
                      <a:ext cx="25469" cy="830667"/>
                    </a:xfrm>
                    <a:prstGeom prst="straightConnector1">
                      <a:avLst/>
                    </a:prstGeom>
                    <a:ln w="34925">
                      <a:solidFill>
                        <a:schemeClr val="accent1"/>
                      </a:solidFill>
                      <a:prstDash val="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7" name="Straight Arrow Connector 216">
                      <a:extLst>
                        <a:ext uri="{FF2B5EF4-FFF2-40B4-BE49-F238E27FC236}">
                          <a16:creationId xmlns:a16="http://schemas.microsoft.com/office/drawing/2014/main" id="{B002DB94-9C59-25C0-37AF-3BFDEBE8C0F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556443" y="2554671"/>
                      <a:ext cx="924754" cy="806759"/>
                    </a:xfrm>
                    <a:prstGeom prst="straightConnector1">
                      <a:avLst/>
                    </a:prstGeom>
                    <a:ln w="25400">
                      <a:solidFill>
                        <a:srgbClr val="C00000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8" name="Straight Arrow Connector 217">
                      <a:extLst>
                        <a:ext uri="{FF2B5EF4-FFF2-40B4-BE49-F238E27FC236}">
                          <a16:creationId xmlns:a16="http://schemas.microsoft.com/office/drawing/2014/main" id="{E6607BD7-DAA8-1510-EBCE-684E087E6CC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716938" y="3734450"/>
                      <a:ext cx="1897085" cy="31220"/>
                    </a:xfrm>
                    <a:prstGeom prst="straightConnector1">
                      <a:avLst/>
                    </a:prstGeom>
                    <a:ln w="41275">
                      <a:solidFill>
                        <a:srgbClr val="C00000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9" name="Straight Arrow Connector 218">
                      <a:extLst>
                        <a:ext uri="{FF2B5EF4-FFF2-40B4-BE49-F238E27FC236}">
                          <a16:creationId xmlns:a16="http://schemas.microsoft.com/office/drawing/2014/main" id="{32236906-2731-52AA-31A4-5797537D410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138630" y="4089096"/>
                      <a:ext cx="1022489" cy="895908"/>
                    </a:xfrm>
                    <a:prstGeom prst="straightConnector1">
                      <a:avLst/>
                    </a:prstGeom>
                    <a:ln w="19050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0" name="Straight Arrow Connector 219">
                      <a:extLst>
                        <a:ext uri="{FF2B5EF4-FFF2-40B4-BE49-F238E27FC236}">
                          <a16:creationId xmlns:a16="http://schemas.microsoft.com/office/drawing/2014/main" id="{25BF6FE3-417E-9344-D5F5-71898C29E69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9227941" y="4089096"/>
                      <a:ext cx="1385881" cy="886830"/>
                    </a:xfrm>
                    <a:prstGeom prst="straightConnector1">
                      <a:avLst/>
                    </a:prstGeom>
                    <a:ln w="38100">
                      <a:solidFill>
                        <a:schemeClr val="accent1"/>
                      </a:solidFill>
                      <a:prstDash val="sysDash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21" name="TextBox 220">
                      <a:extLst>
                        <a:ext uri="{FF2B5EF4-FFF2-40B4-BE49-F238E27FC236}">
                          <a16:creationId xmlns:a16="http://schemas.microsoft.com/office/drawing/2014/main" id="{4355F280-8AD0-5228-17FA-83398B20C3F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09206" y="1652264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0.79</a:t>
                      </a:r>
                    </a:p>
                  </p:txBody>
                </p:sp>
                <p:sp>
                  <p:nvSpPr>
                    <p:cNvPr id="222" name="TextBox 221">
                      <a:extLst>
                        <a:ext uri="{FF2B5EF4-FFF2-40B4-BE49-F238E27FC236}">
                          <a16:creationId xmlns:a16="http://schemas.microsoft.com/office/drawing/2014/main" id="{F59F76D5-1E79-7AF3-EC3C-72FC286FAD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078505" y="1625148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0.06</a:t>
                      </a:r>
                    </a:p>
                  </p:txBody>
                </p:sp>
                <p:sp>
                  <p:nvSpPr>
                    <p:cNvPr id="223" name="TextBox 222">
                      <a:extLst>
                        <a:ext uri="{FF2B5EF4-FFF2-40B4-BE49-F238E27FC236}">
                          <a16:creationId xmlns:a16="http://schemas.microsoft.com/office/drawing/2014/main" id="{E9F32BE2-BCCD-8183-D840-5C4CE73E110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342985" y="3115827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0.64</a:t>
                      </a:r>
                    </a:p>
                  </p:txBody>
                </p:sp>
                <p:sp>
                  <p:nvSpPr>
                    <p:cNvPr id="224" name="TextBox 223">
                      <a:extLst>
                        <a:ext uri="{FF2B5EF4-FFF2-40B4-BE49-F238E27FC236}">
                          <a16:creationId xmlns:a16="http://schemas.microsoft.com/office/drawing/2014/main" id="{9123A1A6-5ADB-F2A3-3CC6-1D914F6B310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03795" y="5291135"/>
                      <a:ext cx="82747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n-US" sz="1200" baseline="30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0.39</a:t>
                      </a:r>
                    </a:p>
                  </p:txBody>
                </p:sp>
                <p:sp>
                  <p:nvSpPr>
                    <p:cNvPr id="225" name="TextBox 224">
                      <a:extLst>
                        <a:ext uri="{FF2B5EF4-FFF2-40B4-BE49-F238E27FC236}">
                          <a16:creationId xmlns:a16="http://schemas.microsoft.com/office/drawing/2014/main" id="{B8623C8B-88C8-1D74-C18C-5738D52D943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186763" y="1392229"/>
                      <a:ext cx="72423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-0.29***</a:t>
                      </a:r>
                    </a:p>
                  </p:txBody>
                </p:sp>
                <p:sp>
                  <p:nvSpPr>
                    <p:cNvPr id="226" name="TextBox 225">
                      <a:extLst>
                        <a:ext uri="{FF2B5EF4-FFF2-40B4-BE49-F238E27FC236}">
                          <a16:creationId xmlns:a16="http://schemas.microsoft.com/office/drawing/2014/main" id="{F3CFB55B-45E6-D61D-1B86-482CA8F9F06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67629" y="1919807"/>
                      <a:ext cx="75012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-0.88***</a:t>
                      </a:r>
                    </a:p>
                  </p:txBody>
                </p:sp>
                <p:sp>
                  <p:nvSpPr>
                    <p:cNvPr id="227" name="TextBox 226">
                      <a:extLst>
                        <a:ext uri="{FF2B5EF4-FFF2-40B4-BE49-F238E27FC236}">
                          <a16:creationId xmlns:a16="http://schemas.microsoft.com/office/drawing/2014/main" id="{C2EA917B-3958-36B2-8339-EC8D923B900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083427" y="1935070"/>
                      <a:ext cx="81785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0.21**</a:t>
                      </a:r>
                    </a:p>
                  </p:txBody>
                </p:sp>
                <p:sp>
                  <p:nvSpPr>
                    <p:cNvPr id="228" name="TextBox 227">
                      <a:extLst>
                        <a:ext uri="{FF2B5EF4-FFF2-40B4-BE49-F238E27FC236}">
                          <a16:creationId xmlns:a16="http://schemas.microsoft.com/office/drawing/2014/main" id="{B519DBFE-0FB0-46D2-FD85-3D3FCE4BD857}"/>
                        </a:ext>
                      </a:extLst>
                    </p:cNvPr>
                    <p:cNvSpPr txBox="1"/>
                    <p:nvPr/>
                  </p:nvSpPr>
                  <p:spPr>
                    <a:xfrm rot="2397490">
                      <a:off x="10354120" y="1446431"/>
                      <a:ext cx="89663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-0.07</a:t>
                      </a:r>
                    </a:p>
                  </p:txBody>
                </p:sp>
                <p:sp>
                  <p:nvSpPr>
                    <p:cNvPr id="229" name="TextBox 228">
                      <a:extLst>
                        <a:ext uri="{FF2B5EF4-FFF2-40B4-BE49-F238E27FC236}">
                          <a16:creationId xmlns:a16="http://schemas.microsoft.com/office/drawing/2014/main" id="{0E62B0E7-BC79-E850-2CBE-2742A8A1BB40}"/>
                        </a:ext>
                      </a:extLst>
                    </p:cNvPr>
                    <p:cNvSpPr txBox="1"/>
                    <p:nvPr/>
                  </p:nvSpPr>
                  <p:spPr>
                    <a:xfrm rot="19185719">
                      <a:off x="7681479" y="2646198"/>
                      <a:ext cx="71443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0.16***</a:t>
                      </a:r>
                    </a:p>
                  </p:txBody>
                </p:sp>
                <p:sp>
                  <p:nvSpPr>
                    <p:cNvPr id="230" name="TextBox 229">
                      <a:extLst>
                        <a:ext uri="{FF2B5EF4-FFF2-40B4-BE49-F238E27FC236}">
                          <a16:creationId xmlns:a16="http://schemas.microsoft.com/office/drawing/2014/main" id="{DB620B2C-2334-1254-C5E7-34A5BE270703}"/>
                        </a:ext>
                      </a:extLst>
                    </p:cNvPr>
                    <p:cNvSpPr txBox="1"/>
                    <p:nvPr/>
                  </p:nvSpPr>
                  <p:spPr>
                    <a:xfrm rot="2905314">
                      <a:off x="6941212" y="2768610"/>
                      <a:ext cx="79834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0.93***</a:t>
                      </a:r>
                    </a:p>
                  </p:txBody>
                </p:sp>
                <p:sp>
                  <p:nvSpPr>
                    <p:cNvPr id="231" name="TextBox 230">
                      <a:extLst>
                        <a:ext uri="{FF2B5EF4-FFF2-40B4-BE49-F238E27FC236}">
                          <a16:creationId xmlns:a16="http://schemas.microsoft.com/office/drawing/2014/main" id="{2CE32CBB-8154-96B4-F739-11ACEBF860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353917" y="3497953"/>
                      <a:ext cx="77473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0.41***</a:t>
                      </a:r>
                    </a:p>
                  </p:txBody>
                </p:sp>
                <p:sp>
                  <p:nvSpPr>
                    <p:cNvPr id="232" name="TextBox 231">
                      <a:extLst>
                        <a:ext uri="{FF2B5EF4-FFF2-40B4-BE49-F238E27FC236}">
                          <a16:creationId xmlns:a16="http://schemas.microsoft.com/office/drawing/2014/main" id="{55DEE8F7-CF88-318C-15FF-2050967EC230}"/>
                        </a:ext>
                      </a:extLst>
                    </p:cNvPr>
                    <p:cNvSpPr txBox="1"/>
                    <p:nvPr/>
                  </p:nvSpPr>
                  <p:spPr>
                    <a:xfrm rot="2582204">
                      <a:off x="8481226" y="4365395"/>
                      <a:ext cx="74912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-0.05</a:t>
                      </a:r>
                    </a:p>
                  </p:txBody>
                </p:sp>
                <p:sp>
                  <p:nvSpPr>
                    <p:cNvPr id="233" name="TextBox 232">
                      <a:extLst>
                        <a:ext uri="{FF2B5EF4-FFF2-40B4-BE49-F238E27FC236}">
                          <a16:creationId xmlns:a16="http://schemas.microsoft.com/office/drawing/2014/main" id="{EBDD3042-A29E-D1DE-F9F8-708B4D019FE3}"/>
                        </a:ext>
                      </a:extLst>
                    </p:cNvPr>
                    <p:cNvSpPr txBox="1"/>
                    <p:nvPr/>
                  </p:nvSpPr>
                  <p:spPr>
                    <a:xfrm rot="19814511">
                      <a:off x="9724304" y="4146978"/>
                      <a:ext cx="76686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-0.63***</a:t>
                      </a:r>
                    </a:p>
                  </p:txBody>
                </p:sp>
                <p:sp>
                  <p:nvSpPr>
                    <p:cNvPr id="234" name="TextBox 233">
                      <a:extLst>
                        <a:ext uri="{FF2B5EF4-FFF2-40B4-BE49-F238E27FC236}">
                          <a16:creationId xmlns:a16="http://schemas.microsoft.com/office/drawing/2014/main" id="{EE1CC784-87A5-0CCD-B358-743A5451F45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1631649" y="2894313"/>
                      <a:ext cx="75513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-0.28***</a:t>
                      </a:r>
                    </a:p>
                  </p:txBody>
                </p:sp>
                <p:sp>
                  <p:nvSpPr>
                    <p:cNvPr id="235" name="TextBox 234">
                      <a:extLst>
                        <a:ext uri="{FF2B5EF4-FFF2-40B4-BE49-F238E27FC236}">
                          <a16:creationId xmlns:a16="http://schemas.microsoft.com/office/drawing/2014/main" id="{3D18FCD9-C573-7D19-B12F-FD5604C4796D}"/>
                        </a:ext>
                      </a:extLst>
                    </p:cNvPr>
                    <p:cNvSpPr txBox="1"/>
                    <p:nvPr/>
                  </p:nvSpPr>
                  <p:spPr>
                    <a:xfrm rot="3001602">
                      <a:off x="10009747" y="2720926"/>
                      <a:ext cx="74383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-0.32***</a:t>
                      </a:r>
                    </a:p>
                  </p:txBody>
                </p:sp>
                <p:sp>
                  <p:nvSpPr>
                    <p:cNvPr id="240" name="TextBox 239">
                      <a:extLst>
                        <a:ext uri="{FF2B5EF4-FFF2-40B4-BE49-F238E27FC236}">
                          <a16:creationId xmlns:a16="http://schemas.microsoft.com/office/drawing/2014/main" id="{BE3FB442-9E2B-74C9-4A97-E9EF0676584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634614" y="4985003"/>
                      <a:ext cx="131478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GOF = </a:t>
                      </a:r>
                      <a:r>
                        <a:rPr lang="en-US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0.49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98" name="TextBox 197">
                    <a:extLst>
                      <a:ext uri="{FF2B5EF4-FFF2-40B4-BE49-F238E27FC236}">
                        <a16:creationId xmlns:a16="http://schemas.microsoft.com/office/drawing/2014/main" id="{5F526C02-F718-4AE8-542D-4F5FCF3115FA}"/>
                      </a:ext>
                    </a:extLst>
                  </p:cNvPr>
                  <p:cNvSpPr txBox="1"/>
                  <p:nvPr/>
                </p:nvSpPr>
                <p:spPr>
                  <a:xfrm>
                    <a:off x="40636" y="9483"/>
                    <a:ext cx="135485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</a:t>
                    </a:r>
                    <a:r>
                      <a: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) Subsoil</a:t>
                    </a:r>
                    <a:endParaRPr lang="en-US" sz="16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93" name="Arc 192">
                  <a:extLst>
                    <a:ext uri="{FF2B5EF4-FFF2-40B4-BE49-F238E27FC236}">
                      <a16:creationId xmlns:a16="http://schemas.microsoft.com/office/drawing/2014/main" id="{AE538000-C1BD-9CD9-607B-EE63352CCC2D}"/>
                    </a:ext>
                  </a:extLst>
                </p:cNvPr>
                <p:cNvSpPr/>
                <p:nvPr/>
              </p:nvSpPr>
              <p:spPr>
                <a:xfrm>
                  <a:off x="549206" y="2041461"/>
                  <a:ext cx="6236174" cy="3013665"/>
                </a:xfrm>
                <a:prstGeom prst="arc">
                  <a:avLst>
                    <a:gd name="adj1" fmla="val 20121030"/>
                    <a:gd name="adj2" fmla="val 4324620"/>
                  </a:avLst>
                </a:prstGeom>
                <a:ln w="38100"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4" name="Arc 193">
                  <a:extLst>
                    <a:ext uri="{FF2B5EF4-FFF2-40B4-BE49-F238E27FC236}">
                      <a16:creationId xmlns:a16="http://schemas.microsoft.com/office/drawing/2014/main" id="{B7C2D5E8-D66C-D5A3-A0BF-2CC4BE902357}"/>
                    </a:ext>
                  </a:extLst>
                </p:cNvPr>
                <p:cNvSpPr/>
                <p:nvPr/>
              </p:nvSpPr>
              <p:spPr>
                <a:xfrm flipH="1">
                  <a:off x="310372" y="1918506"/>
                  <a:ext cx="6086590" cy="3150979"/>
                </a:xfrm>
                <a:prstGeom prst="arc">
                  <a:avLst>
                    <a:gd name="adj1" fmla="val 20178728"/>
                    <a:gd name="adj2" fmla="val 4015228"/>
                  </a:avLst>
                </a:prstGeom>
                <a:ln w="25400">
                  <a:solidFill>
                    <a:schemeClr val="bg1">
                      <a:lumMod val="50000"/>
                    </a:schemeClr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99FE57E3-DB4B-DC49-8320-F017FFA7F43B}"/>
                    </a:ext>
                  </a:extLst>
                </p:cNvPr>
                <p:cNvSpPr txBox="1"/>
                <p:nvPr/>
              </p:nvSpPr>
              <p:spPr>
                <a:xfrm rot="982405">
                  <a:off x="1233900" y="4509765"/>
                  <a:ext cx="798345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-0.17</a:t>
                  </a:r>
                </a:p>
              </p:txBody>
            </p:sp>
            <p:sp>
              <p:nvSpPr>
                <p:cNvPr id="196" name="TextBox 195">
                  <a:extLst>
                    <a:ext uri="{FF2B5EF4-FFF2-40B4-BE49-F238E27FC236}">
                      <a16:creationId xmlns:a16="http://schemas.microsoft.com/office/drawing/2014/main" id="{C66C4304-B5CD-7B9D-6566-A929CCFBFCC6}"/>
                    </a:ext>
                  </a:extLst>
                </p:cNvPr>
                <p:cNvSpPr txBox="1"/>
                <p:nvPr/>
              </p:nvSpPr>
              <p:spPr>
                <a:xfrm rot="20593762">
                  <a:off x="4873985" y="4548289"/>
                  <a:ext cx="76686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-0.31***</a:t>
                  </a:r>
                </a:p>
              </p:txBody>
            </p:sp>
          </p:grp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34B9F56-BF93-C846-6287-568E82899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60552" y="6085505"/>
              <a:ext cx="5184000" cy="4320000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8D8A64C-48F6-07D8-22C6-9F2E7B9DDDD3}"/>
                </a:ext>
              </a:extLst>
            </p:cNvPr>
            <p:cNvGrpSpPr/>
            <p:nvPr/>
          </p:nvGrpSpPr>
          <p:grpSpPr>
            <a:xfrm>
              <a:off x="6470135" y="5677101"/>
              <a:ext cx="5417824" cy="5341297"/>
              <a:chOff x="6044300" y="5995676"/>
              <a:chExt cx="5417824" cy="5341297"/>
            </a:xfrm>
          </p:grpSpPr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99543B93-91C9-5806-D5D8-DD4B96692397}"/>
                  </a:ext>
                </a:extLst>
              </p:cNvPr>
              <p:cNvSpPr txBox="1"/>
              <p:nvPr/>
            </p:nvSpPr>
            <p:spPr>
              <a:xfrm>
                <a:off x="6044300" y="5995676"/>
                <a:ext cx="12682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Subsoil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16" name="Group 315">
                <a:extLst>
                  <a:ext uri="{FF2B5EF4-FFF2-40B4-BE49-F238E27FC236}">
                    <a16:creationId xmlns:a16="http://schemas.microsoft.com/office/drawing/2014/main" id="{D50AFCE0-1BF8-3516-3CA7-5628795A54B4}"/>
                  </a:ext>
                </a:extLst>
              </p:cNvPr>
              <p:cNvGrpSpPr/>
              <p:nvPr/>
            </p:nvGrpSpPr>
            <p:grpSpPr>
              <a:xfrm>
                <a:off x="6359792" y="6373731"/>
                <a:ext cx="5102332" cy="4963242"/>
                <a:chOff x="7056893" y="6343657"/>
                <a:chExt cx="5102332" cy="4963242"/>
              </a:xfrm>
            </p:grpSpPr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5E1FB067-9721-8B65-15A8-116E135272F3}"/>
                    </a:ext>
                  </a:extLst>
                </p:cNvPr>
                <p:cNvSpPr txBox="1"/>
                <p:nvPr/>
              </p:nvSpPr>
              <p:spPr>
                <a:xfrm rot="18746364">
                  <a:off x="7784482" y="10361607"/>
                  <a:ext cx="125515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Topography</a:t>
                  </a:r>
                  <a:endParaRPr 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4" name="TextBox 133">
                  <a:extLst>
                    <a:ext uri="{FF2B5EF4-FFF2-40B4-BE49-F238E27FC236}">
                      <a16:creationId xmlns:a16="http://schemas.microsoft.com/office/drawing/2014/main" id="{E66DFB51-E8EE-5BE5-2DD0-21019ACA2ED2}"/>
                    </a:ext>
                  </a:extLst>
                </p:cNvPr>
                <p:cNvSpPr txBox="1"/>
                <p:nvPr/>
              </p:nvSpPr>
              <p:spPr>
                <a:xfrm rot="18746364">
                  <a:off x="8797050" y="10279060"/>
                  <a:ext cx="87876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Climate</a:t>
                  </a:r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57394820-E95F-1080-E0D2-F36CD3E63299}"/>
                    </a:ext>
                  </a:extLst>
                </p:cNvPr>
                <p:cNvSpPr txBox="1"/>
                <p:nvPr/>
              </p:nvSpPr>
              <p:spPr>
                <a:xfrm rot="18746364">
                  <a:off x="9234562" y="10376909"/>
                  <a:ext cx="124264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Seasonality</a:t>
                  </a:r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A8EB75CE-5BFD-139C-6EE1-142801A7CB8A}"/>
                    </a:ext>
                  </a:extLst>
                </p:cNvPr>
                <p:cNvSpPr txBox="1"/>
                <p:nvPr/>
              </p:nvSpPr>
              <p:spPr>
                <a:xfrm rot="18746364">
                  <a:off x="10018131" y="10394673"/>
                  <a:ext cx="121058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Soil texture</a:t>
                  </a:r>
                </a:p>
              </p:txBody>
            </p: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2C95D7C6-8181-77AE-4BF6-B5C2543434F9}"/>
                    </a:ext>
                  </a:extLst>
                </p:cNvPr>
                <p:cNvSpPr txBox="1"/>
                <p:nvPr/>
              </p:nvSpPr>
              <p:spPr>
                <a:xfrm rot="18746364">
                  <a:off x="11213934" y="10361608"/>
                  <a:ext cx="155202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Soil properties </a:t>
                  </a:r>
                </a:p>
              </p:txBody>
            </p:sp>
            <p:sp>
              <p:nvSpPr>
                <p:cNvPr id="138" name="TextBox 137">
                  <a:extLst>
                    <a:ext uri="{FF2B5EF4-FFF2-40B4-BE49-F238E27FC236}">
                      <a16:creationId xmlns:a16="http://schemas.microsoft.com/office/drawing/2014/main" id="{C6647EFC-F642-6504-C3E2-C126E63F5E88}"/>
                    </a:ext>
                  </a:extLst>
                </p:cNvPr>
                <p:cNvSpPr txBox="1"/>
                <p:nvPr/>
              </p:nvSpPr>
              <p:spPr>
                <a:xfrm>
                  <a:off x="7603507" y="10003019"/>
                  <a:ext cx="65274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-0.70</a:t>
                  </a:r>
                </a:p>
              </p:txBody>
            </p:sp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5447F8A0-AECB-2070-D24B-C052FBC6E432}"/>
                    </a:ext>
                  </a:extLst>
                </p:cNvPr>
                <p:cNvSpPr txBox="1"/>
                <p:nvPr/>
              </p:nvSpPr>
              <p:spPr>
                <a:xfrm>
                  <a:off x="7588915" y="8784730"/>
                  <a:ext cx="65274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-0.35</a:t>
                  </a:r>
                </a:p>
              </p:txBody>
            </p: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DD8D8781-8FF3-A814-C5B9-1F6E8F8F61A4}"/>
                    </a:ext>
                  </a:extLst>
                </p:cNvPr>
                <p:cNvSpPr txBox="1"/>
                <p:nvPr/>
              </p:nvSpPr>
              <p:spPr>
                <a:xfrm>
                  <a:off x="7657811" y="7545658"/>
                  <a:ext cx="58381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0.00</a:t>
                  </a:r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CA0CAAA0-15CE-9529-5B79-766B350B706D}"/>
                    </a:ext>
                  </a:extLst>
                </p:cNvPr>
                <p:cNvSpPr txBox="1"/>
                <p:nvPr/>
              </p:nvSpPr>
              <p:spPr>
                <a:xfrm>
                  <a:off x="7659866" y="6343657"/>
                  <a:ext cx="58381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0.35</a:t>
                  </a:r>
                </a:p>
              </p:txBody>
            </p:sp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007BC67E-D5DD-8336-61B6-9696E82C7740}"/>
                    </a:ext>
                  </a:extLst>
                </p:cNvPr>
                <p:cNvSpPr txBox="1"/>
                <p:nvPr/>
              </p:nvSpPr>
              <p:spPr>
                <a:xfrm rot="16200000">
                  <a:off x="5700351" y="8268616"/>
                  <a:ext cx="31131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Standardized total effects</a:t>
                  </a:r>
                  <a:endParaRPr 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89B5132-9E35-1003-4130-CA843C5AA091}"/>
                    </a:ext>
                  </a:extLst>
                </p:cNvPr>
                <p:cNvSpPr txBox="1"/>
                <p:nvPr/>
              </p:nvSpPr>
              <p:spPr>
                <a:xfrm rot="18746364">
                  <a:off x="10795850" y="10270543"/>
                  <a:ext cx="115275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Vegetation</a:t>
                  </a:r>
                </a:p>
              </p:txBody>
            </p:sp>
          </p:grpSp>
        </p:grpSp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E0200E7B-C0EC-BFAC-B47F-3D317D4DBFCD}"/>
                </a:ext>
              </a:extLst>
            </p:cNvPr>
            <p:cNvGrpSpPr/>
            <p:nvPr/>
          </p:nvGrpSpPr>
          <p:grpSpPr>
            <a:xfrm>
              <a:off x="6472863" y="53531"/>
              <a:ext cx="5610521" cy="5759485"/>
              <a:chOff x="6470958" y="-67916"/>
              <a:chExt cx="5610521" cy="5759485"/>
            </a:xfrm>
          </p:grpSpPr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AD94E949-0B2A-00D1-4719-8A1512084E9C}"/>
                  </a:ext>
                </a:extLst>
              </p:cNvPr>
              <p:cNvSpPr txBox="1"/>
              <p:nvPr/>
            </p:nvSpPr>
            <p:spPr>
              <a:xfrm>
                <a:off x="6470958" y="-67916"/>
                <a:ext cx="130740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Topsoil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75A30B01-AD91-B22A-6FA9-D8A118DFAC66}"/>
                  </a:ext>
                </a:extLst>
              </p:cNvPr>
              <p:cNvGrpSpPr/>
              <p:nvPr/>
            </p:nvGrpSpPr>
            <p:grpSpPr>
              <a:xfrm>
                <a:off x="6786450" y="519217"/>
                <a:ext cx="5295029" cy="5172352"/>
                <a:chOff x="6593730" y="6208560"/>
                <a:chExt cx="5295029" cy="5172352"/>
              </a:xfrm>
            </p:grpSpPr>
            <p:sp>
              <p:nvSpPr>
                <p:cNvPr id="300" name="TextBox 299">
                  <a:extLst>
                    <a:ext uri="{FF2B5EF4-FFF2-40B4-BE49-F238E27FC236}">
                      <a16:creationId xmlns:a16="http://schemas.microsoft.com/office/drawing/2014/main" id="{E17FAF3A-C643-A91C-5E9E-E21F3BB84171}"/>
                    </a:ext>
                  </a:extLst>
                </p:cNvPr>
                <p:cNvSpPr txBox="1"/>
                <p:nvPr/>
              </p:nvSpPr>
              <p:spPr>
                <a:xfrm rot="18746364">
                  <a:off x="7349255" y="10584059"/>
                  <a:ext cx="125515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Topography</a:t>
                  </a:r>
                  <a:endParaRPr lang="en-US" sz="1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1" name="TextBox 300">
                  <a:extLst>
                    <a:ext uri="{FF2B5EF4-FFF2-40B4-BE49-F238E27FC236}">
                      <a16:creationId xmlns:a16="http://schemas.microsoft.com/office/drawing/2014/main" id="{7E33B12A-6066-8E9C-9EF0-775CB8AEC8F6}"/>
                    </a:ext>
                  </a:extLst>
                </p:cNvPr>
                <p:cNvSpPr txBox="1"/>
                <p:nvPr/>
              </p:nvSpPr>
              <p:spPr>
                <a:xfrm rot="18746364">
                  <a:off x="8369701" y="10497818"/>
                  <a:ext cx="87876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Climate</a:t>
                  </a:r>
                  <a:endParaRPr 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2" name="TextBox 301">
                  <a:extLst>
                    <a:ext uri="{FF2B5EF4-FFF2-40B4-BE49-F238E27FC236}">
                      <a16:creationId xmlns:a16="http://schemas.microsoft.com/office/drawing/2014/main" id="{92F76917-C0F9-2D9B-3A71-684A603854D1}"/>
                    </a:ext>
                  </a:extLst>
                </p:cNvPr>
                <p:cNvSpPr txBox="1"/>
                <p:nvPr/>
              </p:nvSpPr>
              <p:spPr>
                <a:xfrm rot="18746364">
                  <a:off x="8819668" y="10549284"/>
                  <a:ext cx="124264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Seasonality</a:t>
                  </a:r>
                </a:p>
              </p:txBody>
            </p:sp>
            <p:sp>
              <p:nvSpPr>
                <p:cNvPr id="303" name="TextBox 302">
                  <a:extLst>
                    <a:ext uri="{FF2B5EF4-FFF2-40B4-BE49-F238E27FC236}">
                      <a16:creationId xmlns:a16="http://schemas.microsoft.com/office/drawing/2014/main" id="{26F63A32-81AD-B566-AB21-986F254EA906}"/>
                    </a:ext>
                  </a:extLst>
                </p:cNvPr>
                <p:cNvSpPr txBox="1"/>
                <p:nvPr/>
              </p:nvSpPr>
              <p:spPr>
                <a:xfrm rot="18746364">
                  <a:off x="9629356" y="10411769"/>
                  <a:ext cx="121058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Soil texture</a:t>
                  </a:r>
                </a:p>
              </p:txBody>
            </p:sp>
            <p:sp>
              <p:nvSpPr>
                <p:cNvPr id="304" name="TextBox 303">
                  <a:extLst>
                    <a:ext uri="{FF2B5EF4-FFF2-40B4-BE49-F238E27FC236}">
                      <a16:creationId xmlns:a16="http://schemas.microsoft.com/office/drawing/2014/main" id="{43F2BB14-2A89-1320-6B8E-C9FD90D4521E}"/>
                    </a:ext>
                  </a:extLst>
                </p:cNvPr>
                <p:cNvSpPr txBox="1"/>
                <p:nvPr/>
              </p:nvSpPr>
              <p:spPr>
                <a:xfrm rot="18746364">
                  <a:off x="10943468" y="10388797"/>
                  <a:ext cx="1552028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Soil properties </a:t>
                  </a:r>
                </a:p>
              </p:txBody>
            </p:sp>
            <p:sp>
              <p:nvSpPr>
                <p:cNvPr id="305" name="TextBox 304">
                  <a:extLst>
                    <a:ext uri="{FF2B5EF4-FFF2-40B4-BE49-F238E27FC236}">
                      <a16:creationId xmlns:a16="http://schemas.microsoft.com/office/drawing/2014/main" id="{D0E4F586-704F-A0A1-A89C-76BF48764973}"/>
                    </a:ext>
                  </a:extLst>
                </p:cNvPr>
                <p:cNvSpPr txBox="1"/>
                <p:nvPr/>
              </p:nvSpPr>
              <p:spPr>
                <a:xfrm>
                  <a:off x="7064891" y="10204071"/>
                  <a:ext cx="65274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-0.50</a:t>
                  </a:r>
                </a:p>
              </p:txBody>
            </p:sp>
            <p:sp>
              <p:nvSpPr>
                <p:cNvPr id="306" name="TextBox 305">
                  <a:extLst>
                    <a:ext uri="{FF2B5EF4-FFF2-40B4-BE49-F238E27FC236}">
                      <a16:creationId xmlns:a16="http://schemas.microsoft.com/office/drawing/2014/main" id="{180FDF7B-3470-6CB2-A384-1CEA1B301046}"/>
                    </a:ext>
                  </a:extLst>
                </p:cNvPr>
                <p:cNvSpPr txBox="1"/>
                <p:nvPr/>
              </p:nvSpPr>
              <p:spPr>
                <a:xfrm>
                  <a:off x="7065258" y="9208237"/>
                  <a:ext cx="65274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-0.25</a:t>
                  </a:r>
                </a:p>
              </p:txBody>
            </p:sp>
            <p:sp>
              <p:nvSpPr>
                <p:cNvPr id="307" name="TextBox 306">
                  <a:extLst>
                    <a:ext uri="{FF2B5EF4-FFF2-40B4-BE49-F238E27FC236}">
                      <a16:creationId xmlns:a16="http://schemas.microsoft.com/office/drawing/2014/main" id="{8AF532AB-0A93-3DCE-F212-3E30A7066028}"/>
                    </a:ext>
                  </a:extLst>
                </p:cNvPr>
                <p:cNvSpPr txBox="1"/>
                <p:nvPr/>
              </p:nvSpPr>
              <p:spPr>
                <a:xfrm>
                  <a:off x="7129993" y="8204611"/>
                  <a:ext cx="58381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0.00</a:t>
                  </a:r>
                </a:p>
              </p:txBody>
            </p:sp>
            <p:sp>
              <p:nvSpPr>
                <p:cNvPr id="308" name="TextBox 307">
                  <a:extLst>
                    <a:ext uri="{FF2B5EF4-FFF2-40B4-BE49-F238E27FC236}">
                      <a16:creationId xmlns:a16="http://schemas.microsoft.com/office/drawing/2014/main" id="{3361072D-4F36-4291-8479-77817562F895}"/>
                    </a:ext>
                  </a:extLst>
                </p:cNvPr>
                <p:cNvSpPr txBox="1"/>
                <p:nvPr/>
              </p:nvSpPr>
              <p:spPr>
                <a:xfrm>
                  <a:off x="7134425" y="7207453"/>
                  <a:ext cx="58381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0.25</a:t>
                  </a:r>
                </a:p>
              </p:txBody>
            </p:sp>
            <p:sp>
              <p:nvSpPr>
                <p:cNvPr id="309" name="TextBox 308">
                  <a:extLst>
                    <a:ext uri="{FF2B5EF4-FFF2-40B4-BE49-F238E27FC236}">
                      <a16:creationId xmlns:a16="http://schemas.microsoft.com/office/drawing/2014/main" id="{E50EC599-315F-E8E7-80DF-DA55F6144F7B}"/>
                    </a:ext>
                  </a:extLst>
                </p:cNvPr>
                <p:cNvSpPr txBox="1"/>
                <p:nvPr/>
              </p:nvSpPr>
              <p:spPr>
                <a:xfrm>
                  <a:off x="7125259" y="6208560"/>
                  <a:ext cx="583814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0.50</a:t>
                  </a:r>
                </a:p>
              </p:txBody>
            </p:sp>
            <p:sp>
              <p:nvSpPr>
                <p:cNvPr id="310" name="TextBox 309">
                  <a:extLst>
                    <a:ext uri="{FF2B5EF4-FFF2-40B4-BE49-F238E27FC236}">
                      <a16:creationId xmlns:a16="http://schemas.microsoft.com/office/drawing/2014/main" id="{28C0365F-4BCD-F802-B48A-EC25D97E826C}"/>
                    </a:ext>
                  </a:extLst>
                </p:cNvPr>
                <p:cNvSpPr txBox="1"/>
                <p:nvPr/>
              </p:nvSpPr>
              <p:spPr>
                <a:xfrm rot="16200000">
                  <a:off x="5237188" y="8150973"/>
                  <a:ext cx="31131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Standardized total effects</a:t>
                  </a:r>
                  <a:endParaRPr lang="en-US" sz="24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1" name="TextBox 310">
                  <a:extLst>
                    <a:ext uri="{FF2B5EF4-FFF2-40B4-BE49-F238E27FC236}">
                      <a16:creationId xmlns:a16="http://schemas.microsoft.com/office/drawing/2014/main" id="{875BC89C-6C34-3BFC-41A0-A7A31BC2BA18}"/>
                    </a:ext>
                  </a:extLst>
                </p:cNvPr>
                <p:cNvSpPr txBox="1"/>
                <p:nvPr/>
              </p:nvSpPr>
              <p:spPr>
                <a:xfrm rot="18746364">
                  <a:off x="10363969" y="10415964"/>
                  <a:ext cx="115275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Vegetation</a:t>
                  </a:r>
                </a:p>
              </p:txBody>
            </p:sp>
          </p:grp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A5CFA7C-C8C9-359A-E7F1-38363E1E6B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97663" y="688719"/>
              <a:ext cx="5184000" cy="43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80566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roup 277">
            <a:extLst>
              <a:ext uri="{FF2B5EF4-FFF2-40B4-BE49-F238E27FC236}">
                <a16:creationId xmlns:a16="http://schemas.microsoft.com/office/drawing/2014/main" id="{0C7A20D5-17EE-1F3F-DE29-D48D8132AE81}"/>
              </a:ext>
            </a:extLst>
          </p:cNvPr>
          <p:cNvGrpSpPr/>
          <p:nvPr/>
        </p:nvGrpSpPr>
        <p:grpSpPr>
          <a:xfrm>
            <a:off x="113752" y="42775"/>
            <a:ext cx="11647501" cy="7948396"/>
            <a:chOff x="113752" y="42775"/>
            <a:chExt cx="11647501" cy="7948396"/>
          </a:xfrm>
        </p:grpSpPr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15E965F7-A846-0AC7-B821-B5F95BBE49E4}"/>
                </a:ext>
              </a:extLst>
            </p:cNvPr>
            <p:cNvGrpSpPr/>
            <p:nvPr/>
          </p:nvGrpSpPr>
          <p:grpSpPr>
            <a:xfrm>
              <a:off x="113752" y="42775"/>
              <a:ext cx="6545696" cy="3901260"/>
              <a:chOff x="113752" y="42775"/>
              <a:chExt cx="6545696" cy="3901260"/>
            </a:xfrm>
          </p:grpSpPr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738B7517-20F1-4288-054F-E002D3ED8933}"/>
                  </a:ext>
                </a:extLst>
              </p:cNvPr>
              <p:cNvSpPr txBox="1"/>
              <p:nvPr/>
            </p:nvSpPr>
            <p:spPr>
              <a:xfrm>
                <a:off x="263503" y="42775"/>
                <a:ext cx="130740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Topsoil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4173586A-4258-21F8-7CC8-82C046D4F3DD}"/>
                  </a:ext>
                </a:extLst>
              </p:cNvPr>
              <p:cNvGrpSpPr/>
              <p:nvPr/>
            </p:nvGrpSpPr>
            <p:grpSpPr>
              <a:xfrm>
                <a:off x="113752" y="504440"/>
                <a:ext cx="6545696" cy="3439595"/>
                <a:chOff x="1979622" y="1485753"/>
                <a:chExt cx="6545696" cy="3439595"/>
              </a:xfrm>
            </p:grpSpPr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9F0638F4-A6EB-3A06-A8B2-B7B18EFCE1E9}"/>
                    </a:ext>
                  </a:extLst>
                </p:cNvPr>
                <p:cNvGrpSpPr/>
                <p:nvPr/>
              </p:nvGrpSpPr>
              <p:grpSpPr>
                <a:xfrm>
                  <a:off x="6145398" y="1485753"/>
                  <a:ext cx="2005527" cy="653724"/>
                  <a:chOff x="6875812" y="1043464"/>
                  <a:chExt cx="2005527" cy="653724"/>
                </a:xfrm>
                <a:solidFill>
                  <a:schemeClr val="accent2">
                    <a:lumMod val="60000"/>
                    <a:lumOff val="40000"/>
                  </a:schemeClr>
                </a:solidFill>
              </p:grpSpPr>
              <p:sp>
                <p:nvSpPr>
                  <p:cNvPr id="109" name="Rectangle 108">
                    <a:extLst>
                      <a:ext uri="{FF2B5EF4-FFF2-40B4-BE49-F238E27FC236}">
                        <a16:creationId xmlns:a16="http://schemas.microsoft.com/office/drawing/2014/main" id="{9138B27A-CA55-DCD5-E26B-00273520C79A}"/>
                      </a:ext>
                    </a:extLst>
                  </p:cNvPr>
                  <p:cNvSpPr/>
                  <p:nvPr/>
                </p:nvSpPr>
                <p:spPr>
                  <a:xfrm>
                    <a:off x="6875812" y="1043464"/>
                    <a:ext cx="2005527" cy="324000"/>
                  </a:xfrm>
                  <a:prstGeom prst="rect">
                    <a:avLst/>
                  </a:prstGeom>
                  <a:solidFill>
                    <a:schemeClr val="accent2">
                      <a:alpha val="30000"/>
                    </a:schemeClr>
                  </a:solidFill>
                  <a:ln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Topography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0" name="Rectangle 109">
                    <a:extLst>
                      <a:ext uri="{FF2B5EF4-FFF2-40B4-BE49-F238E27FC236}">
                        <a16:creationId xmlns:a16="http://schemas.microsoft.com/office/drawing/2014/main" id="{E304E46E-C01C-6AF3-FB42-1BFED2C814F1}"/>
                      </a:ext>
                    </a:extLst>
                  </p:cNvPr>
                  <p:cNvSpPr/>
                  <p:nvPr/>
                </p:nvSpPr>
                <p:spPr>
                  <a:xfrm>
                    <a:off x="6875812" y="1373188"/>
                    <a:ext cx="1008000" cy="324000"/>
                  </a:xfrm>
                  <a:prstGeom prst="rect">
                    <a:avLst/>
                  </a:prstGeom>
                  <a:noFill/>
                  <a:ln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sz="140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Elevation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11" name="Rectangle 110">
                    <a:extLst>
                      <a:ext uri="{FF2B5EF4-FFF2-40B4-BE49-F238E27FC236}">
                        <a16:creationId xmlns:a16="http://schemas.microsoft.com/office/drawing/2014/main" id="{E0FC1ABF-4CA0-F61E-67DA-AA5473470DC0}"/>
                      </a:ext>
                    </a:extLst>
                  </p:cNvPr>
                  <p:cNvSpPr/>
                  <p:nvPr/>
                </p:nvSpPr>
                <p:spPr>
                  <a:xfrm>
                    <a:off x="7873339" y="1373188"/>
                    <a:ext cx="1008000" cy="324000"/>
                  </a:xfrm>
                  <a:prstGeom prst="rect">
                    <a:avLst/>
                  </a:prstGeom>
                  <a:noFill/>
                  <a:ln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sz="140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Slope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391A9DEA-4B85-77F6-7DF0-031534EFD7F2}"/>
                    </a:ext>
                  </a:extLst>
                </p:cNvPr>
                <p:cNvGrpSpPr/>
                <p:nvPr/>
              </p:nvGrpSpPr>
              <p:grpSpPr>
                <a:xfrm>
                  <a:off x="1979622" y="2927388"/>
                  <a:ext cx="2456346" cy="682724"/>
                  <a:chOff x="6514081" y="3402832"/>
                  <a:chExt cx="2456346" cy="682724"/>
                </a:xfrm>
              </p:grpSpPr>
              <p:sp>
                <p:nvSpPr>
                  <p:cNvPr id="96" name="Rectangle 95">
                    <a:extLst>
                      <a:ext uri="{FF2B5EF4-FFF2-40B4-BE49-F238E27FC236}">
                        <a16:creationId xmlns:a16="http://schemas.microsoft.com/office/drawing/2014/main" id="{4B2ECF82-25C2-67A6-FD29-BDCEC7A9C679}"/>
                      </a:ext>
                    </a:extLst>
                  </p:cNvPr>
                  <p:cNvSpPr/>
                  <p:nvPr/>
                </p:nvSpPr>
                <p:spPr>
                  <a:xfrm>
                    <a:off x="6514081" y="3402832"/>
                    <a:ext cx="2454377" cy="354541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  <a:alpha val="50000"/>
                    </a:schemeClr>
                  </a:solidFill>
                  <a:ln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Vegetation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7" name="Rectangle 96">
                    <a:extLst>
                      <a:ext uri="{FF2B5EF4-FFF2-40B4-BE49-F238E27FC236}">
                        <a16:creationId xmlns:a16="http://schemas.microsoft.com/office/drawing/2014/main" id="{D2527C76-0D6D-568F-F229-E956DBB1BB0D}"/>
                      </a:ext>
                    </a:extLst>
                  </p:cNvPr>
                  <p:cNvSpPr/>
                  <p:nvPr/>
                </p:nvSpPr>
                <p:spPr>
                  <a:xfrm>
                    <a:off x="6514746" y="3761556"/>
                    <a:ext cx="561270" cy="324000"/>
                  </a:xfrm>
                  <a:prstGeom prst="rect">
                    <a:avLst/>
                  </a:prstGeom>
                  <a:noFill/>
                  <a:ln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sz="140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GPP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8" name="Rectangle 97">
                    <a:extLst>
                      <a:ext uri="{FF2B5EF4-FFF2-40B4-BE49-F238E27FC236}">
                        <a16:creationId xmlns:a16="http://schemas.microsoft.com/office/drawing/2014/main" id="{CCF157A2-93D3-3004-5685-8DC82136D0F0}"/>
                      </a:ext>
                    </a:extLst>
                  </p:cNvPr>
                  <p:cNvSpPr/>
                  <p:nvPr/>
                </p:nvSpPr>
                <p:spPr>
                  <a:xfrm>
                    <a:off x="8393883" y="3764617"/>
                    <a:ext cx="576544" cy="317878"/>
                  </a:xfrm>
                  <a:prstGeom prst="rect">
                    <a:avLst/>
                  </a:prstGeom>
                  <a:noFill/>
                  <a:ln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sz="140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BGB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9" name="Rectangle 98">
                    <a:extLst>
                      <a:ext uri="{FF2B5EF4-FFF2-40B4-BE49-F238E27FC236}">
                        <a16:creationId xmlns:a16="http://schemas.microsoft.com/office/drawing/2014/main" id="{C8F8CFAB-2288-1529-665C-42839837A5BC}"/>
                      </a:ext>
                    </a:extLst>
                  </p:cNvPr>
                  <p:cNvSpPr/>
                  <p:nvPr/>
                </p:nvSpPr>
                <p:spPr>
                  <a:xfrm>
                    <a:off x="7072639" y="3761371"/>
                    <a:ext cx="1314784" cy="321481"/>
                  </a:xfrm>
                  <a:prstGeom prst="rect">
                    <a:avLst/>
                  </a:prstGeom>
                  <a:noFill/>
                  <a:ln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sz="1401" dirty="0" err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Shannon_EVI</a:t>
                    </a:r>
                    <a:endParaRPr lang="en-US" sz="140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408BACE5-7C29-7BBE-32F8-EC83627990ED}"/>
                    </a:ext>
                  </a:extLst>
                </p:cNvPr>
                <p:cNvSpPr/>
                <p:nvPr/>
              </p:nvSpPr>
              <p:spPr>
                <a:xfrm>
                  <a:off x="4719682" y="4316577"/>
                  <a:ext cx="1440000" cy="313833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50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CUE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75" name="Straight Arrow Connector 74">
                  <a:extLst>
                    <a:ext uri="{FF2B5EF4-FFF2-40B4-BE49-F238E27FC236}">
                      <a16:creationId xmlns:a16="http://schemas.microsoft.com/office/drawing/2014/main" id="{059F262D-5F57-07C3-E466-22604A5708B4}"/>
                    </a:ext>
                  </a:extLst>
                </p:cNvPr>
                <p:cNvCxnSpPr>
                  <a:cxnSpLocks/>
                  <a:endCxn id="100" idx="0"/>
                </p:cNvCxnSpPr>
                <p:nvPr/>
              </p:nvCxnSpPr>
              <p:spPr>
                <a:xfrm>
                  <a:off x="6987000" y="2168256"/>
                  <a:ext cx="355500" cy="773819"/>
                </a:xfrm>
                <a:prstGeom prst="straightConnector1">
                  <a:avLst/>
                </a:prstGeom>
                <a:ln w="38100">
                  <a:solidFill>
                    <a:schemeClr val="accent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Arrow Connector 76">
                  <a:extLst>
                    <a:ext uri="{FF2B5EF4-FFF2-40B4-BE49-F238E27FC236}">
                      <a16:creationId xmlns:a16="http://schemas.microsoft.com/office/drawing/2014/main" id="{E2FE34BD-47D7-3C9B-0EF8-40DAE57651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40347" y="1814395"/>
                  <a:ext cx="1086012" cy="15969"/>
                </a:xfrm>
                <a:prstGeom prst="straightConnector1">
                  <a:avLst/>
                </a:prstGeom>
                <a:ln w="28575">
                  <a:solidFill>
                    <a:schemeClr val="accent1"/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48951E93-0B1A-62FC-0D26-1FE212553192}"/>
                    </a:ext>
                  </a:extLst>
                </p:cNvPr>
                <p:cNvSpPr txBox="1"/>
                <p:nvPr/>
              </p:nvSpPr>
              <p:spPr>
                <a:xfrm>
                  <a:off x="5133179" y="4648349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  <a:r>
                    <a:rPr lang="en-US" sz="1200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= 0.18</a:t>
                  </a:r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C7BE158C-BCB1-92D7-9072-894CF5643B7E}"/>
                    </a:ext>
                  </a:extLst>
                </p:cNvPr>
                <p:cNvSpPr txBox="1"/>
                <p:nvPr/>
              </p:nvSpPr>
              <p:spPr>
                <a:xfrm>
                  <a:off x="2810593" y="4358939"/>
                  <a:ext cx="13147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GOF = </a:t>
                  </a:r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0.45</a:t>
                  </a:r>
                  <a:endParaRPr 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E6BB186B-9F15-10C3-5BFB-0E92217124BD}"/>
                    </a:ext>
                  </a:extLst>
                </p:cNvPr>
                <p:cNvGrpSpPr/>
                <p:nvPr/>
              </p:nvGrpSpPr>
              <p:grpSpPr>
                <a:xfrm>
                  <a:off x="2766787" y="1512997"/>
                  <a:ext cx="2273561" cy="643136"/>
                  <a:chOff x="7117575" y="2036719"/>
                  <a:chExt cx="2273561" cy="643136"/>
                </a:xfrm>
              </p:grpSpPr>
              <p:sp>
                <p:nvSpPr>
                  <p:cNvPr id="106" name="Rectangle 105">
                    <a:extLst>
                      <a:ext uri="{FF2B5EF4-FFF2-40B4-BE49-F238E27FC236}">
                        <a16:creationId xmlns:a16="http://schemas.microsoft.com/office/drawing/2014/main" id="{57FF5809-DC3B-12A7-4335-470A570B2193}"/>
                      </a:ext>
                    </a:extLst>
                  </p:cNvPr>
                  <p:cNvSpPr/>
                  <p:nvPr/>
                </p:nvSpPr>
                <p:spPr>
                  <a:xfrm>
                    <a:off x="7117575" y="2036719"/>
                    <a:ext cx="2273560" cy="324000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30000"/>
                    </a:schemeClr>
                  </a:solidFill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Climate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07" name="Rectangle 106">
                    <a:extLst>
                      <a:ext uri="{FF2B5EF4-FFF2-40B4-BE49-F238E27FC236}">
                        <a16:creationId xmlns:a16="http://schemas.microsoft.com/office/drawing/2014/main" id="{9823F29B-6054-27A0-0A1E-CDBDDD4D3DFC}"/>
                      </a:ext>
                    </a:extLst>
                  </p:cNvPr>
                  <p:cNvSpPr/>
                  <p:nvPr/>
                </p:nvSpPr>
                <p:spPr>
                  <a:xfrm>
                    <a:off x="7117576" y="2354086"/>
                    <a:ext cx="612000" cy="324000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sz="140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MAT</a:t>
                    </a:r>
                  </a:p>
                  <a:p>
                    <a:pPr algn="ctr"/>
                    <a:endParaRPr lang="en-US" sz="140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08" name="Rectangle 107">
                    <a:extLst>
                      <a:ext uri="{FF2B5EF4-FFF2-40B4-BE49-F238E27FC236}">
                        <a16:creationId xmlns:a16="http://schemas.microsoft.com/office/drawing/2014/main" id="{5865A653-027D-1EAA-30CF-C5EA2B209B93}"/>
                      </a:ext>
                    </a:extLst>
                  </p:cNvPr>
                  <p:cNvSpPr/>
                  <p:nvPr/>
                </p:nvSpPr>
                <p:spPr>
                  <a:xfrm>
                    <a:off x="7726710" y="2354086"/>
                    <a:ext cx="669085" cy="324000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sz="140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MAP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947D352A-1202-519E-C20F-AEC1FAE7BB77}"/>
                      </a:ext>
                    </a:extLst>
                  </p:cNvPr>
                  <p:cNvSpPr/>
                  <p:nvPr/>
                </p:nvSpPr>
                <p:spPr>
                  <a:xfrm>
                    <a:off x="8403977" y="2354086"/>
                    <a:ext cx="529710" cy="324000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sz="140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TS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0ED02DF5-8278-DB19-77C3-B527D98FF106}"/>
                      </a:ext>
                    </a:extLst>
                  </p:cNvPr>
                  <p:cNvSpPr/>
                  <p:nvPr/>
                </p:nvSpPr>
                <p:spPr>
                  <a:xfrm>
                    <a:off x="8933688" y="2355855"/>
                    <a:ext cx="457448" cy="324000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sz="140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PS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92746F7C-F0CF-41AE-DDB5-F0F3D1940DC2}"/>
                    </a:ext>
                  </a:extLst>
                </p:cNvPr>
                <p:cNvGrpSpPr/>
                <p:nvPr/>
              </p:nvGrpSpPr>
              <p:grpSpPr>
                <a:xfrm>
                  <a:off x="6159682" y="2942075"/>
                  <a:ext cx="2365636" cy="634776"/>
                  <a:chOff x="7791939" y="3093713"/>
                  <a:chExt cx="2365636" cy="634776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056547AC-AFB9-D3BC-831B-EED2F5C46419}"/>
                      </a:ext>
                    </a:extLst>
                  </p:cNvPr>
                  <p:cNvSpPr/>
                  <p:nvPr/>
                </p:nvSpPr>
                <p:spPr>
                  <a:xfrm>
                    <a:off x="9275700" y="3413321"/>
                    <a:ext cx="881875" cy="315167"/>
                  </a:xfrm>
                  <a:prstGeom prst="rect">
                    <a:avLst/>
                  </a:prstGeom>
                  <a:noFill/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sz="140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Moisture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63" name="Group 62">
                    <a:extLst>
                      <a:ext uri="{FF2B5EF4-FFF2-40B4-BE49-F238E27FC236}">
                        <a16:creationId xmlns:a16="http://schemas.microsoft.com/office/drawing/2014/main" id="{5FB0C4BD-4334-688D-A54C-0C28C76A4578}"/>
                      </a:ext>
                    </a:extLst>
                  </p:cNvPr>
                  <p:cNvGrpSpPr/>
                  <p:nvPr/>
                </p:nvGrpSpPr>
                <p:grpSpPr>
                  <a:xfrm>
                    <a:off x="7791939" y="3093713"/>
                    <a:ext cx="2365636" cy="632174"/>
                    <a:chOff x="6814560" y="1661585"/>
                    <a:chExt cx="2365636" cy="632174"/>
                  </a:xfrm>
                </p:grpSpPr>
                <p:sp>
                  <p:nvSpPr>
                    <p:cNvPr id="100" name="Rectangle 99">
                      <a:extLst>
                        <a:ext uri="{FF2B5EF4-FFF2-40B4-BE49-F238E27FC236}">
                          <a16:creationId xmlns:a16="http://schemas.microsoft.com/office/drawing/2014/main" id="{A9F3F069-B0FE-3795-77D9-C0A14ABF21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14560" y="1661585"/>
                      <a:ext cx="2365636" cy="324000"/>
                    </a:xfrm>
                    <a:prstGeom prst="rect">
                      <a:avLst/>
                    </a:prstGeom>
                    <a:solidFill>
                      <a:schemeClr val="tx2">
                        <a:lumMod val="60000"/>
                        <a:lumOff val="40000"/>
                        <a:alpha val="50000"/>
                      </a:schemeClr>
                    </a:solidFill>
                    <a:ln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Soil properties</a:t>
                      </a:r>
                    </a:p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1" name="Rectangle 100">
                      <a:extLst>
                        <a:ext uri="{FF2B5EF4-FFF2-40B4-BE49-F238E27FC236}">
                          <a16:creationId xmlns:a16="http://schemas.microsoft.com/office/drawing/2014/main" id="{31647B19-78CF-397B-1D2F-EDEA66F2A8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14560" y="1987332"/>
                      <a:ext cx="480781" cy="306427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40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</a:t>
                      </a:r>
                    </a:p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2" name="Rectangle 101">
                      <a:extLst>
                        <a:ext uri="{FF2B5EF4-FFF2-40B4-BE49-F238E27FC236}">
                          <a16:creationId xmlns:a16="http://schemas.microsoft.com/office/drawing/2014/main" id="{B76FE37C-0DB8-A209-875D-72DC1CF073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00296" y="1983809"/>
                      <a:ext cx="430688" cy="309950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40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BD</a:t>
                      </a:r>
                    </a:p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2A552237-3D8A-7174-0E7E-76B71C5FCEEF}"/>
                      </a:ext>
                    </a:extLst>
                  </p:cNvPr>
                  <p:cNvSpPr/>
                  <p:nvPr/>
                </p:nvSpPr>
                <p:spPr>
                  <a:xfrm>
                    <a:off x="8709433" y="3418539"/>
                    <a:ext cx="570492" cy="309950"/>
                  </a:xfrm>
                  <a:prstGeom prst="rect">
                    <a:avLst/>
                  </a:prstGeom>
                  <a:noFill/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sz="140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Clay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1B2B95AF-60B4-B1A8-AC70-43017272CA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447665" y="3275128"/>
                  <a:ext cx="1718296" cy="13713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E1D18784-54E1-F006-0D78-802AE9F75A55}"/>
                    </a:ext>
                  </a:extLst>
                </p:cNvPr>
                <p:cNvCxnSpPr>
                  <a:cxnSpLocks/>
                  <a:endCxn id="65" idx="0"/>
                </p:cNvCxnSpPr>
                <p:nvPr/>
              </p:nvCxnSpPr>
              <p:spPr>
                <a:xfrm>
                  <a:off x="4040207" y="2189993"/>
                  <a:ext cx="1399475" cy="2126584"/>
                </a:xfrm>
                <a:prstGeom prst="straightConnector1">
                  <a:avLst/>
                </a:prstGeom>
                <a:ln w="38100">
                  <a:solidFill>
                    <a:schemeClr val="accent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99657490-C1B4-73F9-8FBC-ED02E70A3D1A}"/>
                    </a:ext>
                  </a:extLst>
                </p:cNvPr>
                <p:cNvCxnSpPr>
                  <a:cxnSpLocks/>
                  <a:stCxn id="11" idx="2"/>
                  <a:endCxn id="65" idx="3"/>
                </p:cNvCxnSpPr>
                <p:nvPr/>
              </p:nvCxnSpPr>
              <p:spPr>
                <a:xfrm flipH="1">
                  <a:off x="6159682" y="3576851"/>
                  <a:ext cx="1202740" cy="896643"/>
                </a:xfrm>
                <a:prstGeom prst="straightConnector1">
                  <a:avLst/>
                </a:prstGeom>
                <a:ln w="38100">
                  <a:solidFill>
                    <a:srgbClr val="C00000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69AA749F-8A5C-52A2-F6DC-E260EC8A7816}"/>
                    </a:ext>
                  </a:extLst>
                </p:cNvPr>
                <p:cNvCxnSpPr>
                  <a:cxnSpLocks/>
                  <a:stCxn id="99" idx="2"/>
                  <a:endCxn id="65" idx="1"/>
                </p:cNvCxnSpPr>
                <p:nvPr/>
              </p:nvCxnSpPr>
              <p:spPr>
                <a:xfrm>
                  <a:off x="3195572" y="3607408"/>
                  <a:ext cx="1524110" cy="866086"/>
                </a:xfrm>
                <a:prstGeom prst="straightConnector1">
                  <a:avLst/>
                </a:prstGeom>
                <a:ln w="38100">
                  <a:solidFill>
                    <a:srgbClr val="C00000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15E77A1F-25E5-FF51-A071-BA044BFFB95A}"/>
                    </a:ext>
                  </a:extLst>
                </p:cNvPr>
                <p:cNvCxnSpPr>
                  <a:cxnSpLocks/>
                  <a:endCxn id="96" idx="0"/>
                </p:cNvCxnSpPr>
                <p:nvPr/>
              </p:nvCxnSpPr>
              <p:spPr>
                <a:xfrm flipH="1">
                  <a:off x="3206811" y="2161608"/>
                  <a:ext cx="838196" cy="765780"/>
                </a:xfrm>
                <a:prstGeom prst="straightConnector1">
                  <a:avLst/>
                </a:prstGeom>
                <a:ln w="38100">
                  <a:solidFill>
                    <a:srgbClr val="C00000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E638C199-C969-6D22-0BB5-4CEEA31E7E25}"/>
                    </a:ext>
                  </a:extLst>
                </p:cNvPr>
                <p:cNvSpPr txBox="1"/>
                <p:nvPr/>
              </p:nvSpPr>
              <p:spPr>
                <a:xfrm>
                  <a:off x="2073075" y="2673777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  <a:r>
                    <a:rPr lang="en-US" sz="1200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= 0.55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CD86CDF-203C-2816-3FF8-5B2EBC058E45}"/>
                    </a:ext>
                  </a:extLst>
                </p:cNvPr>
                <p:cNvSpPr txBox="1"/>
                <p:nvPr/>
              </p:nvSpPr>
              <p:spPr>
                <a:xfrm>
                  <a:off x="2757902" y="2130974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  <a:r>
                    <a:rPr lang="en-US" sz="1200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= 0.09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A450D7E6-F517-C87B-BF40-B475ECC5B429}"/>
                    </a:ext>
                  </a:extLst>
                </p:cNvPr>
                <p:cNvSpPr txBox="1"/>
                <p:nvPr/>
              </p:nvSpPr>
              <p:spPr>
                <a:xfrm>
                  <a:off x="7697847" y="2673777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  <a:r>
                    <a:rPr lang="en-US" sz="1200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= 0.61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C166EDE-F505-3E02-1A58-E5D7C07FE38E}"/>
                    </a:ext>
                  </a:extLst>
                </p:cNvPr>
                <p:cNvSpPr txBox="1"/>
                <p:nvPr/>
              </p:nvSpPr>
              <p:spPr>
                <a:xfrm>
                  <a:off x="5133180" y="1547097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-0.30***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6406B835-2581-6D48-9D0D-AD4330229307}"/>
                    </a:ext>
                  </a:extLst>
                </p:cNvPr>
                <p:cNvSpPr txBox="1"/>
                <p:nvPr/>
              </p:nvSpPr>
              <p:spPr>
                <a:xfrm>
                  <a:off x="7079728" y="2307584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-0.15***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DEFA649-BA70-AE93-A954-59C0388C7FA8}"/>
                    </a:ext>
                  </a:extLst>
                </p:cNvPr>
                <p:cNvSpPr txBox="1"/>
                <p:nvPr/>
              </p:nvSpPr>
              <p:spPr>
                <a:xfrm>
                  <a:off x="3492687" y="2535279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0.74***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51ABAC1D-D018-8FCE-8F43-CE3663EB7941}"/>
                    </a:ext>
                  </a:extLst>
                </p:cNvPr>
                <p:cNvSpPr txBox="1"/>
                <p:nvPr/>
              </p:nvSpPr>
              <p:spPr>
                <a:xfrm rot="153172">
                  <a:off x="5093806" y="3650123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-0.31***</a:t>
                  </a:r>
                </a:p>
              </p:txBody>
            </p: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4BCBDD78-C0DE-1E13-B092-1225016A133A}"/>
                    </a:ext>
                  </a:extLst>
                </p:cNvPr>
                <p:cNvCxnSpPr>
                  <a:cxnSpLocks/>
                  <a:endCxn id="100" idx="0"/>
                </p:cNvCxnSpPr>
                <p:nvPr/>
              </p:nvCxnSpPr>
              <p:spPr>
                <a:xfrm>
                  <a:off x="4063442" y="2188099"/>
                  <a:ext cx="3279058" cy="753976"/>
                </a:xfrm>
                <a:prstGeom prst="straightConnector1">
                  <a:avLst/>
                </a:prstGeom>
                <a:ln w="38100">
                  <a:solidFill>
                    <a:srgbClr val="C00000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66935617-D9CC-D782-5FC1-3F59468C869B}"/>
                    </a:ext>
                  </a:extLst>
                </p:cNvPr>
                <p:cNvSpPr txBox="1"/>
                <p:nvPr/>
              </p:nvSpPr>
              <p:spPr>
                <a:xfrm>
                  <a:off x="5480780" y="2295213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0.23***</a:t>
                  </a: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54C971ED-483A-6ADC-2D4B-49A7776FE4BB}"/>
                    </a:ext>
                  </a:extLst>
                </p:cNvPr>
                <p:cNvSpPr txBox="1"/>
                <p:nvPr/>
              </p:nvSpPr>
              <p:spPr>
                <a:xfrm>
                  <a:off x="5099563" y="3009273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0.52***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775A77A3-0828-44A7-26D5-C394B8559270}"/>
                    </a:ext>
                  </a:extLst>
                </p:cNvPr>
                <p:cNvSpPr txBox="1"/>
                <p:nvPr/>
              </p:nvSpPr>
              <p:spPr>
                <a:xfrm>
                  <a:off x="3920030" y="3778964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0.26***</a:t>
                  </a:r>
                </a:p>
              </p:txBody>
            </p:sp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BB5673F8-9574-78A3-1B54-C5A075187A60}"/>
                    </a:ext>
                  </a:extLst>
                </p:cNvPr>
                <p:cNvSpPr txBox="1"/>
                <p:nvPr/>
              </p:nvSpPr>
              <p:spPr>
                <a:xfrm>
                  <a:off x="6728833" y="3941682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0.37***</a:t>
                  </a:r>
                </a:p>
              </p:txBody>
            </p:sp>
          </p:grp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119103B7-6068-0B5A-7919-8920CA4371A1}"/>
                </a:ext>
              </a:extLst>
            </p:cNvPr>
            <p:cNvGrpSpPr/>
            <p:nvPr/>
          </p:nvGrpSpPr>
          <p:grpSpPr>
            <a:xfrm>
              <a:off x="168095" y="3961974"/>
              <a:ext cx="6545696" cy="3901260"/>
              <a:chOff x="113752" y="42775"/>
              <a:chExt cx="6545696" cy="3901260"/>
            </a:xfrm>
          </p:grpSpPr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5747BD74-E686-769C-2FD2-DC9C9D93CED3}"/>
                  </a:ext>
                </a:extLst>
              </p:cNvPr>
              <p:cNvSpPr txBox="1"/>
              <p:nvPr/>
            </p:nvSpPr>
            <p:spPr>
              <a:xfrm>
                <a:off x="263503" y="42775"/>
                <a:ext cx="13372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Subsoil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B83F5303-DCA7-380C-B952-A4CB781C63CF}"/>
                  </a:ext>
                </a:extLst>
              </p:cNvPr>
              <p:cNvGrpSpPr/>
              <p:nvPr/>
            </p:nvGrpSpPr>
            <p:grpSpPr>
              <a:xfrm>
                <a:off x="113752" y="504440"/>
                <a:ext cx="6545696" cy="3439595"/>
                <a:chOff x="1979622" y="1485753"/>
                <a:chExt cx="6545696" cy="3439595"/>
              </a:xfrm>
            </p:grpSpPr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14797C37-F54C-B1A2-D6D3-2063EB29AD21}"/>
                    </a:ext>
                  </a:extLst>
                </p:cNvPr>
                <p:cNvGrpSpPr/>
                <p:nvPr/>
              </p:nvGrpSpPr>
              <p:grpSpPr>
                <a:xfrm>
                  <a:off x="6145398" y="1485753"/>
                  <a:ext cx="2005527" cy="653724"/>
                  <a:chOff x="6875812" y="1043464"/>
                  <a:chExt cx="2005527" cy="653724"/>
                </a:xfrm>
                <a:solidFill>
                  <a:schemeClr val="accent2">
                    <a:lumMod val="60000"/>
                    <a:lumOff val="40000"/>
                  </a:schemeClr>
                </a:solidFill>
              </p:grpSpPr>
              <p:sp>
                <p:nvSpPr>
                  <p:cNvPr id="267" name="Rectangle 266">
                    <a:extLst>
                      <a:ext uri="{FF2B5EF4-FFF2-40B4-BE49-F238E27FC236}">
                        <a16:creationId xmlns:a16="http://schemas.microsoft.com/office/drawing/2014/main" id="{C3619823-473E-D3B0-AF27-8E3C70562B42}"/>
                      </a:ext>
                    </a:extLst>
                  </p:cNvPr>
                  <p:cNvSpPr/>
                  <p:nvPr/>
                </p:nvSpPr>
                <p:spPr>
                  <a:xfrm>
                    <a:off x="6875812" y="1043464"/>
                    <a:ext cx="2005527" cy="324000"/>
                  </a:xfrm>
                  <a:prstGeom prst="rect">
                    <a:avLst/>
                  </a:prstGeom>
                  <a:solidFill>
                    <a:schemeClr val="accent2">
                      <a:alpha val="30000"/>
                    </a:schemeClr>
                  </a:solidFill>
                  <a:ln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Topography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8" name="Rectangle 267">
                    <a:extLst>
                      <a:ext uri="{FF2B5EF4-FFF2-40B4-BE49-F238E27FC236}">
                        <a16:creationId xmlns:a16="http://schemas.microsoft.com/office/drawing/2014/main" id="{89D0E10D-991A-F6A8-C85B-77A21ADAEB0C}"/>
                      </a:ext>
                    </a:extLst>
                  </p:cNvPr>
                  <p:cNvSpPr/>
                  <p:nvPr/>
                </p:nvSpPr>
                <p:spPr>
                  <a:xfrm>
                    <a:off x="6875812" y="1373188"/>
                    <a:ext cx="1008000" cy="324000"/>
                  </a:xfrm>
                  <a:prstGeom prst="rect">
                    <a:avLst/>
                  </a:prstGeom>
                  <a:noFill/>
                  <a:ln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sz="140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Elevation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9" name="Rectangle 268">
                    <a:extLst>
                      <a:ext uri="{FF2B5EF4-FFF2-40B4-BE49-F238E27FC236}">
                        <a16:creationId xmlns:a16="http://schemas.microsoft.com/office/drawing/2014/main" id="{3D1D5D8B-4F4B-9E8D-0BCB-5B93A4F57DD4}"/>
                      </a:ext>
                    </a:extLst>
                  </p:cNvPr>
                  <p:cNvSpPr/>
                  <p:nvPr/>
                </p:nvSpPr>
                <p:spPr>
                  <a:xfrm>
                    <a:off x="7873339" y="1373188"/>
                    <a:ext cx="1008000" cy="324000"/>
                  </a:xfrm>
                  <a:prstGeom prst="rect">
                    <a:avLst/>
                  </a:prstGeom>
                  <a:noFill/>
                  <a:ln>
                    <a:solidFill>
                      <a:schemeClr val="accent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sz="140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Slope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37967EA1-7BE0-D2C8-143B-A2B0844EA563}"/>
                    </a:ext>
                  </a:extLst>
                </p:cNvPr>
                <p:cNvGrpSpPr/>
                <p:nvPr/>
              </p:nvGrpSpPr>
              <p:grpSpPr>
                <a:xfrm>
                  <a:off x="1979622" y="2927388"/>
                  <a:ext cx="2456346" cy="682724"/>
                  <a:chOff x="6514081" y="3402832"/>
                  <a:chExt cx="2456346" cy="682724"/>
                </a:xfrm>
              </p:grpSpPr>
              <p:sp>
                <p:nvSpPr>
                  <p:cNvPr id="258" name="Rectangle 257">
                    <a:extLst>
                      <a:ext uri="{FF2B5EF4-FFF2-40B4-BE49-F238E27FC236}">
                        <a16:creationId xmlns:a16="http://schemas.microsoft.com/office/drawing/2014/main" id="{1885C2B0-D851-677F-3869-662005739C1A}"/>
                      </a:ext>
                    </a:extLst>
                  </p:cNvPr>
                  <p:cNvSpPr/>
                  <p:nvPr/>
                </p:nvSpPr>
                <p:spPr>
                  <a:xfrm>
                    <a:off x="6514081" y="3402832"/>
                    <a:ext cx="2454377" cy="354541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  <a:alpha val="50000"/>
                    </a:schemeClr>
                  </a:solidFill>
                  <a:ln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Vegetation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59" name="Rectangle 258">
                    <a:extLst>
                      <a:ext uri="{FF2B5EF4-FFF2-40B4-BE49-F238E27FC236}">
                        <a16:creationId xmlns:a16="http://schemas.microsoft.com/office/drawing/2014/main" id="{839F7F99-145A-DB9B-6816-A5FAFF480E11}"/>
                      </a:ext>
                    </a:extLst>
                  </p:cNvPr>
                  <p:cNvSpPr/>
                  <p:nvPr/>
                </p:nvSpPr>
                <p:spPr>
                  <a:xfrm>
                    <a:off x="6514746" y="3761556"/>
                    <a:ext cx="561270" cy="324000"/>
                  </a:xfrm>
                  <a:prstGeom prst="rect">
                    <a:avLst/>
                  </a:prstGeom>
                  <a:noFill/>
                  <a:ln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sz="140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GPP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5" name="Rectangle 264">
                    <a:extLst>
                      <a:ext uri="{FF2B5EF4-FFF2-40B4-BE49-F238E27FC236}">
                        <a16:creationId xmlns:a16="http://schemas.microsoft.com/office/drawing/2014/main" id="{E7B7E101-DD19-B26C-1861-AD34BEA0E543}"/>
                      </a:ext>
                    </a:extLst>
                  </p:cNvPr>
                  <p:cNvSpPr/>
                  <p:nvPr/>
                </p:nvSpPr>
                <p:spPr>
                  <a:xfrm>
                    <a:off x="8393883" y="3764617"/>
                    <a:ext cx="576544" cy="317878"/>
                  </a:xfrm>
                  <a:prstGeom prst="rect">
                    <a:avLst/>
                  </a:prstGeom>
                  <a:noFill/>
                  <a:ln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sz="140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BGB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6" name="Rectangle 265">
                    <a:extLst>
                      <a:ext uri="{FF2B5EF4-FFF2-40B4-BE49-F238E27FC236}">
                        <a16:creationId xmlns:a16="http://schemas.microsoft.com/office/drawing/2014/main" id="{6ACF692E-62FE-D10B-ECAF-EE5B36E88917}"/>
                      </a:ext>
                    </a:extLst>
                  </p:cNvPr>
                  <p:cNvSpPr/>
                  <p:nvPr/>
                </p:nvSpPr>
                <p:spPr>
                  <a:xfrm>
                    <a:off x="7072639" y="3761371"/>
                    <a:ext cx="1314784" cy="321481"/>
                  </a:xfrm>
                  <a:prstGeom prst="rect">
                    <a:avLst/>
                  </a:prstGeom>
                  <a:noFill/>
                  <a:ln>
                    <a:solidFill>
                      <a:schemeClr val="accent6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sz="1401" dirty="0" err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Shannon_EVI</a:t>
                    </a:r>
                    <a:endParaRPr lang="en-US" sz="140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38AF3CB1-B494-A156-8C90-8B97AC9135E4}"/>
                    </a:ext>
                  </a:extLst>
                </p:cNvPr>
                <p:cNvSpPr/>
                <p:nvPr/>
              </p:nvSpPr>
              <p:spPr>
                <a:xfrm>
                  <a:off x="4719682" y="4316577"/>
                  <a:ext cx="1440000" cy="313833"/>
                </a:xfrm>
                <a:prstGeom prst="rect">
                  <a:avLst/>
                </a:prstGeom>
                <a:solidFill>
                  <a:schemeClr val="bg1">
                    <a:lumMod val="85000"/>
                    <a:alpha val="50000"/>
                  </a:schemeClr>
                </a:solidFill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en-US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CUE</a:t>
                  </a:r>
                </a:p>
                <a:p>
                  <a:pPr algn="ctr"/>
                  <a:endParaRPr lang="en-US" sz="135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146" name="Straight Arrow Connector 145">
                  <a:extLst>
                    <a:ext uri="{FF2B5EF4-FFF2-40B4-BE49-F238E27FC236}">
                      <a16:creationId xmlns:a16="http://schemas.microsoft.com/office/drawing/2014/main" id="{61C6EC8B-D659-7371-845E-D98E6E9F30B4}"/>
                    </a:ext>
                  </a:extLst>
                </p:cNvPr>
                <p:cNvCxnSpPr>
                  <a:cxnSpLocks/>
                  <a:endCxn id="177" idx="0"/>
                </p:cNvCxnSpPr>
                <p:nvPr/>
              </p:nvCxnSpPr>
              <p:spPr>
                <a:xfrm>
                  <a:off x="6987000" y="2168256"/>
                  <a:ext cx="355500" cy="773819"/>
                </a:xfrm>
                <a:prstGeom prst="straightConnector1">
                  <a:avLst/>
                </a:prstGeom>
                <a:ln w="38100">
                  <a:solidFill>
                    <a:srgbClr val="C00000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Arrow Connector 146">
                  <a:extLst>
                    <a:ext uri="{FF2B5EF4-FFF2-40B4-BE49-F238E27FC236}">
                      <a16:creationId xmlns:a16="http://schemas.microsoft.com/office/drawing/2014/main" id="{C13016E6-BCF0-83FB-740C-43F07C0470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40347" y="1814395"/>
                  <a:ext cx="1086012" cy="15969"/>
                </a:xfrm>
                <a:prstGeom prst="straightConnector1">
                  <a:avLst/>
                </a:prstGeom>
                <a:ln w="28575">
                  <a:solidFill>
                    <a:schemeClr val="accent1"/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38B3B445-1B2C-13B5-35E5-38336EFD5BED}"/>
                    </a:ext>
                  </a:extLst>
                </p:cNvPr>
                <p:cNvSpPr txBox="1"/>
                <p:nvPr/>
              </p:nvSpPr>
              <p:spPr>
                <a:xfrm>
                  <a:off x="5133179" y="4648349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  <a:r>
                    <a:rPr lang="en-US" sz="1200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= 0.24</a:t>
                  </a:r>
                </a:p>
              </p:txBody>
            </p:sp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9C699DD3-2D4E-C920-0EE1-4A535A5302A5}"/>
                    </a:ext>
                  </a:extLst>
                </p:cNvPr>
                <p:cNvSpPr txBox="1"/>
                <p:nvPr/>
              </p:nvSpPr>
              <p:spPr>
                <a:xfrm>
                  <a:off x="2810593" y="4358939"/>
                  <a:ext cx="13147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GOF = </a:t>
                  </a:r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0.45</a:t>
                  </a:r>
                  <a:endParaRPr 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50" name="Group 149">
                  <a:extLst>
                    <a:ext uri="{FF2B5EF4-FFF2-40B4-BE49-F238E27FC236}">
                      <a16:creationId xmlns:a16="http://schemas.microsoft.com/office/drawing/2014/main" id="{2CAC96C0-3CD4-3F40-BBFB-903C2AF6E811}"/>
                    </a:ext>
                  </a:extLst>
                </p:cNvPr>
                <p:cNvGrpSpPr/>
                <p:nvPr/>
              </p:nvGrpSpPr>
              <p:grpSpPr>
                <a:xfrm>
                  <a:off x="2766787" y="1512997"/>
                  <a:ext cx="2273561" cy="643136"/>
                  <a:chOff x="7117575" y="2036719"/>
                  <a:chExt cx="2273561" cy="643136"/>
                </a:xfrm>
              </p:grpSpPr>
              <p:sp>
                <p:nvSpPr>
                  <p:cNvPr id="236" name="Rectangle 235">
                    <a:extLst>
                      <a:ext uri="{FF2B5EF4-FFF2-40B4-BE49-F238E27FC236}">
                        <a16:creationId xmlns:a16="http://schemas.microsoft.com/office/drawing/2014/main" id="{AA7DB26F-A3C9-0C4D-7A57-9F2A0008D5CC}"/>
                      </a:ext>
                    </a:extLst>
                  </p:cNvPr>
                  <p:cNvSpPr/>
                  <p:nvPr/>
                </p:nvSpPr>
                <p:spPr>
                  <a:xfrm>
                    <a:off x="7117575" y="2036719"/>
                    <a:ext cx="2273560" cy="324000"/>
                  </a:xfrm>
                  <a:prstGeom prst="rect">
                    <a:avLst/>
                  </a:prstGeom>
                  <a:solidFill>
                    <a:schemeClr val="accent4">
                      <a:lumMod val="60000"/>
                      <a:lumOff val="40000"/>
                      <a:alpha val="30000"/>
                    </a:schemeClr>
                  </a:solidFill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Climate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37" name="Rectangle 236">
                    <a:extLst>
                      <a:ext uri="{FF2B5EF4-FFF2-40B4-BE49-F238E27FC236}">
                        <a16:creationId xmlns:a16="http://schemas.microsoft.com/office/drawing/2014/main" id="{89958FAE-8558-749B-E727-F6708B1F1590}"/>
                      </a:ext>
                    </a:extLst>
                  </p:cNvPr>
                  <p:cNvSpPr/>
                  <p:nvPr/>
                </p:nvSpPr>
                <p:spPr>
                  <a:xfrm>
                    <a:off x="7117576" y="2354086"/>
                    <a:ext cx="612000" cy="324000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40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sz="140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MAT</a:t>
                    </a:r>
                  </a:p>
                  <a:p>
                    <a:pPr algn="ctr"/>
                    <a:endParaRPr lang="en-US" sz="140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38" name="Rectangle 237">
                    <a:extLst>
                      <a:ext uri="{FF2B5EF4-FFF2-40B4-BE49-F238E27FC236}">
                        <a16:creationId xmlns:a16="http://schemas.microsoft.com/office/drawing/2014/main" id="{974D2FC9-FECE-F036-EF76-ABFB4D84FA50}"/>
                      </a:ext>
                    </a:extLst>
                  </p:cNvPr>
                  <p:cNvSpPr/>
                  <p:nvPr/>
                </p:nvSpPr>
                <p:spPr>
                  <a:xfrm>
                    <a:off x="7726710" y="2354086"/>
                    <a:ext cx="669085" cy="324000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sz="140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MAP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39" name="Rectangle 238">
                    <a:extLst>
                      <a:ext uri="{FF2B5EF4-FFF2-40B4-BE49-F238E27FC236}">
                        <a16:creationId xmlns:a16="http://schemas.microsoft.com/office/drawing/2014/main" id="{11B0BCAA-6A6D-EE93-9193-3F8E1F61A72F}"/>
                      </a:ext>
                    </a:extLst>
                  </p:cNvPr>
                  <p:cNvSpPr/>
                  <p:nvPr/>
                </p:nvSpPr>
                <p:spPr>
                  <a:xfrm>
                    <a:off x="8403977" y="2354086"/>
                    <a:ext cx="529710" cy="324000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sz="140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TS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57" name="Rectangle 256">
                    <a:extLst>
                      <a:ext uri="{FF2B5EF4-FFF2-40B4-BE49-F238E27FC236}">
                        <a16:creationId xmlns:a16="http://schemas.microsoft.com/office/drawing/2014/main" id="{9EB4659F-94E3-021D-AD3C-297CCA749518}"/>
                      </a:ext>
                    </a:extLst>
                  </p:cNvPr>
                  <p:cNvSpPr/>
                  <p:nvPr/>
                </p:nvSpPr>
                <p:spPr>
                  <a:xfrm>
                    <a:off x="8933688" y="2355855"/>
                    <a:ext cx="457448" cy="324000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sz="140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PS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F89BC275-06A6-4408-A655-F1D6870F2693}"/>
                    </a:ext>
                  </a:extLst>
                </p:cNvPr>
                <p:cNvGrpSpPr/>
                <p:nvPr/>
              </p:nvGrpSpPr>
              <p:grpSpPr>
                <a:xfrm>
                  <a:off x="6159682" y="2942075"/>
                  <a:ext cx="2365636" cy="634776"/>
                  <a:chOff x="7791939" y="3093713"/>
                  <a:chExt cx="2365636" cy="634776"/>
                </a:xfrm>
              </p:grpSpPr>
              <p:sp>
                <p:nvSpPr>
                  <p:cNvPr id="174" name="Rectangle 173">
                    <a:extLst>
                      <a:ext uri="{FF2B5EF4-FFF2-40B4-BE49-F238E27FC236}">
                        <a16:creationId xmlns:a16="http://schemas.microsoft.com/office/drawing/2014/main" id="{7A3D5CAE-467D-82BF-907E-C66F141CB4ED}"/>
                      </a:ext>
                    </a:extLst>
                  </p:cNvPr>
                  <p:cNvSpPr/>
                  <p:nvPr/>
                </p:nvSpPr>
                <p:spPr>
                  <a:xfrm>
                    <a:off x="9275700" y="3413321"/>
                    <a:ext cx="881875" cy="315167"/>
                  </a:xfrm>
                  <a:prstGeom prst="rect">
                    <a:avLst/>
                  </a:prstGeom>
                  <a:noFill/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sz="140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Moisture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75" name="Group 174">
                    <a:extLst>
                      <a:ext uri="{FF2B5EF4-FFF2-40B4-BE49-F238E27FC236}">
                        <a16:creationId xmlns:a16="http://schemas.microsoft.com/office/drawing/2014/main" id="{AAFF69AB-39E2-4F39-C9B3-67FAC54D6559}"/>
                      </a:ext>
                    </a:extLst>
                  </p:cNvPr>
                  <p:cNvGrpSpPr/>
                  <p:nvPr/>
                </p:nvGrpSpPr>
                <p:grpSpPr>
                  <a:xfrm>
                    <a:off x="7791939" y="3093713"/>
                    <a:ext cx="2365636" cy="632174"/>
                    <a:chOff x="6814560" y="1661585"/>
                    <a:chExt cx="2365636" cy="632174"/>
                  </a:xfrm>
                </p:grpSpPr>
                <p:sp>
                  <p:nvSpPr>
                    <p:cNvPr id="177" name="Rectangle 176">
                      <a:extLst>
                        <a:ext uri="{FF2B5EF4-FFF2-40B4-BE49-F238E27FC236}">
                          <a16:creationId xmlns:a16="http://schemas.microsoft.com/office/drawing/2014/main" id="{0824AB80-C004-9BA5-578C-4EBD8084E8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14560" y="1661585"/>
                      <a:ext cx="2365636" cy="324000"/>
                    </a:xfrm>
                    <a:prstGeom prst="rect">
                      <a:avLst/>
                    </a:prstGeom>
                    <a:solidFill>
                      <a:schemeClr val="tx2">
                        <a:lumMod val="60000"/>
                        <a:lumOff val="40000"/>
                        <a:alpha val="50000"/>
                      </a:schemeClr>
                    </a:solidFill>
                    <a:ln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Soil properties</a:t>
                      </a:r>
                    </a:p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78" name="Rectangle 177">
                      <a:extLst>
                        <a:ext uri="{FF2B5EF4-FFF2-40B4-BE49-F238E27FC236}">
                          <a16:creationId xmlns:a16="http://schemas.microsoft.com/office/drawing/2014/main" id="{50046F3B-5403-C942-B37A-1F5E0F512C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14560" y="1987332"/>
                      <a:ext cx="480781" cy="306427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40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</a:t>
                      </a:r>
                    </a:p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79" name="Rectangle 178">
                      <a:extLst>
                        <a:ext uri="{FF2B5EF4-FFF2-40B4-BE49-F238E27FC236}">
                          <a16:creationId xmlns:a16="http://schemas.microsoft.com/office/drawing/2014/main" id="{389B0828-BC48-808F-BB99-DCDD9F807B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00296" y="1983809"/>
                      <a:ext cx="430688" cy="309950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accent6"/>
                    </a:lnRef>
                    <a:fillRef idx="1">
                      <a:schemeClr val="lt1"/>
                    </a:fillRef>
                    <a:effectRef idx="0">
                      <a:schemeClr val="accent6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140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BD</a:t>
                      </a:r>
                    </a:p>
                    <a:p>
                      <a:pPr algn="ctr"/>
                      <a:endParaRPr lang="en-US" sz="135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76" name="Rectangle 175">
                    <a:extLst>
                      <a:ext uri="{FF2B5EF4-FFF2-40B4-BE49-F238E27FC236}">
                        <a16:creationId xmlns:a16="http://schemas.microsoft.com/office/drawing/2014/main" id="{F367B19B-BE38-FFF3-B28D-A20CD1443F3F}"/>
                      </a:ext>
                    </a:extLst>
                  </p:cNvPr>
                  <p:cNvSpPr/>
                  <p:nvPr/>
                </p:nvSpPr>
                <p:spPr>
                  <a:xfrm>
                    <a:off x="8709433" y="3418539"/>
                    <a:ext cx="570492" cy="309950"/>
                  </a:xfrm>
                  <a:prstGeom prst="rect">
                    <a:avLst/>
                  </a:prstGeom>
                  <a:noFill/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  <a:p>
                    <a:pPr algn="ctr"/>
                    <a:r>
                      <a:rPr lang="en-US" sz="140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Clay</a:t>
                    </a:r>
                  </a:p>
                  <a:p>
                    <a:pPr algn="ctr"/>
                    <a:endParaRPr lang="en-US" sz="135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cxnSp>
              <p:nvCxnSpPr>
                <p:cNvPr id="152" name="Straight Arrow Connector 151">
                  <a:extLst>
                    <a:ext uri="{FF2B5EF4-FFF2-40B4-BE49-F238E27FC236}">
                      <a16:creationId xmlns:a16="http://schemas.microsoft.com/office/drawing/2014/main" id="{1C4519AD-ECA5-CFDE-1C7B-C6401A96BB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447665" y="3275128"/>
                  <a:ext cx="1718296" cy="13713"/>
                </a:xfrm>
                <a:prstGeom prst="straightConnector1">
                  <a:avLst/>
                </a:prstGeom>
                <a:ln w="28575">
                  <a:solidFill>
                    <a:srgbClr val="C00000"/>
                  </a:solidFill>
                  <a:prstDash val="sys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Straight Arrow Connector 152">
                  <a:extLst>
                    <a:ext uri="{FF2B5EF4-FFF2-40B4-BE49-F238E27FC236}">
                      <a16:creationId xmlns:a16="http://schemas.microsoft.com/office/drawing/2014/main" id="{411E329E-B9DC-4890-A3AB-89087320DB0E}"/>
                    </a:ext>
                  </a:extLst>
                </p:cNvPr>
                <p:cNvCxnSpPr>
                  <a:cxnSpLocks/>
                  <a:endCxn id="145" idx="0"/>
                </p:cNvCxnSpPr>
                <p:nvPr/>
              </p:nvCxnSpPr>
              <p:spPr>
                <a:xfrm>
                  <a:off x="4040207" y="2189993"/>
                  <a:ext cx="1399475" cy="2126584"/>
                </a:xfrm>
                <a:prstGeom prst="straightConnector1">
                  <a:avLst/>
                </a:prstGeom>
                <a:ln w="38100">
                  <a:solidFill>
                    <a:schemeClr val="bg1">
                      <a:lumMod val="50000"/>
                    </a:schemeClr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Arrow Connector 153">
                  <a:extLst>
                    <a:ext uri="{FF2B5EF4-FFF2-40B4-BE49-F238E27FC236}">
                      <a16:creationId xmlns:a16="http://schemas.microsoft.com/office/drawing/2014/main" id="{08F82843-8DD6-C312-1FF0-EA6BE94D00A6}"/>
                    </a:ext>
                  </a:extLst>
                </p:cNvPr>
                <p:cNvCxnSpPr>
                  <a:cxnSpLocks/>
                  <a:stCxn id="176" idx="2"/>
                  <a:endCxn id="145" idx="3"/>
                </p:cNvCxnSpPr>
                <p:nvPr/>
              </p:nvCxnSpPr>
              <p:spPr>
                <a:xfrm flipH="1">
                  <a:off x="6159682" y="3576851"/>
                  <a:ext cx="1202740" cy="896643"/>
                </a:xfrm>
                <a:prstGeom prst="straightConnector1">
                  <a:avLst/>
                </a:prstGeom>
                <a:ln w="38100">
                  <a:solidFill>
                    <a:schemeClr val="accent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Arrow Connector 154">
                  <a:extLst>
                    <a:ext uri="{FF2B5EF4-FFF2-40B4-BE49-F238E27FC236}">
                      <a16:creationId xmlns:a16="http://schemas.microsoft.com/office/drawing/2014/main" id="{7AE6C86A-DCD2-38FC-9C26-5E9140BD36F8}"/>
                    </a:ext>
                  </a:extLst>
                </p:cNvPr>
                <p:cNvCxnSpPr>
                  <a:cxnSpLocks/>
                  <a:stCxn id="266" idx="2"/>
                  <a:endCxn id="145" idx="1"/>
                </p:cNvCxnSpPr>
                <p:nvPr/>
              </p:nvCxnSpPr>
              <p:spPr>
                <a:xfrm>
                  <a:off x="3195572" y="3607408"/>
                  <a:ext cx="1524110" cy="866086"/>
                </a:xfrm>
                <a:prstGeom prst="straightConnector1">
                  <a:avLst/>
                </a:prstGeom>
                <a:ln w="38100">
                  <a:solidFill>
                    <a:schemeClr val="accent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Arrow Connector 156">
                  <a:extLst>
                    <a:ext uri="{FF2B5EF4-FFF2-40B4-BE49-F238E27FC236}">
                      <a16:creationId xmlns:a16="http://schemas.microsoft.com/office/drawing/2014/main" id="{9C69C0D0-6347-8FDB-49AA-6953DA1CEBCD}"/>
                    </a:ext>
                  </a:extLst>
                </p:cNvPr>
                <p:cNvCxnSpPr>
                  <a:cxnSpLocks/>
                  <a:endCxn id="258" idx="0"/>
                </p:cNvCxnSpPr>
                <p:nvPr/>
              </p:nvCxnSpPr>
              <p:spPr>
                <a:xfrm flipH="1">
                  <a:off x="3206811" y="2161608"/>
                  <a:ext cx="838196" cy="765780"/>
                </a:xfrm>
                <a:prstGeom prst="straightConnector1">
                  <a:avLst/>
                </a:prstGeom>
                <a:ln w="38100">
                  <a:solidFill>
                    <a:schemeClr val="accent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36832D0F-179E-82BD-AF03-F45DDD5ED08D}"/>
                    </a:ext>
                  </a:extLst>
                </p:cNvPr>
                <p:cNvSpPr txBox="1"/>
                <p:nvPr/>
              </p:nvSpPr>
              <p:spPr>
                <a:xfrm>
                  <a:off x="2073075" y="2673777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  <a:r>
                    <a:rPr lang="en-US" sz="1200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= 0.55</a:t>
                  </a:r>
                </a:p>
              </p:txBody>
            </p:sp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32DFA1E8-AE85-C18C-5D7F-CEBAD0732AAD}"/>
                    </a:ext>
                  </a:extLst>
                </p:cNvPr>
                <p:cNvSpPr txBox="1"/>
                <p:nvPr/>
              </p:nvSpPr>
              <p:spPr>
                <a:xfrm>
                  <a:off x="2757902" y="2130974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  <a:r>
                    <a:rPr lang="en-US" sz="1200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= 0.26</a:t>
                  </a:r>
                </a:p>
              </p:txBody>
            </p:sp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1569E5D6-DDB6-C660-7891-9485F9A5A99C}"/>
                    </a:ext>
                  </a:extLst>
                </p:cNvPr>
                <p:cNvSpPr txBox="1"/>
                <p:nvPr/>
              </p:nvSpPr>
              <p:spPr>
                <a:xfrm>
                  <a:off x="7697847" y="2673777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  <a:r>
                    <a:rPr lang="en-US" sz="1200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= 0.55</a:t>
                  </a:r>
                </a:p>
              </p:txBody>
            </p:sp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C57DB077-D5B1-1156-B16C-D7890C85190D}"/>
                    </a:ext>
                  </a:extLst>
                </p:cNvPr>
                <p:cNvSpPr txBox="1"/>
                <p:nvPr/>
              </p:nvSpPr>
              <p:spPr>
                <a:xfrm>
                  <a:off x="5232899" y="1559476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-0.51***</a:t>
                  </a:r>
                </a:p>
              </p:txBody>
            </p:sp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589A7B29-DBCB-B900-E125-5A948B2CA76E}"/>
                    </a:ext>
                  </a:extLst>
                </p:cNvPr>
                <p:cNvSpPr txBox="1"/>
                <p:nvPr/>
              </p:nvSpPr>
              <p:spPr>
                <a:xfrm>
                  <a:off x="7079728" y="2307584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0.14***</a:t>
                  </a:r>
                </a:p>
              </p:txBody>
            </p:sp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ADA554CA-FBCC-9392-780A-4D1BF15DA5C8}"/>
                    </a:ext>
                  </a:extLst>
                </p:cNvPr>
                <p:cNvSpPr txBox="1"/>
                <p:nvPr/>
              </p:nvSpPr>
              <p:spPr>
                <a:xfrm>
                  <a:off x="3492687" y="2535279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-0.74***</a:t>
                  </a:r>
                </a:p>
              </p:txBody>
            </p:sp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030B22BF-793D-62FA-A98A-D0EA38269757}"/>
                    </a:ext>
                  </a:extLst>
                </p:cNvPr>
                <p:cNvSpPr txBox="1"/>
                <p:nvPr/>
              </p:nvSpPr>
              <p:spPr>
                <a:xfrm rot="153172">
                  <a:off x="5093806" y="3650123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0.06</a:t>
                  </a:r>
                </a:p>
              </p:txBody>
            </p:sp>
            <p:cxnSp>
              <p:nvCxnSpPr>
                <p:cNvPr id="165" name="Straight Arrow Connector 164">
                  <a:extLst>
                    <a:ext uri="{FF2B5EF4-FFF2-40B4-BE49-F238E27FC236}">
                      <a16:creationId xmlns:a16="http://schemas.microsoft.com/office/drawing/2014/main" id="{16E81E8D-EA1B-C35A-FB40-07A2C999E3FF}"/>
                    </a:ext>
                  </a:extLst>
                </p:cNvPr>
                <p:cNvCxnSpPr>
                  <a:cxnSpLocks/>
                  <a:endCxn id="177" idx="0"/>
                </p:cNvCxnSpPr>
                <p:nvPr/>
              </p:nvCxnSpPr>
              <p:spPr>
                <a:xfrm>
                  <a:off x="4063442" y="2188099"/>
                  <a:ext cx="3279058" cy="753976"/>
                </a:xfrm>
                <a:prstGeom prst="straightConnector1">
                  <a:avLst/>
                </a:prstGeom>
                <a:ln w="38100">
                  <a:solidFill>
                    <a:schemeClr val="accent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6" name="TextBox 165">
                  <a:extLst>
                    <a:ext uri="{FF2B5EF4-FFF2-40B4-BE49-F238E27FC236}">
                      <a16:creationId xmlns:a16="http://schemas.microsoft.com/office/drawing/2014/main" id="{1455DE28-0C46-6E0F-F32B-8064EBE70E6C}"/>
                    </a:ext>
                  </a:extLst>
                </p:cNvPr>
                <p:cNvSpPr txBox="1"/>
                <p:nvPr/>
              </p:nvSpPr>
              <p:spPr>
                <a:xfrm>
                  <a:off x="5480780" y="2295213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-0.44***</a:t>
                  </a:r>
                </a:p>
              </p:txBody>
            </p:sp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79A1196A-FDC1-43CB-90A6-01A3DF2B4F8C}"/>
                    </a:ext>
                  </a:extLst>
                </p:cNvPr>
                <p:cNvSpPr txBox="1"/>
                <p:nvPr/>
              </p:nvSpPr>
              <p:spPr>
                <a:xfrm>
                  <a:off x="5099563" y="3009273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0.26***</a:t>
                  </a:r>
                </a:p>
              </p:txBody>
            </p:sp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999120E5-B62D-6681-5EA6-AB4C6DF686A0}"/>
                    </a:ext>
                  </a:extLst>
                </p:cNvPr>
                <p:cNvSpPr txBox="1"/>
                <p:nvPr/>
              </p:nvSpPr>
              <p:spPr>
                <a:xfrm>
                  <a:off x="3920030" y="3778964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-0.24***</a:t>
                  </a:r>
                </a:p>
              </p:txBody>
            </p:sp>
            <p:sp>
              <p:nvSpPr>
                <p:cNvPr id="173" name="TextBox 172">
                  <a:extLst>
                    <a:ext uri="{FF2B5EF4-FFF2-40B4-BE49-F238E27FC236}">
                      <a16:creationId xmlns:a16="http://schemas.microsoft.com/office/drawing/2014/main" id="{4E0BD84F-58E7-4B5F-7886-5B1DE3B2292D}"/>
                    </a:ext>
                  </a:extLst>
                </p:cNvPr>
                <p:cNvSpPr txBox="1"/>
                <p:nvPr/>
              </p:nvSpPr>
              <p:spPr>
                <a:xfrm>
                  <a:off x="6728833" y="3941682"/>
                  <a:ext cx="8274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-0.24***</a:t>
                  </a:r>
                </a:p>
              </p:txBody>
            </p:sp>
          </p:grpSp>
        </p:grp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ED44278A-1D2D-5CF1-029B-9EB6BDCABFFA}"/>
                </a:ext>
              </a:extLst>
            </p:cNvPr>
            <p:cNvGrpSpPr/>
            <p:nvPr/>
          </p:nvGrpSpPr>
          <p:grpSpPr>
            <a:xfrm>
              <a:off x="6706329" y="129238"/>
              <a:ext cx="5010985" cy="4036546"/>
              <a:chOff x="6706329" y="129238"/>
              <a:chExt cx="5010985" cy="4036546"/>
            </a:xfrm>
          </p:grpSpPr>
          <p:pic>
            <p:nvPicPr>
              <p:cNvPr id="270" name="Picture 269">
                <a:extLst>
                  <a:ext uri="{FF2B5EF4-FFF2-40B4-BE49-F238E27FC236}">
                    <a16:creationId xmlns:a16="http://schemas.microsoft.com/office/drawing/2014/main" id="{811A0A6D-59A2-3D9B-CB56-3BB3896284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97314" y="565784"/>
                <a:ext cx="4320000" cy="3600000"/>
              </a:xfrm>
              <a:prstGeom prst="rect">
                <a:avLst/>
              </a:prstGeom>
            </p:spPr>
          </p:pic>
          <p:sp>
            <p:nvSpPr>
              <p:cNvPr id="271" name="TextBox 270">
                <a:extLst>
                  <a:ext uri="{FF2B5EF4-FFF2-40B4-BE49-F238E27FC236}">
                    <a16:creationId xmlns:a16="http://schemas.microsoft.com/office/drawing/2014/main" id="{AAE42433-63A3-69CA-1C52-AEABB36598DF}"/>
                  </a:ext>
                </a:extLst>
              </p:cNvPr>
              <p:cNvSpPr txBox="1"/>
              <p:nvPr/>
            </p:nvSpPr>
            <p:spPr>
              <a:xfrm>
                <a:off x="6706329" y="129238"/>
                <a:ext cx="130740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Topsoil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3" name="TextBox 272">
                <a:extLst>
                  <a:ext uri="{FF2B5EF4-FFF2-40B4-BE49-F238E27FC236}">
                    <a16:creationId xmlns:a16="http://schemas.microsoft.com/office/drawing/2014/main" id="{5777FAC9-57AA-9DC6-DF16-48B2224D7338}"/>
                  </a:ext>
                </a:extLst>
              </p:cNvPr>
              <p:cNvSpPr txBox="1"/>
              <p:nvPr/>
            </p:nvSpPr>
            <p:spPr>
              <a:xfrm rot="16200000">
                <a:off x="5729140" y="1912400"/>
                <a:ext cx="31131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Standardized total effects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38D889FE-8134-F568-1C85-30F43D8F3C49}"/>
                </a:ext>
              </a:extLst>
            </p:cNvPr>
            <p:cNvGrpSpPr/>
            <p:nvPr/>
          </p:nvGrpSpPr>
          <p:grpSpPr>
            <a:xfrm>
              <a:off x="6719050" y="3989218"/>
              <a:ext cx="5042203" cy="4001953"/>
              <a:chOff x="6719050" y="3989218"/>
              <a:chExt cx="5042203" cy="4001953"/>
            </a:xfrm>
          </p:grpSpPr>
          <p:pic>
            <p:nvPicPr>
              <p:cNvPr id="272" name="Picture 271">
                <a:extLst>
                  <a:ext uri="{FF2B5EF4-FFF2-40B4-BE49-F238E27FC236}">
                    <a16:creationId xmlns:a16="http://schemas.microsoft.com/office/drawing/2014/main" id="{E35B32FF-97EA-2520-61E3-5A718F6048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41253" y="4391171"/>
                <a:ext cx="4320000" cy="3600000"/>
              </a:xfrm>
              <a:prstGeom prst="rect">
                <a:avLst/>
              </a:prstGeom>
            </p:spPr>
          </p:pic>
          <p:sp>
            <p:nvSpPr>
              <p:cNvPr id="274" name="TextBox 273">
                <a:extLst>
                  <a:ext uri="{FF2B5EF4-FFF2-40B4-BE49-F238E27FC236}">
                    <a16:creationId xmlns:a16="http://schemas.microsoft.com/office/drawing/2014/main" id="{5F7CB32A-21D1-A4F4-401F-40FC0CD6EDAC}"/>
                  </a:ext>
                </a:extLst>
              </p:cNvPr>
              <p:cNvSpPr txBox="1"/>
              <p:nvPr/>
            </p:nvSpPr>
            <p:spPr>
              <a:xfrm rot="16200000">
                <a:off x="5766502" y="5963142"/>
                <a:ext cx="31131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Standardized total effects</a:t>
                </a:r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AC6A07F6-9F06-DE44-5B37-2668D7F9ADE2}"/>
                  </a:ext>
                </a:extLst>
              </p:cNvPr>
              <p:cNvSpPr txBox="1"/>
              <p:nvPr/>
            </p:nvSpPr>
            <p:spPr>
              <a:xfrm>
                <a:off x="6719050" y="3989218"/>
                <a:ext cx="13548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 Subsoil</a:t>
                </a:r>
                <a:endParaRPr 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47455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2488</TotalTime>
  <Words>1658</Words>
  <Application>Microsoft Macintosh PowerPoint</Application>
  <PresentationFormat>Widescreen</PresentationFormat>
  <Paragraphs>1154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yaqinguo629@gmail.com</dc:creator>
  <cp:lastModifiedBy>yaqinguo629@gmail.com</cp:lastModifiedBy>
  <cp:revision>18</cp:revision>
  <dcterms:created xsi:type="dcterms:W3CDTF">2025-07-04T12:09:00Z</dcterms:created>
  <dcterms:modified xsi:type="dcterms:W3CDTF">2025-11-14T17:24:54Z</dcterms:modified>
</cp:coreProperties>
</file>